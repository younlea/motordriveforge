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MotorDriveForge — Local Gemma 기반 Embedded Design-to-Code 자동화 Agent. 26년 GenAI PowerUser Level 4 과제결과보고서.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MotorDriveForge는 STM32G4 모터 제어 보드를 위한 설계 검증·코드 생성 자동화 Agent. 세 가지 핵심 Pain을 회로도 입력부터 빌드 검증까지 원스톱 자동화로 해소.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서비스명 MotorDriveForge. End-to-End 5단계와 HW 검증 Agent / Code Generation Agent 두 축의 모델·데이터·구현 방식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AS-IS: 설계 오류의 늦은 발견, 드라이버 구현 진입 장벽, 외부 AI 보안 우려. 결과적으로 잦은 PCB 수정과 디버깅으로 리드타임 증가.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TO-BE: 파이프라인 통합, 폐쇄망 로컬 운영, 초급 개발자 역량 보강. LLM은 HAL 초기화를 직접 만들지 않고 CubeMX 기반 위에 알고리즘 레이어만 조립.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 사용자 주니어 FW 개발자(~30명), 부 사용자 로봇 제어 엔지니어(~15명), 확장 사용자 타 사업부 임베디드 개발자(~50명).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정량: 회로검증 95%↓, 초기 코드구현 85%↓, PCB 재제작 비용 70%↓, 온보딩 60%↓. 정성: 품질 표준화, 지식 자산화, 보안 확보, 개발 문화 혁신.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STM32G4 → Phase 2 STM32 전 시리즈 → Phase 3 회로 설계 자동화 → Phase 4 타 MCU 플랫폼. 핵심은 회로도→코드를 요건 정의→회로도→코드로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3-Step 파이프라인: HW 설계 검증 Agent → CubeMX 자동화 → Code Generation Agent. 코드는 3개 레이어(HAL 초기화 / 드라이버 알고리즘 / 통합 레이어)로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DB 총 약 4,650 청크. ST PDF, CubeMX XML, 오픈소스 코드, Golden Module, 사용자 피드백. 검색은 Dense + BM25 + Cross-encoder Re-ranking.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구축(데이터·RAG·Local LLM) → 회로 리뷰 웹 UI에서 검토·Q&amp;A로 설계 검증 → 검증 통과 시 .ioc 생성 후 CubeMX 디폴트 코드 생성·빌드 → 디폴트 코드와 Golden Module을 사용자 프롬프트에 맞춰 통합 생성·최종 빌드.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PM(본인, 사람)이 과제를 기획·총괄하고 아키텍처 설계·프롬프트 작성·결과 검증을 직접 수행. 실제 코딩은 AI Agent A(RAG·데이터)와 AI Agent B(웹 UI·CubeMX·빌드)가 PM 지시에 따라 수행.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산출물: 검증 JSON, 확정 핀 JSON, CubeMX .ioc+HAL, Golden Module 통합 펌웨어 ZIP, 시연 영상. 발표 시 이 슬라이드에서 데모 영상을 직접 재생.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Short-term 정확도 고도화, Mid-term 칩 커버리지 확대, Long-term 요건→회로도→코드. 사용자 수정 이력이 Few-shot으로 전환되는 지속 개선 루프.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데이터·학습/모델·서비스 세 관점의 개선 로드맵. RAG→Fine-tuning, STM32G4→전 시리즈, Streamlit→React, Docker→Kubernetes 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MotorDriveForge는 사내 표준 Design-to-Code 파이프라인. Lead Time·Quality·Security·Scalability 네 축의 종합 효과로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42000">
                <a:srgbClr val="FFFFFF">
                  <a:alpha val="0"/>
                </a:srgbClr>
              </a:gs>
            </a:gsLst>
            <a:lin ang="21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400050" y="285750"/>
            <a:ext cx="21035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" kern="0" dirty="0">
                <a:solidFill>
                  <a:srgbClr val="FFFFFF">
                    <a:alpha val="5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113026" y="571500"/>
            <a:ext cx="18266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81100" y="3255690"/>
            <a:ext cx="15925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38" kern="0" dirty="0">
                <a:solidFill>
                  <a:srgbClr val="FFFFFF">
                    <a:alpha val="82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`26년 GenAI PowerUser Level 4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524500" y="3960540"/>
            <a:ext cx="7239000" cy="190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4303440"/>
            <a:ext cx="1592580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100" b="1" spc="-1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MotorDriveForge</a:t>
            </a:r>
            <a:endParaRPr lang="en-US" sz="8100" dirty="0"/>
          </a:p>
        </p:txBody>
      </p:sp>
      <p:sp>
        <p:nvSpPr>
          <p:cNvPr id="8" name="Shape 6"/>
          <p:cNvSpPr/>
          <p:nvPr/>
        </p:nvSpPr>
        <p:spPr>
          <a:xfrm>
            <a:off x="5524500" y="5707335"/>
            <a:ext cx="7239000" cy="190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6050235"/>
            <a:ext cx="159258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spc="-3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LLM(Gemma 4) 기반 Embedded Design-to-Code 자동화 Agent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81100" y="6726510"/>
            <a:ext cx="15925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>
                    <a:alpha val="6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미래로봇추진단 Robotic HandLab 김윤래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721310" y="9382125"/>
            <a:ext cx="225757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3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과제결과보고서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305752" y="1981200"/>
            <a:ext cx="175812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MotorDriveForge </a:t>
            </a:r>
            <a:pPr algn="ctr" indent="0" marL="0">
              <a:buNone/>
            </a:pPr>
            <a:r>
              <a:rPr lang="en-US" sz="2325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STM32G4 모터 제어 보드를 위한 설계 검증·코드 생성 자동화 Agent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104900" y="2619375"/>
            <a:ext cx="8405068" cy="6149429"/>
          </a:xfrm>
          <a:prstGeom prst="roundRect">
            <a:avLst>
              <a:gd name="adj" fmla="val 2168"/>
            </a:avLst>
          </a:prstGeom>
          <a:ln w="9525">
            <a:solidFill>
              <a:srgbClr val="CCCCC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3418" b="13418"/>
          <a:stretch/>
        </p:blipFill>
        <p:spPr>
          <a:xfrm>
            <a:off x="1104900" y="2619375"/>
            <a:ext cx="8405068" cy="614942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795718" y="2619375"/>
            <a:ext cx="7292132" cy="1948160"/>
          </a:xfrm>
          <a:prstGeom prst="roundRect">
            <a:avLst>
              <a:gd name="adj" fmla="val 5867"/>
            </a:avLst>
          </a:prstGeom>
          <a:solidFill>
            <a:srgbClr val="FBF3F2"/>
          </a:solidFill>
          <a:ln/>
        </p:spPr>
      </p:sp>
      <p:sp>
        <p:nvSpPr>
          <p:cNvPr id="12" name="Shape 9"/>
          <p:cNvSpPr/>
          <p:nvPr/>
        </p:nvSpPr>
        <p:spPr>
          <a:xfrm>
            <a:off x="9795718" y="4558010"/>
            <a:ext cx="7292132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13" name="Shape 10"/>
          <p:cNvSpPr/>
          <p:nvPr/>
        </p:nvSpPr>
        <p:spPr>
          <a:xfrm>
            <a:off x="9795718" y="2619375"/>
            <a:ext cx="7292132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14" name="Shape 11"/>
          <p:cNvSpPr/>
          <p:nvPr/>
        </p:nvSpPr>
        <p:spPr>
          <a:xfrm>
            <a:off x="9795718" y="2619375"/>
            <a:ext cx="47625" cy="1948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7078325" y="2619375"/>
            <a:ext cx="9525" cy="1948160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90993" y="3295799"/>
            <a:ext cx="696664" cy="228600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10214818" y="3324374"/>
            <a:ext cx="5186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01958" y="3243411"/>
            <a:ext cx="25231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부품과 낯선 회로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090993" y="3643461"/>
            <a:ext cx="7413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STM32G4, 다축 모터 구동 회로, 내부 OPAMP 등 초기 설정 난이도가 높음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9795718" y="4719935"/>
            <a:ext cx="7292132" cy="1948160"/>
          </a:xfrm>
          <a:prstGeom prst="roundRect">
            <a:avLst>
              <a:gd name="adj" fmla="val 5867"/>
            </a:avLst>
          </a:prstGeom>
          <a:solidFill>
            <a:srgbClr val="FBF3F2"/>
          </a:solidFill>
          <a:ln/>
        </p:spPr>
      </p:sp>
      <p:sp>
        <p:nvSpPr>
          <p:cNvPr id="21" name="Shape 18"/>
          <p:cNvSpPr/>
          <p:nvPr/>
        </p:nvSpPr>
        <p:spPr>
          <a:xfrm>
            <a:off x="9795718" y="6658570"/>
            <a:ext cx="7292132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2" name="Shape 19"/>
          <p:cNvSpPr/>
          <p:nvPr/>
        </p:nvSpPr>
        <p:spPr>
          <a:xfrm>
            <a:off x="9795718" y="4719935"/>
            <a:ext cx="7292132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3" name="Shape 20"/>
          <p:cNvSpPr/>
          <p:nvPr/>
        </p:nvSpPr>
        <p:spPr>
          <a:xfrm>
            <a:off x="9795718" y="4719935"/>
            <a:ext cx="47625" cy="1948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1"/>
          <p:cNvSpPr/>
          <p:nvPr/>
        </p:nvSpPr>
        <p:spPr>
          <a:xfrm>
            <a:off x="17078325" y="4719935"/>
            <a:ext cx="9525" cy="1948160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90993" y="5396359"/>
            <a:ext cx="696664" cy="228600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10214818" y="5424934"/>
            <a:ext cx="5186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901958" y="5343971"/>
            <a:ext cx="19905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쏟아지는 설계 결함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090993" y="5744021"/>
            <a:ext cx="7413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매핑, 타이머 충돌, 데드타임, BOOT0 플로팅 같은 결함이 뒤늦게 발견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9795718" y="6820495"/>
            <a:ext cx="7292132" cy="1948160"/>
          </a:xfrm>
          <a:prstGeom prst="roundRect">
            <a:avLst>
              <a:gd name="adj" fmla="val 5867"/>
            </a:avLst>
          </a:prstGeom>
          <a:solidFill>
            <a:srgbClr val="FBF3F2"/>
          </a:solidFill>
          <a:ln/>
        </p:spPr>
      </p:sp>
      <p:sp>
        <p:nvSpPr>
          <p:cNvPr id="30" name="Shape 27"/>
          <p:cNvSpPr/>
          <p:nvPr/>
        </p:nvSpPr>
        <p:spPr>
          <a:xfrm>
            <a:off x="9795718" y="8759130"/>
            <a:ext cx="7292132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31" name="Shape 28"/>
          <p:cNvSpPr/>
          <p:nvPr/>
        </p:nvSpPr>
        <p:spPr>
          <a:xfrm>
            <a:off x="9795718" y="6820495"/>
            <a:ext cx="7292132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32" name="Shape 29"/>
          <p:cNvSpPr/>
          <p:nvPr/>
        </p:nvSpPr>
        <p:spPr>
          <a:xfrm>
            <a:off x="9795718" y="6820495"/>
            <a:ext cx="47625" cy="1948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Shape 30"/>
          <p:cNvSpPr/>
          <p:nvPr/>
        </p:nvSpPr>
        <p:spPr>
          <a:xfrm>
            <a:off x="17078325" y="6820495"/>
            <a:ext cx="9525" cy="1948160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34" name="Shape 31"/>
          <p:cNvSpPr/>
          <p:nvPr/>
        </p:nvSpPr>
        <p:spPr>
          <a:xfrm>
            <a:off x="10090993" y="7496919"/>
            <a:ext cx="696664" cy="228600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/>
        </p:spPr>
      </p:sp>
      <p:sp>
        <p:nvSpPr>
          <p:cNvPr id="35" name="Text 32"/>
          <p:cNvSpPr/>
          <p:nvPr/>
        </p:nvSpPr>
        <p:spPr>
          <a:xfrm>
            <a:off x="10214818" y="7525494"/>
            <a:ext cx="5186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3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901958" y="7444532"/>
            <a:ext cx="19329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SW 전문가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090993" y="7844582"/>
            <a:ext cx="7413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설정부터 FOC/PID 구현까지 주니어 개발자의 시행착오가 큼</a:t>
            </a:r>
            <a:endParaRPr lang="en-US" sz="1575" dirty="0"/>
          </a:p>
        </p:txBody>
      </p:sp>
      <p:sp>
        <p:nvSpPr>
          <p:cNvPr id="38" name="Shape 35"/>
          <p:cNvSpPr/>
          <p:nvPr/>
        </p:nvSpPr>
        <p:spPr>
          <a:xfrm>
            <a:off x="1104900" y="8959304"/>
            <a:ext cx="15982950" cy="622846"/>
          </a:xfrm>
          <a:prstGeom prst="roundRect">
            <a:avLst>
              <a:gd name="adj" fmla="val 18351"/>
            </a:avLst>
          </a:prstGeom>
          <a:solidFill>
            <a:srgbClr val="14299F"/>
          </a:solidFill>
          <a:ln/>
        </p:spPr>
      </p:sp>
      <p:sp>
        <p:nvSpPr>
          <p:cNvPr id="39" name="Text 36"/>
          <p:cNvSpPr/>
          <p:nvPr/>
        </p:nvSpPr>
        <p:spPr>
          <a:xfrm>
            <a:off x="1390650" y="9130754"/>
            <a:ext cx="15890939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</a:t>
            </a:r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highlight>
                  <a:srgbClr val="14299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 입력 → AI 설계 검증 → CubeMX 코드 생성 → 드라이버 자동 구현 → 빌드 검증까지 원스톱 자동화</a:t>
            </a:r>
            <a:endParaRPr lang="en-US" sz="1575" dirty="0"/>
          </a:p>
        </p:txBody>
      </p:sp>
      <p:sp>
        <p:nvSpPr>
          <p:cNvPr id="40" name="Text 37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과제 정의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1962150"/>
            <a:ext cx="15982950" cy="638175"/>
          </a:xfrm>
          <a:prstGeom prst="roundRect">
            <a:avLst>
              <a:gd name="adj" fmla="val 17910"/>
            </a:avLst>
          </a:prstGeom>
          <a:solidFill>
            <a:srgbClr val="EEF1FB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075" y="2105025"/>
            <a:ext cx="932706" cy="352425"/>
          </a:xfrm>
          <a:prstGeom prst="roundRect">
            <a:avLst>
              <a:gd name="adj" fmla="val 16216"/>
            </a:avLst>
          </a:prstGeom>
          <a:solidFill>
            <a:srgbClr val="14299F"/>
          </a:solidFill>
          <a:ln/>
        </p:spPr>
      </p:sp>
      <p:sp>
        <p:nvSpPr>
          <p:cNvPr id="10" name="Text 8"/>
          <p:cNvSpPr/>
          <p:nvPr/>
        </p:nvSpPr>
        <p:spPr>
          <a:xfrm>
            <a:off x="1495425" y="2152650"/>
            <a:ext cx="74220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서비스명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2466231" y="2128838"/>
            <a:ext cx="23634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MotorDriveForge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86313" y="2119313"/>
            <a:ext cx="47919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STM32G4 전용 Design-to-Code 자동화 Agent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104900" y="2733675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5-Step 파이프라인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04900" y="3086100"/>
            <a:ext cx="3039070" cy="763786"/>
          </a:xfrm>
          <a:prstGeom prst="roundRect">
            <a:avLst>
              <a:gd name="adj" fmla="val 11224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" y="3840361"/>
            <a:ext cx="3039070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4900" y="3086100"/>
            <a:ext cx="3039070" cy="285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34445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8725" y="3233738"/>
            <a:ext cx="228600" cy="2286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20" name="Text 18"/>
          <p:cNvSpPr/>
          <p:nvPr/>
        </p:nvSpPr>
        <p:spPr>
          <a:xfrm>
            <a:off x="1190625" y="323373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33525" y="3219450"/>
            <a:ext cx="792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검증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228725" y="3514725"/>
            <a:ext cx="3070562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+ 핀맵 CSV 기반 3계층 HW 검증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10645" y="3086100"/>
            <a:ext cx="139750" cy="80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40870" y="3086100"/>
            <a:ext cx="3039070" cy="763786"/>
          </a:xfrm>
          <a:prstGeom prst="roundRect">
            <a:avLst>
              <a:gd name="adj" fmla="val 11224"/>
            </a:avLst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0870" y="3840361"/>
            <a:ext cx="3039070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0870" y="3086100"/>
            <a:ext cx="3039070" cy="285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0870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8" name="Shape 26"/>
          <p:cNvSpPr/>
          <p:nvPr/>
        </p:nvSpPr>
        <p:spPr>
          <a:xfrm>
            <a:off x="7370415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64695" y="3233738"/>
            <a:ext cx="228600" cy="2286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30" name="Text 28"/>
          <p:cNvSpPr/>
          <p:nvPr/>
        </p:nvSpPr>
        <p:spPr>
          <a:xfrm>
            <a:off x="4426595" y="323373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69495" y="3219450"/>
            <a:ext cx="792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확정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4464695" y="3514725"/>
            <a:ext cx="3070562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결과 Q&amp;A 및 설계 리뷰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46615" y="3086100"/>
            <a:ext cx="139750" cy="80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76840" y="3086100"/>
            <a:ext cx="3039070" cy="763786"/>
          </a:xfrm>
          <a:prstGeom prst="roundRect">
            <a:avLst>
              <a:gd name="adj" fmla="val 11224"/>
            </a:avLst>
          </a:prstGeom>
          <a:solidFill>
            <a:srgbClr val="F5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576840" y="3840361"/>
            <a:ext cx="3039070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6" name="Shape 34"/>
          <p:cNvSpPr/>
          <p:nvPr/>
        </p:nvSpPr>
        <p:spPr>
          <a:xfrm>
            <a:off x="7576840" y="3086100"/>
            <a:ext cx="3039070" cy="285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7" name="Shape 35"/>
          <p:cNvSpPr/>
          <p:nvPr/>
        </p:nvSpPr>
        <p:spPr>
          <a:xfrm>
            <a:off x="7576840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06385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9" name="Shape 37"/>
          <p:cNvSpPr/>
          <p:nvPr/>
        </p:nvSpPr>
        <p:spPr>
          <a:xfrm>
            <a:off x="7700665" y="3233738"/>
            <a:ext cx="228600" cy="2286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40" name="Text 38"/>
          <p:cNvSpPr/>
          <p:nvPr/>
        </p:nvSpPr>
        <p:spPr>
          <a:xfrm>
            <a:off x="7662565" y="323373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05465" y="3219450"/>
            <a:ext cx="792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7700665" y="3514725"/>
            <a:ext cx="3070562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IOC/HAL 초기화 코드 생성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82585" y="3086100"/>
            <a:ext cx="139750" cy="80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812810" y="3086100"/>
            <a:ext cx="3039070" cy="763786"/>
          </a:xfrm>
          <a:prstGeom prst="roundRect">
            <a:avLst>
              <a:gd name="adj" fmla="val 11224"/>
            </a:avLst>
          </a:prstGeom>
          <a:solidFill>
            <a:srgbClr val="F5F7F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812810" y="3840361"/>
            <a:ext cx="3039070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812810" y="3086100"/>
            <a:ext cx="3039070" cy="285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7" name="Shape 45"/>
          <p:cNvSpPr/>
          <p:nvPr/>
        </p:nvSpPr>
        <p:spPr>
          <a:xfrm>
            <a:off x="10812810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8" name="Shape 46"/>
          <p:cNvSpPr/>
          <p:nvPr/>
        </p:nvSpPr>
        <p:spPr>
          <a:xfrm>
            <a:off x="13842355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36635" y="3233738"/>
            <a:ext cx="228600" cy="2286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50" name="Text 48"/>
          <p:cNvSpPr/>
          <p:nvPr/>
        </p:nvSpPr>
        <p:spPr>
          <a:xfrm>
            <a:off x="10898535" y="323373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241435" y="3219450"/>
            <a:ext cx="11255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구현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10936635" y="3514725"/>
            <a:ext cx="3070562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Module RAG 기반 드라이버 구현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918555" y="3086100"/>
            <a:ext cx="139750" cy="801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4048780" y="3086100"/>
            <a:ext cx="3039070" cy="763786"/>
          </a:xfrm>
          <a:prstGeom prst="roundRect">
            <a:avLst>
              <a:gd name="adj" fmla="val 11224"/>
            </a:avLst>
          </a:prstGeom>
          <a:solidFill>
            <a:srgbClr val="F5F7FC"/>
          </a:solidFill>
          <a:ln/>
        </p:spPr>
      </p:sp>
      <p:sp>
        <p:nvSpPr>
          <p:cNvPr id="55" name="Shape 53"/>
          <p:cNvSpPr/>
          <p:nvPr/>
        </p:nvSpPr>
        <p:spPr>
          <a:xfrm>
            <a:off x="14048780" y="3840361"/>
            <a:ext cx="3039070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6" name="Shape 54"/>
          <p:cNvSpPr/>
          <p:nvPr/>
        </p:nvSpPr>
        <p:spPr>
          <a:xfrm>
            <a:off x="14048780" y="3086100"/>
            <a:ext cx="3039070" cy="285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57" name="Shape 55"/>
          <p:cNvSpPr/>
          <p:nvPr/>
        </p:nvSpPr>
        <p:spPr>
          <a:xfrm>
            <a:off x="14048780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8" name="Shape 56"/>
          <p:cNvSpPr/>
          <p:nvPr/>
        </p:nvSpPr>
        <p:spPr>
          <a:xfrm>
            <a:off x="17078325" y="3086100"/>
            <a:ext cx="9525" cy="763786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9" name="Shape 57"/>
          <p:cNvSpPr/>
          <p:nvPr/>
        </p:nvSpPr>
        <p:spPr>
          <a:xfrm>
            <a:off x="14172605" y="3233738"/>
            <a:ext cx="228600" cy="2286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60" name="Text 58"/>
          <p:cNvSpPr/>
          <p:nvPr/>
        </p:nvSpPr>
        <p:spPr>
          <a:xfrm>
            <a:off x="14134505" y="323373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4477405" y="3219450"/>
            <a:ext cx="792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검증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14172605" y="3514725"/>
            <a:ext cx="3070562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정합성 및 산출물 검증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04900" y="3964186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파이프라인 구성도</a:t>
            </a:r>
            <a:endParaRPr lang="en-US" sz="1500" dirty="0"/>
          </a:p>
        </p:txBody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423" y="4316611"/>
            <a:ext cx="10273903" cy="2865239"/>
          </a:xfrm>
          <a:prstGeom prst="rect">
            <a:avLst/>
          </a:prstGeom>
        </p:spPr>
      </p:pic>
      <p:sp>
        <p:nvSpPr>
          <p:cNvPr id="65" name="Shape 62"/>
          <p:cNvSpPr/>
          <p:nvPr/>
        </p:nvSpPr>
        <p:spPr>
          <a:xfrm>
            <a:off x="6464498" y="4249936"/>
            <a:ext cx="2333625" cy="3228975"/>
          </a:xfrm>
          <a:prstGeom prst="roundRect">
            <a:avLst>
              <a:gd name="adj" fmla="val 4898"/>
            </a:avLst>
          </a:prstGeom>
          <a:solidFill>
            <a:srgbClr val="F5A623">
              <a:alpha val="10000"/>
            </a:srgbClr>
          </a:solidFill>
          <a:ln w="28575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50800" dir="16200000">
              <a:srgbClr val="F5A623">
                <a:alpha val="15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7291760" y="4335661"/>
            <a:ext cx="679103" cy="1714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67" name="Text 64"/>
          <p:cNvSpPr/>
          <p:nvPr/>
        </p:nvSpPr>
        <p:spPr>
          <a:xfrm>
            <a:off x="7387010" y="4354711"/>
            <a:ext cx="556513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11303198" y="4202311"/>
            <a:ext cx="2381250" cy="3219450"/>
          </a:xfrm>
          <a:prstGeom prst="roundRect">
            <a:avLst>
              <a:gd name="adj" fmla="val 4800"/>
            </a:avLst>
          </a:prstGeom>
          <a:solidFill>
            <a:srgbClr val="F5A623">
              <a:alpha val="10000"/>
            </a:srgbClr>
          </a:solidFill>
          <a:ln w="28575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50800" dir="16200000">
              <a:srgbClr val="F5A623">
                <a:alpha val="15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12154272" y="4288036"/>
            <a:ext cx="679103" cy="1714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0" name="Text 67"/>
          <p:cNvSpPr/>
          <p:nvPr/>
        </p:nvSpPr>
        <p:spPr>
          <a:xfrm>
            <a:off x="12249522" y="4307086"/>
            <a:ext cx="556513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1104900" y="7315200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 Agent 비교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1109663" y="7672388"/>
            <a:ext cx="5324475" cy="4762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28738" y="778668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6434138" y="7672388"/>
            <a:ext cx="5324475" cy="4762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653212" y="778668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설계 검증 Agent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1758613" y="7672388"/>
            <a:ext cx="5324475" cy="4762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1977688" y="778668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Generation Agent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109663" y="8148638"/>
            <a:ext cx="5324475" cy="47625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328738" y="826293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모델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6434138" y="8148638"/>
            <a:ext cx="5324475" cy="47625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653212" y="826293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31B Dense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11758613" y="8148638"/>
            <a:ext cx="5324475" cy="47625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1977688" y="826293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26B MoE</a:t>
            </a:r>
            <a:endParaRPr lang="en-US" sz="1425" dirty="0"/>
          </a:p>
        </p:txBody>
      </p:sp>
      <p:sp>
        <p:nvSpPr>
          <p:cNvPr id="84" name="Shape 81"/>
          <p:cNvSpPr/>
          <p:nvPr/>
        </p:nvSpPr>
        <p:spPr>
          <a:xfrm>
            <a:off x="1109663" y="8624888"/>
            <a:ext cx="5324475" cy="47625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328738" y="873918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425" dirty="0"/>
          </a:p>
        </p:txBody>
      </p:sp>
      <p:sp>
        <p:nvSpPr>
          <p:cNvPr id="86" name="Shape 83"/>
          <p:cNvSpPr/>
          <p:nvPr/>
        </p:nvSpPr>
        <p:spPr>
          <a:xfrm>
            <a:off x="6434138" y="8624888"/>
            <a:ext cx="5324475" cy="47625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6653212" y="873918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 PDF, CubeMX XML, KiCad 회로</a:t>
            </a:r>
            <a:endParaRPr lang="en-US" sz="1425" dirty="0"/>
          </a:p>
        </p:txBody>
      </p:sp>
      <p:sp>
        <p:nvSpPr>
          <p:cNvPr id="88" name="Shape 85"/>
          <p:cNvSpPr/>
          <p:nvPr/>
        </p:nvSpPr>
        <p:spPr>
          <a:xfrm>
            <a:off x="11758613" y="8624888"/>
            <a:ext cx="5324475" cy="47625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1977688" y="873918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Module, HAL 예제, 오픈소스 코드</a:t>
            </a:r>
            <a:endParaRPr lang="en-US" sz="1425" dirty="0"/>
          </a:p>
        </p:txBody>
      </p:sp>
      <p:sp>
        <p:nvSpPr>
          <p:cNvPr id="90" name="Shape 87"/>
          <p:cNvSpPr/>
          <p:nvPr/>
        </p:nvSpPr>
        <p:spPr>
          <a:xfrm>
            <a:off x="1109663" y="9101138"/>
            <a:ext cx="5324475" cy="47625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1328738" y="921543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425" dirty="0"/>
          </a:p>
        </p:txBody>
      </p:sp>
      <p:sp>
        <p:nvSpPr>
          <p:cNvPr id="92" name="Shape 89"/>
          <p:cNvSpPr/>
          <p:nvPr/>
        </p:nvSpPr>
        <p:spPr>
          <a:xfrm>
            <a:off x="6434138" y="9101138"/>
            <a:ext cx="5324475" cy="47625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6653212" y="921543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엔진 + RAG 하이브리드</a:t>
            </a:r>
            <a:endParaRPr lang="en-US" sz="1425" dirty="0"/>
          </a:p>
        </p:txBody>
      </p:sp>
      <p:sp>
        <p:nvSpPr>
          <p:cNvPr id="94" name="Shape 91"/>
          <p:cNvSpPr/>
          <p:nvPr/>
        </p:nvSpPr>
        <p:spPr>
          <a:xfrm>
            <a:off x="11758613" y="9101138"/>
            <a:ext cx="5324475" cy="47625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1977688" y="9215438"/>
            <a:ext cx="50460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CODE 스니펫 주입 + 빌드 자동화</a:t>
            </a:r>
            <a:endParaRPr lang="en-US" sz="1425" dirty="0"/>
          </a:p>
        </p:txBody>
      </p:sp>
      <p:sp>
        <p:nvSpPr>
          <p:cNvPr id="96" name="Text 93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1-2. 과제 추진 배경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04900" y="1981200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현황 및 문제 정의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04900" y="2390775"/>
            <a:ext cx="5200650" cy="1419225"/>
          </a:xfrm>
          <a:prstGeom prst="roundRect">
            <a:avLst>
              <a:gd name="adj" fmla="val 8054"/>
            </a:avLst>
          </a:prstGeom>
          <a:solidFill>
            <a:srgbClr val="FBF3F2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3800475"/>
            <a:ext cx="5200650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4900" y="2390775"/>
            <a:ext cx="5200650" cy="4762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4900" y="2390775"/>
            <a:ext cx="9525" cy="14192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6025" y="2390775"/>
            <a:ext cx="9525" cy="14192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3025" y="2652713"/>
            <a:ext cx="591741" cy="257175"/>
          </a:xfrm>
          <a:prstGeom prst="roundRect">
            <a:avLst>
              <a:gd name="adj" fmla="val 18519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2681288"/>
            <a:ext cx="4583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1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030016" y="2628900"/>
            <a:ext cx="21007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오류의 늦은 발견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43025" y="3019425"/>
            <a:ext cx="48661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상보 PWM 쌍 불일치, BOOT0 플로팅 등을 코드 구현 단계에서야 발견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6050" y="2390775"/>
            <a:ext cx="5200650" cy="1419225"/>
          </a:xfrm>
          <a:prstGeom prst="roundRect">
            <a:avLst>
              <a:gd name="adj" fmla="val 8054"/>
            </a:avLst>
          </a:prstGeom>
          <a:solidFill>
            <a:srgbClr val="FBF3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6050" y="3800475"/>
            <a:ext cx="5200650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6050" y="2390775"/>
            <a:ext cx="5200650" cy="4762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6050" y="2390775"/>
            <a:ext cx="9525" cy="14192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87175" y="2390775"/>
            <a:ext cx="9525" cy="14192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3" name="Shape 21"/>
          <p:cNvSpPr/>
          <p:nvPr/>
        </p:nvSpPr>
        <p:spPr>
          <a:xfrm>
            <a:off x="6734175" y="2652713"/>
            <a:ext cx="591741" cy="257175"/>
          </a:xfrm>
          <a:prstGeom prst="roundRect">
            <a:avLst>
              <a:gd name="adj" fmla="val 18519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38950" y="2681288"/>
            <a:ext cx="4583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7421166" y="2628900"/>
            <a:ext cx="23129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구현 진입 장벽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734175" y="3019425"/>
            <a:ext cx="48661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이후 실제 FOC/PID/통신 프로토콜은 직접 구현해야 함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1887200" y="2390775"/>
            <a:ext cx="5200650" cy="1419225"/>
          </a:xfrm>
          <a:prstGeom prst="roundRect">
            <a:avLst>
              <a:gd name="adj" fmla="val 8054"/>
            </a:avLst>
          </a:prstGeom>
          <a:solidFill>
            <a:srgbClr val="FBF3F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87200" y="3800475"/>
            <a:ext cx="5200650" cy="95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0" y="2390775"/>
            <a:ext cx="5200650" cy="4762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87200" y="2390775"/>
            <a:ext cx="9525" cy="14192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31" name="Shape 29"/>
          <p:cNvSpPr/>
          <p:nvPr/>
        </p:nvSpPr>
        <p:spPr>
          <a:xfrm>
            <a:off x="17078325" y="2390775"/>
            <a:ext cx="9525" cy="1419225"/>
          </a:xfrm>
          <a:prstGeom prst="rect">
            <a:avLst/>
          </a:prstGeom>
          <a:solidFill>
            <a:srgbClr val="EBD3D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25325" y="2652713"/>
            <a:ext cx="591741" cy="257175"/>
          </a:xfrm>
          <a:prstGeom prst="roundRect">
            <a:avLst>
              <a:gd name="adj" fmla="val 18519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12230100" y="2681288"/>
            <a:ext cx="4583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3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2812316" y="2628900"/>
            <a:ext cx="19712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시 보안 우려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125325" y="3019425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사용 시 핵심 회로 자산과 제어 알고리즘 유출 위험</a:t>
            </a:r>
            <a:endParaRPr lang="en-US" sz="15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-8730" r="-8730" t="0" b="0"/>
          <a:stretch/>
        </p:blipFill>
        <p:spPr>
          <a:xfrm>
            <a:off x="1104900" y="3981450"/>
            <a:ext cx="15982950" cy="485775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1104900" y="8991600"/>
            <a:ext cx="15982950" cy="590550"/>
          </a:xfrm>
          <a:prstGeom prst="roundRect">
            <a:avLst>
              <a:gd name="adj" fmla="val 19355"/>
            </a:avLst>
          </a:prstGeom>
          <a:solidFill>
            <a:srgbClr val="FBF3F2"/>
          </a:solidFill>
          <a:ln/>
        </p:spPr>
      </p:sp>
      <p:sp>
        <p:nvSpPr>
          <p:cNvPr id="38" name="Shape 35"/>
          <p:cNvSpPr/>
          <p:nvPr/>
        </p:nvSpPr>
        <p:spPr>
          <a:xfrm>
            <a:off x="1104900" y="9572625"/>
            <a:ext cx="15982950" cy="9525"/>
          </a:xfrm>
          <a:prstGeom prst="rect">
            <a:avLst/>
          </a:prstGeom>
          <a:solidFill>
            <a:srgbClr val="E6C9C5"/>
          </a:solidFill>
          <a:ln/>
        </p:spPr>
      </p:sp>
      <p:sp>
        <p:nvSpPr>
          <p:cNvPr id="39" name="Shape 36"/>
          <p:cNvSpPr/>
          <p:nvPr/>
        </p:nvSpPr>
        <p:spPr>
          <a:xfrm>
            <a:off x="1104900" y="8991600"/>
            <a:ext cx="15982950" cy="9525"/>
          </a:xfrm>
          <a:prstGeom prst="rect">
            <a:avLst/>
          </a:prstGeom>
          <a:solidFill>
            <a:srgbClr val="E6C9C5"/>
          </a:solidFill>
          <a:ln/>
        </p:spPr>
      </p:sp>
      <p:sp>
        <p:nvSpPr>
          <p:cNvPr id="40" name="Shape 37"/>
          <p:cNvSpPr/>
          <p:nvPr/>
        </p:nvSpPr>
        <p:spPr>
          <a:xfrm>
            <a:off x="1104900" y="8991600"/>
            <a:ext cx="47625" cy="59055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Shape 38"/>
          <p:cNvSpPr/>
          <p:nvPr/>
        </p:nvSpPr>
        <p:spPr>
          <a:xfrm>
            <a:off x="17078325" y="8991600"/>
            <a:ext cx="9525" cy="590550"/>
          </a:xfrm>
          <a:prstGeom prst="rect">
            <a:avLst/>
          </a:prstGeom>
          <a:solidFill>
            <a:srgbClr val="E6C9C5"/>
          </a:solidFill>
          <a:ln/>
        </p:spPr>
      </p:sp>
      <p:sp>
        <p:nvSpPr>
          <p:cNvPr id="42" name="Text 39"/>
          <p:cNvSpPr/>
          <p:nvPr/>
        </p:nvSpPr>
        <p:spPr>
          <a:xfrm>
            <a:off x="1419225" y="9153525"/>
            <a:ext cx="158718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7A20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7A2018"/>
                </a:solidFill>
                <a:highlight>
                  <a:srgbClr val="FBF3F2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잦은 PCB 수정과 펌웨어 디버깅으로 프로젝트 리드타임이 길어지고 개발자 피로도가 증가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1-3. 과제 추진 목적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04900" y="1962150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업무 프로세스 </a:t>
            </a:r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End-to-End 자동화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04900" y="2352675"/>
            <a:ext cx="2907060" cy="771525"/>
          </a:xfrm>
          <a:prstGeom prst="roundRect">
            <a:avLst>
              <a:gd name="adj" fmla="val 12346"/>
            </a:avLst>
          </a:prstGeom>
          <a:solidFill>
            <a:srgbClr val="EEF7F1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3114675"/>
            <a:ext cx="290706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4900" y="2352675"/>
            <a:ext cx="290706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4900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2435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14" name="Text 12"/>
          <p:cNvSpPr/>
          <p:nvPr/>
        </p:nvSpPr>
        <p:spPr>
          <a:xfrm>
            <a:off x="1185119" y="2524125"/>
            <a:ext cx="27466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설계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4088160" y="2352675"/>
            <a:ext cx="285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373910" y="2352675"/>
            <a:ext cx="2907060" cy="771525"/>
          </a:xfrm>
          <a:prstGeom prst="roundRect">
            <a:avLst>
              <a:gd name="adj" fmla="val 12346"/>
            </a:avLst>
          </a:prstGeom>
          <a:solidFill>
            <a:srgbClr val="EEF7F1"/>
          </a:solidFill>
          <a:ln/>
        </p:spPr>
      </p:sp>
      <p:sp>
        <p:nvSpPr>
          <p:cNvPr id="17" name="Shape 15"/>
          <p:cNvSpPr/>
          <p:nvPr/>
        </p:nvSpPr>
        <p:spPr>
          <a:xfrm>
            <a:off x="4373910" y="3114675"/>
            <a:ext cx="290706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373910" y="2352675"/>
            <a:ext cx="290706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73910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271445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1" name="Text 19"/>
          <p:cNvSpPr/>
          <p:nvPr/>
        </p:nvSpPr>
        <p:spPr>
          <a:xfrm>
            <a:off x="5353645" y="2571750"/>
            <a:ext cx="10237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검증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4364764" y="2781300"/>
            <a:ext cx="29253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E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피드백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357170" y="2352675"/>
            <a:ext cx="285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42920" y="2352675"/>
            <a:ext cx="2907060" cy="771525"/>
          </a:xfrm>
          <a:prstGeom prst="roundRect">
            <a:avLst>
              <a:gd name="adj" fmla="val 12346"/>
            </a:avLst>
          </a:prstGeom>
          <a:solidFill>
            <a:srgbClr val="EEF7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642920" y="3114675"/>
            <a:ext cx="290706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642920" y="2352675"/>
            <a:ext cx="290706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7642920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40454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9" name="Text 27"/>
          <p:cNvSpPr/>
          <p:nvPr/>
        </p:nvSpPr>
        <p:spPr>
          <a:xfrm>
            <a:off x="7723139" y="2524125"/>
            <a:ext cx="27466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.ioc 자동 생성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0626179" y="2352675"/>
            <a:ext cx="285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911929" y="2352675"/>
            <a:ext cx="2907060" cy="771525"/>
          </a:xfrm>
          <a:prstGeom prst="roundRect">
            <a:avLst>
              <a:gd name="adj" fmla="val 12346"/>
            </a:avLst>
          </a:prstGeom>
          <a:solidFill>
            <a:srgbClr val="EEF7F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11929" y="3114675"/>
            <a:ext cx="290706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11929" y="2352675"/>
            <a:ext cx="290706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11929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35" name="Shape 33"/>
          <p:cNvSpPr/>
          <p:nvPr/>
        </p:nvSpPr>
        <p:spPr>
          <a:xfrm>
            <a:off x="13809464" y="2352675"/>
            <a:ext cx="9525" cy="771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36" name="Text 34"/>
          <p:cNvSpPr/>
          <p:nvPr/>
        </p:nvSpPr>
        <p:spPr>
          <a:xfrm>
            <a:off x="10992148" y="2524125"/>
            <a:ext cx="27466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드라이버 자동 구현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3895189" y="2352675"/>
            <a:ext cx="285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4180939" y="2352675"/>
            <a:ext cx="2907060" cy="771525"/>
          </a:xfrm>
          <a:prstGeom prst="roundRect">
            <a:avLst>
              <a:gd name="adj" fmla="val 12346"/>
            </a:avLst>
          </a:prstGeom>
          <a:solidFill>
            <a:srgbClr val="1E8E5A"/>
          </a:solidFill>
          <a:ln w="9525">
            <a:solidFill>
              <a:srgbClr val="1E8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1158" y="2495550"/>
            <a:ext cx="274662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빌드/검증</a:t>
            </a:r>
            <a:endParaRPr lang="en-US" sz="1425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-64287" r="-64287" t="0" b="0"/>
          <a:stretch/>
        </p:blipFill>
        <p:spPr>
          <a:xfrm>
            <a:off x="1104900" y="3276600"/>
            <a:ext cx="15982950" cy="306094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104900" y="6470898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목적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1104900" y="6842373"/>
            <a:ext cx="5226100" cy="853827"/>
          </a:xfrm>
          <a:prstGeom prst="roundRect">
            <a:avLst>
              <a:gd name="adj" fmla="val 13387"/>
            </a:avLst>
          </a:prstGeom>
          <a:solidFill>
            <a:srgbClr val="EEF7F1"/>
          </a:solidFill>
          <a:ln/>
        </p:spPr>
      </p:sp>
      <p:sp>
        <p:nvSpPr>
          <p:cNvPr id="43" name="Shape 40"/>
          <p:cNvSpPr/>
          <p:nvPr/>
        </p:nvSpPr>
        <p:spPr>
          <a:xfrm>
            <a:off x="1104900" y="7686675"/>
            <a:ext cx="52261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44" name="Shape 41"/>
          <p:cNvSpPr/>
          <p:nvPr/>
        </p:nvSpPr>
        <p:spPr>
          <a:xfrm>
            <a:off x="1104900" y="6842373"/>
            <a:ext cx="52261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45" name="Shape 42"/>
          <p:cNvSpPr/>
          <p:nvPr/>
        </p:nvSpPr>
        <p:spPr>
          <a:xfrm>
            <a:off x="1104900" y="6842373"/>
            <a:ext cx="47625" cy="853827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6" name="Shape 43"/>
          <p:cNvSpPr/>
          <p:nvPr/>
        </p:nvSpPr>
        <p:spPr>
          <a:xfrm>
            <a:off x="6321475" y="6842373"/>
            <a:ext cx="9525" cy="853827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47" name="Text 44"/>
          <p:cNvSpPr/>
          <p:nvPr/>
        </p:nvSpPr>
        <p:spPr>
          <a:xfrm>
            <a:off x="1343025" y="6985248"/>
            <a:ext cx="5266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통합</a:t>
            </a:r>
            <a:endParaRPr lang="en-US" sz="1575" dirty="0"/>
          </a:p>
        </p:txBody>
      </p:sp>
      <p:sp>
        <p:nvSpPr>
          <p:cNvPr id="48" name="Text 45"/>
          <p:cNvSpPr/>
          <p:nvPr/>
        </p:nvSpPr>
        <p:spPr>
          <a:xfrm>
            <a:off x="1343025" y="7318623"/>
            <a:ext cx="5266745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 분석부터 드라이버 구현까지 하나의 흐름으로 연결</a:t>
            </a:r>
            <a:endParaRPr lang="en-US" sz="1275" dirty="0"/>
          </a:p>
        </p:txBody>
      </p:sp>
      <p:sp>
        <p:nvSpPr>
          <p:cNvPr id="49" name="Shape 46"/>
          <p:cNvSpPr/>
          <p:nvPr/>
        </p:nvSpPr>
        <p:spPr>
          <a:xfrm>
            <a:off x="6483400" y="6842373"/>
            <a:ext cx="5226100" cy="853827"/>
          </a:xfrm>
          <a:prstGeom prst="roundRect">
            <a:avLst>
              <a:gd name="adj" fmla="val 13387"/>
            </a:avLst>
          </a:prstGeom>
          <a:solidFill>
            <a:srgbClr val="EEF7F1"/>
          </a:solidFill>
          <a:ln/>
        </p:spPr>
      </p:sp>
      <p:sp>
        <p:nvSpPr>
          <p:cNvPr id="50" name="Shape 47"/>
          <p:cNvSpPr/>
          <p:nvPr/>
        </p:nvSpPr>
        <p:spPr>
          <a:xfrm>
            <a:off x="6483400" y="7686675"/>
            <a:ext cx="52261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51" name="Shape 48"/>
          <p:cNvSpPr/>
          <p:nvPr/>
        </p:nvSpPr>
        <p:spPr>
          <a:xfrm>
            <a:off x="6483400" y="6842373"/>
            <a:ext cx="52261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52" name="Shape 49"/>
          <p:cNvSpPr/>
          <p:nvPr/>
        </p:nvSpPr>
        <p:spPr>
          <a:xfrm>
            <a:off x="6483400" y="6842373"/>
            <a:ext cx="47625" cy="853827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53" name="Shape 50"/>
          <p:cNvSpPr/>
          <p:nvPr/>
        </p:nvSpPr>
        <p:spPr>
          <a:xfrm>
            <a:off x="11699974" y="6842373"/>
            <a:ext cx="9525" cy="853827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54" name="Text 51"/>
          <p:cNvSpPr/>
          <p:nvPr/>
        </p:nvSpPr>
        <p:spPr>
          <a:xfrm>
            <a:off x="6721525" y="6985248"/>
            <a:ext cx="5266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로컬 운영</a:t>
            </a:r>
            <a:endParaRPr lang="en-US" sz="1575" dirty="0"/>
          </a:p>
        </p:txBody>
      </p:sp>
      <p:sp>
        <p:nvSpPr>
          <p:cNvPr id="55" name="Text 52"/>
          <p:cNvSpPr/>
          <p:nvPr/>
        </p:nvSpPr>
        <p:spPr>
          <a:xfrm>
            <a:off x="6721525" y="7318623"/>
            <a:ext cx="5266745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DGX Spark + Ollama 기반으로 외부 유출 없이 처리</a:t>
            </a:r>
            <a:endParaRPr lang="en-US" sz="1275" dirty="0"/>
          </a:p>
        </p:txBody>
      </p:sp>
      <p:sp>
        <p:nvSpPr>
          <p:cNvPr id="56" name="Shape 53"/>
          <p:cNvSpPr/>
          <p:nvPr/>
        </p:nvSpPr>
        <p:spPr>
          <a:xfrm>
            <a:off x="11861899" y="6842373"/>
            <a:ext cx="5226100" cy="853827"/>
          </a:xfrm>
          <a:prstGeom prst="roundRect">
            <a:avLst>
              <a:gd name="adj" fmla="val 13387"/>
            </a:avLst>
          </a:prstGeom>
          <a:solidFill>
            <a:srgbClr val="EEF7F1"/>
          </a:solidFill>
          <a:ln/>
        </p:spPr>
      </p:sp>
      <p:sp>
        <p:nvSpPr>
          <p:cNvPr id="57" name="Shape 54"/>
          <p:cNvSpPr/>
          <p:nvPr/>
        </p:nvSpPr>
        <p:spPr>
          <a:xfrm>
            <a:off x="11861899" y="7686675"/>
            <a:ext cx="52261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58" name="Shape 55"/>
          <p:cNvSpPr/>
          <p:nvPr/>
        </p:nvSpPr>
        <p:spPr>
          <a:xfrm>
            <a:off x="11861899" y="6842373"/>
            <a:ext cx="52261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59" name="Shape 56"/>
          <p:cNvSpPr/>
          <p:nvPr/>
        </p:nvSpPr>
        <p:spPr>
          <a:xfrm>
            <a:off x="11861899" y="6842373"/>
            <a:ext cx="47625" cy="853827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0" name="Shape 57"/>
          <p:cNvSpPr/>
          <p:nvPr/>
        </p:nvSpPr>
        <p:spPr>
          <a:xfrm>
            <a:off x="17078474" y="6842373"/>
            <a:ext cx="9525" cy="853827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61" name="Text 58"/>
          <p:cNvSpPr/>
          <p:nvPr/>
        </p:nvSpPr>
        <p:spPr>
          <a:xfrm>
            <a:off x="12100024" y="6985248"/>
            <a:ext cx="5266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개발자 역량 보강</a:t>
            </a:r>
            <a:endParaRPr lang="en-US" sz="1575" dirty="0"/>
          </a:p>
        </p:txBody>
      </p:sp>
      <p:sp>
        <p:nvSpPr>
          <p:cNvPr id="62" name="Text 59"/>
          <p:cNvSpPr/>
          <p:nvPr/>
        </p:nvSpPr>
        <p:spPr>
          <a:xfrm>
            <a:off x="12100024" y="7318623"/>
            <a:ext cx="5266745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수준의 핀 검증과 기본 코드를 자동 제공</a:t>
            </a:r>
            <a:endParaRPr lang="en-US" sz="1275" dirty="0"/>
          </a:p>
        </p:txBody>
      </p:sp>
      <p:sp>
        <p:nvSpPr>
          <p:cNvPr id="63" name="Shape 60"/>
          <p:cNvSpPr/>
          <p:nvPr/>
        </p:nvSpPr>
        <p:spPr>
          <a:xfrm>
            <a:off x="1104900" y="7981950"/>
            <a:ext cx="15982950" cy="1600200"/>
          </a:xfrm>
          <a:prstGeom prst="roundRect">
            <a:avLst>
              <a:gd name="adj" fmla="val 7143"/>
            </a:avLst>
          </a:prstGeom>
          <a:solidFill>
            <a:srgbClr val="14299F"/>
          </a:solidFill>
          <a:ln/>
        </p:spPr>
      </p:sp>
      <p:sp>
        <p:nvSpPr>
          <p:cNvPr id="64" name="Text 61"/>
          <p:cNvSpPr/>
          <p:nvPr/>
        </p:nvSpPr>
        <p:spPr>
          <a:xfrm>
            <a:off x="1371600" y="8153400"/>
            <a:ext cx="7548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>
                    <a:alpha val="65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방향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1371600" y="8458200"/>
            <a:ext cx="1026914" cy="276225"/>
          </a:xfrm>
          <a:prstGeom prst="roundRect">
            <a:avLst>
              <a:gd name="adj" fmla="val 17241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466850" y="8467725"/>
            <a:ext cx="91261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 리뷰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2493764" y="8458200"/>
            <a:ext cx="9358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칩셋 데이터시트·설계 규칙을 수집·학습한 RAG 시스템으로 LLM 할루시네이션을 억제하고 근거 기반의 정확한 회로 검증을 제공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1371600" y="8810625"/>
            <a:ext cx="869156" cy="276225"/>
          </a:xfrm>
          <a:prstGeom prst="roundRect">
            <a:avLst>
              <a:gd name="adj" fmla="val 17241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1466850" y="8820150"/>
            <a:ext cx="754856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</a:t>
            </a:r>
            <a:endParaRPr lang="en-US" sz="1350" dirty="0"/>
          </a:p>
        </p:txBody>
      </p:sp>
      <p:sp>
        <p:nvSpPr>
          <p:cNvPr id="70" name="Text 67"/>
          <p:cNvSpPr/>
          <p:nvPr/>
        </p:nvSpPr>
        <p:spPr>
          <a:xfrm>
            <a:off x="2336006" y="8810625"/>
            <a:ext cx="98346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불확실한 HAL 초기화 코드를 직접 만들지 않고, CubeMX가 보장한 기반 위에 알고리즘 레이어만 조립해 코드 생성 오류를 해결</a:t>
            </a:r>
            <a:endParaRPr lang="en-US" sz="1350" dirty="0"/>
          </a:p>
        </p:txBody>
      </p:sp>
      <p:sp>
        <p:nvSpPr>
          <p:cNvPr id="71" name="Shape 68"/>
          <p:cNvSpPr/>
          <p:nvPr/>
        </p:nvSpPr>
        <p:spPr>
          <a:xfrm>
            <a:off x="1371600" y="9163050"/>
            <a:ext cx="1092398" cy="276225"/>
          </a:xfrm>
          <a:prstGeom prst="roundRect">
            <a:avLst>
              <a:gd name="adj" fmla="val 17241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2" name="Text 69"/>
          <p:cNvSpPr/>
          <p:nvPr/>
        </p:nvSpPr>
        <p:spPr>
          <a:xfrm>
            <a:off x="1466850" y="9172575"/>
            <a:ext cx="97809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Q&amp;A</a:t>
            </a:r>
            <a:endParaRPr lang="en-US" sz="1350" dirty="0"/>
          </a:p>
        </p:txBody>
      </p:sp>
      <p:sp>
        <p:nvSpPr>
          <p:cNvPr id="73" name="Text 70"/>
          <p:cNvSpPr/>
          <p:nvPr/>
        </p:nvSpPr>
        <p:spPr>
          <a:xfrm>
            <a:off x="2559248" y="9163050"/>
            <a:ext cx="105847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결과만 주는 데 그치지 않고, "왜 문제인지"를 사용자가 되물으면 RAG 데이터 기반으로 근거를 들어 답해 초급 개발자·낯선 칩의 이해를 지원</a:t>
            </a:r>
            <a:endParaRPr lang="en-US" sz="1350" dirty="0"/>
          </a:p>
        </p:txBody>
      </p:sp>
      <p:sp>
        <p:nvSpPr>
          <p:cNvPr id="74" name="Text 71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1-4. 예상 사용자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2019300"/>
            <a:ext cx="8405068" cy="6781800"/>
          </a:xfrm>
          <a:prstGeom prst="roundRect">
            <a:avLst>
              <a:gd name="adj" fmla="val 1966"/>
            </a:avLst>
          </a:prstGeom>
          <a:ln w="9525">
            <a:solidFill>
              <a:srgbClr val="CCCCC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9656" b="9656"/>
          <a:stretch/>
        </p:blipFill>
        <p:spPr>
          <a:xfrm>
            <a:off x="1104900" y="2019300"/>
            <a:ext cx="8405068" cy="6781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795718" y="2019300"/>
            <a:ext cx="7292132" cy="2159050"/>
          </a:xfrm>
          <a:prstGeom prst="roundRect">
            <a:avLst>
              <a:gd name="adj" fmla="val 5294"/>
            </a:avLst>
          </a:prstGeom>
          <a:solidFill>
            <a:srgbClr val="F5F7FC"/>
          </a:solidFill>
          <a:ln/>
        </p:spPr>
      </p:sp>
      <p:sp>
        <p:nvSpPr>
          <p:cNvPr id="11" name="Shape 8"/>
          <p:cNvSpPr/>
          <p:nvPr/>
        </p:nvSpPr>
        <p:spPr>
          <a:xfrm>
            <a:off x="9795718" y="4168825"/>
            <a:ext cx="7292132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2" name="Shape 9"/>
          <p:cNvSpPr/>
          <p:nvPr/>
        </p:nvSpPr>
        <p:spPr>
          <a:xfrm>
            <a:off x="9795718" y="2019300"/>
            <a:ext cx="7292132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3" name="Shape 10"/>
          <p:cNvSpPr/>
          <p:nvPr/>
        </p:nvSpPr>
        <p:spPr>
          <a:xfrm>
            <a:off x="9795718" y="2019300"/>
            <a:ext cx="47625" cy="215905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14" name="Shape 11"/>
          <p:cNvSpPr/>
          <p:nvPr/>
        </p:nvSpPr>
        <p:spPr>
          <a:xfrm>
            <a:off x="17078325" y="2019300"/>
            <a:ext cx="9525" cy="21590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10043" y="2808238"/>
            <a:ext cx="794147" cy="257175"/>
          </a:xfrm>
          <a:prstGeom prst="roundRect">
            <a:avLst>
              <a:gd name="adj" fmla="val 18519"/>
            </a:avLst>
          </a:prstGeom>
          <a:solidFill>
            <a:srgbClr val="14299F"/>
          </a:solidFill>
          <a:ln/>
        </p:spPr>
      </p:sp>
      <p:sp>
        <p:nvSpPr>
          <p:cNvPr id="16" name="Text 13"/>
          <p:cNvSpPr/>
          <p:nvPr/>
        </p:nvSpPr>
        <p:spPr>
          <a:xfrm>
            <a:off x="10224343" y="2836813"/>
            <a:ext cx="6417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사용자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11018490" y="2774900"/>
            <a:ext cx="26529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신입·주니어 펌웨어 개발자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10110043" y="3146375"/>
            <a:ext cx="6430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"모터 제어 드라이버를 빠르게 구현하고 싶다"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127164" y="2793950"/>
            <a:ext cx="7225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~30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6127164" y="3174950"/>
            <a:ext cx="7225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795718" y="4330750"/>
            <a:ext cx="7292132" cy="2159050"/>
          </a:xfrm>
          <a:prstGeom prst="roundRect">
            <a:avLst>
              <a:gd name="adj" fmla="val 5294"/>
            </a:avLst>
          </a:prstGeom>
          <a:solidFill>
            <a:srgbClr val="F5F7FC"/>
          </a:solidFill>
          <a:ln/>
        </p:spPr>
      </p:sp>
      <p:sp>
        <p:nvSpPr>
          <p:cNvPr id="22" name="Shape 19"/>
          <p:cNvSpPr/>
          <p:nvPr/>
        </p:nvSpPr>
        <p:spPr>
          <a:xfrm>
            <a:off x="9795718" y="6480274"/>
            <a:ext cx="7292132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3" name="Shape 20"/>
          <p:cNvSpPr/>
          <p:nvPr/>
        </p:nvSpPr>
        <p:spPr>
          <a:xfrm>
            <a:off x="9795718" y="4330750"/>
            <a:ext cx="7292132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4" name="Shape 21"/>
          <p:cNvSpPr/>
          <p:nvPr/>
        </p:nvSpPr>
        <p:spPr>
          <a:xfrm>
            <a:off x="9795718" y="4330750"/>
            <a:ext cx="47625" cy="2159050"/>
          </a:xfrm>
          <a:prstGeom prst="rect">
            <a:avLst/>
          </a:prstGeom>
          <a:solidFill>
            <a:srgbClr val="3A5BD0"/>
          </a:solidFill>
          <a:ln/>
        </p:spPr>
      </p:sp>
      <p:sp>
        <p:nvSpPr>
          <p:cNvPr id="25" name="Shape 22"/>
          <p:cNvSpPr/>
          <p:nvPr/>
        </p:nvSpPr>
        <p:spPr>
          <a:xfrm>
            <a:off x="17078325" y="4330750"/>
            <a:ext cx="9525" cy="21590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10043" y="5119688"/>
            <a:ext cx="794147" cy="257175"/>
          </a:xfrm>
          <a:prstGeom prst="roundRect">
            <a:avLst>
              <a:gd name="adj" fmla="val 18519"/>
            </a:avLst>
          </a:prstGeom>
          <a:solidFill>
            <a:srgbClr val="3A5BD0"/>
          </a:solidFill>
          <a:ln/>
        </p:spPr>
      </p:sp>
      <p:sp>
        <p:nvSpPr>
          <p:cNvPr id="27" name="Text 24"/>
          <p:cNvSpPr/>
          <p:nvPr/>
        </p:nvSpPr>
        <p:spPr>
          <a:xfrm>
            <a:off x="10224343" y="5148263"/>
            <a:ext cx="6417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 사용자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11018490" y="5086350"/>
            <a:ext cx="35104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제어 엔지니어 (HW-SW 통합)</a:t>
            </a:r>
            <a:endParaRPr lang="en-US" sz="1725" dirty="0"/>
          </a:p>
        </p:txBody>
      </p:sp>
      <p:sp>
        <p:nvSpPr>
          <p:cNvPr id="29" name="Text 26"/>
          <p:cNvSpPr/>
          <p:nvPr/>
        </p:nvSpPr>
        <p:spPr>
          <a:xfrm>
            <a:off x="10110043" y="5457825"/>
            <a:ext cx="6430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"회로 설계 단계에서 오류를 사전 검증하고 싶다"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127164" y="5105400"/>
            <a:ext cx="7225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16127164" y="5486400"/>
            <a:ext cx="7225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795718" y="6642199"/>
            <a:ext cx="7292132" cy="2159050"/>
          </a:xfrm>
          <a:prstGeom prst="roundRect">
            <a:avLst>
              <a:gd name="adj" fmla="val 5294"/>
            </a:avLst>
          </a:prstGeom>
          <a:solidFill>
            <a:srgbClr val="F5F7FC"/>
          </a:solidFill>
          <a:ln/>
        </p:spPr>
      </p:sp>
      <p:sp>
        <p:nvSpPr>
          <p:cNvPr id="33" name="Shape 30"/>
          <p:cNvSpPr/>
          <p:nvPr/>
        </p:nvSpPr>
        <p:spPr>
          <a:xfrm>
            <a:off x="9795718" y="8791724"/>
            <a:ext cx="7292132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4" name="Shape 31"/>
          <p:cNvSpPr/>
          <p:nvPr/>
        </p:nvSpPr>
        <p:spPr>
          <a:xfrm>
            <a:off x="9795718" y="6642199"/>
            <a:ext cx="7292132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5" name="Shape 32"/>
          <p:cNvSpPr/>
          <p:nvPr/>
        </p:nvSpPr>
        <p:spPr>
          <a:xfrm>
            <a:off x="9795718" y="6642199"/>
            <a:ext cx="47625" cy="2159050"/>
          </a:xfrm>
          <a:prstGeom prst="rect">
            <a:avLst/>
          </a:prstGeom>
          <a:solidFill>
            <a:srgbClr val="6E83D8"/>
          </a:solidFill>
          <a:ln/>
        </p:spPr>
      </p:sp>
      <p:sp>
        <p:nvSpPr>
          <p:cNvPr id="36" name="Shape 33"/>
          <p:cNvSpPr/>
          <p:nvPr/>
        </p:nvSpPr>
        <p:spPr>
          <a:xfrm>
            <a:off x="17078325" y="6642199"/>
            <a:ext cx="9525" cy="21590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0110043" y="7431137"/>
            <a:ext cx="925562" cy="257175"/>
          </a:xfrm>
          <a:prstGeom prst="roundRect">
            <a:avLst>
              <a:gd name="adj" fmla="val 18519"/>
            </a:avLst>
          </a:prstGeom>
          <a:solidFill>
            <a:srgbClr val="6E83D8"/>
          </a:solidFill>
          <a:ln/>
        </p:spPr>
      </p:sp>
      <p:sp>
        <p:nvSpPr>
          <p:cNvPr id="38" name="Text 35"/>
          <p:cNvSpPr/>
          <p:nvPr/>
        </p:nvSpPr>
        <p:spPr>
          <a:xfrm>
            <a:off x="10224343" y="7459712"/>
            <a:ext cx="7731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사용자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11149905" y="7397800"/>
            <a:ext cx="2639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사업부 임베디드 개발자</a:t>
            </a:r>
            <a:endParaRPr lang="en-US" sz="1725" dirty="0"/>
          </a:p>
        </p:txBody>
      </p:sp>
      <p:sp>
        <p:nvSpPr>
          <p:cNvPr id="40" name="Text 37"/>
          <p:cNvSpPr/>
          <p:nvPr/>
        </p:nvSpPr>
        <p:spPr>
          <a:xfrm>
            <a:off x="10110043" y="7769275"/>
            <a:ext cx="6430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"STM32 기반 프로젝트 초기 셋업 시간을 줄이고 싶다"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6127164" y="7416850"/>
            <a:ext cx="7225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6E8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~50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16127164" y="7797850"/>
            <a:ext cx="7225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104900" y="9010650"/>
            <a:ext cx="15982950" cy="571500"/>
          </a:xfrm>
          <a:prstGeom prst="roundRect">
            <a:avLst>
              <a:gd name="adj" fmla="val 20000"/>
            </a:avLst>
          </a:prstGeom>
          <a:solidFill>
            <a:srgbClr val="14299F"/>
          </a:solidFill>
          <a:ln/>
        </p:spPr>
      </p:sp>
      <p:sp>
        <p:nvSpPr>
          <p:cNvPr id="44" name="Text 41"/>
          <p:cNvSpPr/>
          <p:nvPr/>
        </p:nvSpPr>
        <p:spPr>
          <a:xfrm>
            <a:off x="1371600" y="9163050"/>
            <a:ext cx="159290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관점 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highlight>
                  <a:srgbClr val="14299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로봇사업부 FW팀에서 시작해 전사 임베디드 개발팀의 표준 초기 셋업 도구로 확산 가능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1-5. 기대 효과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104900" y="2000250"/>
            <a:ext cx="96160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기대 효과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09663" y="2357438"/>
            <a:ext cx="2183011" cy="600075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1588" y="253841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2673" y="2357438"/>
            <a:ext cx="2183011" cy="600075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6498" y="253841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75684" y="2357438"/>
            <a:ext cx="2183011" cy="600075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509" y="253841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58695" y="2357438"/>
            <a:ext cx="2183309" cy="600075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2520" y="2538413"/>
            <a:ext cx="19356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09663" y="2957513"/>
            <a:ext cx="2183011" cy="600075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588" y="3138488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검증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292673" y="2957513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6498" y="3138488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2~3일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75684" y="2957513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9509" y="3138488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658695" y="2957513"/>
            <a:ext cx="2183309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2520" y="3138488"/>
            <a:ext cx="19356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~95% 단축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09663" y="3557588"/>
            <a:ext cx="2183011" cy="600075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1588" y="373856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+ 드라이버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292673" y="3557588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6498" y="373856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2~4주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75684" y="3557588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9509" y="373856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2~3일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658695" y="3557588"/>
            <a:ext cx="2183309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2520" y="3738563"/>
            <a:ext cx="19356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~85% 단축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09663" y="4157663"/>
            <a:ext cx="2183011" cy="600075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588" y="4338638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재제작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292673" y="4157663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6498" y="4338638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3~5회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75684" y="4157663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9509" y="4338638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0~1회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658695" y="4157663"/>
            <a:ext cx="2183309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82520" y="4338638"/>
            <a:ext cx="19356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70%↓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109663" y="4757738"/>
            <a:ext cx="2183011" cy="600075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71588" y="493871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3292673" y="4757738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6498" y="493871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3~6개월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5475684" y="4757738"/>
            <a:ext cx="2183011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99509" y="4938713"/>
            <a:ext cx="1935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1~2개월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7658695" y="4757738"/>
            <a:ext cx="2183309" cy="600075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2520" y="4938713"/>
            <a:ext cx="19356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 단축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0094416" y="2000250"/>
            <a:ext cx="6993434" cy="1044625"/>
          </a:xfrm>
          <a:prstGeom prst="roundRect">
            <a:avLst>
              <a:gd name="adj" fmla="val 10942"/>
            </a:avLst>
          </a:prstGeom>
          <a:solidFill>
            <a:srgbClr val="EEF7F1"/>
          </a:solidFill>
          <a:ln w="9525">
            <a:solidFill>
              <a:srgbClr val="C9E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51591" y="2236738"/>
            <a:ext cx="14144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sz="3900" dirty="0"/>
          </a:p>
        </p:txBody>
      </p:sp>
      <p:sp>
        <p:nvSpPr>
          <p:cNvPr id="51" name="Text 49"/>
          <p:cNvSpPr/>
          <p:nvPr/>
        </p:nvSpPr>
        <p:spPr>
          <a:xfrm>
            <a:off x="11808916" y="2370088"/>
            <a:ext cx="18887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검증 시간 단축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0094416" y="3159175"/>
            <a:ext cx="6993434" cy="1044625"/>
          </a:xfrm>
          <a:prstGeom prst="roundRect">
            <a:avLst>
              <a:gd name="adj" fmla="val 10942"/>
            </a:avLst>
          </a:prstGeom>
          <a:solidFill>
            <a:srgbClr val="EEF7F1"/>
          </a:solidFill>
          <a:ln w="9525">
            <a:solidFill>
              <a:srgbClr val="C9E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51591" y="3395663"/>
            <a:ext cx="14144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</a:t>
            </a:r>
            <a:endParaRPr lang="en-US" sz="3900" dirty="0"/>
          </a:p>
        </p:txBody>
      </p:sp>
      <p:sp>
        <p:nvSpPr>
          <p:cNvPr id="54" name="Text 52"/>
          <p:cNvSpPr/>
          <p:nvPr/>
        </p:nvSpPr>
        <p:spPr>
          <a:xfrm>
            <a:off x="11808916" y="3529013"/>
            <a:ext cx="23769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코드 구현 시간 단축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0094416" y="4318099"/>
            <a:ext cx="6993434" cy="1044625"/>
          </a:xfrm>
          <a:prstGeom prst="roundRect">
            <a:avLst>
              <a:gd name="adj" fmla="val 10942"/>
            </a:avLst>
          </a:prstGeom>
          <a:solidFill>
            <a:srgbClr val="EEF7F1"/>
          </a:solidFill>
          <a:ln w="9525">
            <a:solidFill>
              <a:srgbClr val="C9E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51591" y="4554587"/>
            <a:ext cx="14144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3900" dirty="0"/>
          </a:p>
        </p:txBody>
      </p:sp>
      <p:sp>
        <p:nvSpPr>
          <p:cNvPr id="57" name="Text 55"/>
          <p:cNvSpPr/>
          <p:nvPr/>
        </p:nvSpPr>
        <p:spPr>
          <a:xfrm>
            <a:off x="11808916" y="4687937"/>
            <a:ext cx="21632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재제작 비용 감소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104900" y="6362700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정성적 기대 효과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104900" y="6772275"/>
            <a:ext cx="3881438" cy="1790700"/>
          </a:xfrm>
          <a:prstGeom prst="roundRect">
            <a:avLst>
              <a:gd name="adj" fmla="val 6383"/>
            </a:avLst>
          </a:prstGeom>
          <a:solidFill>
            <a:srgbClr val="F5F7FC"/>
          </a:solidFill>
          <a:ln/>
        </p:spPr>
      </p:sp>
      <p:sp>
        <p:nvSpPr>
          <p:cNvPr id="60" name="Shape 58"/>
          <p:cNvSpPr/>
          <p:nvPr/>
        </p:nvSpPr>
        <p:spPr>
          <a:xfrm>
            <a:off x="1104900" y="85534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04900" y="6772275"/>
            <a:ext cx="3881438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62" name="Shape 60"/>
          <p:cNvSpPr/>
          <p:nvPr/>
        </p:nvSpPr>
        <p:spPr>
          <a:xfrm>
            <a:off x="1104900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63" name="Shape 61"/>
          <p:cNvSpPr/>
          <p:nvPr/>
        </p:nvSpPr>
        <p:spPr>
          <a:xfrm>
            <a:off x="4976813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64" name="Text 62"/>
          <p:cNvSpPr/>
          <p:nvPr/>
        </p:nvSpPr>
        <p:spPr>
          <a:xfrm>
            <a:off x="1343025" y="6963817"/>
            <a:ext cx="37457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표준화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1343025" y="7440067"/>
            <a:ext cx="350734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Module 기반 표준 드라이버로 개발자별 코드 품질 편차를 줄이고 리뷰 기준을 일원화</a:t>
            </a:r>
            <a:endParaRPr lang="en-US" sz="1575" dirty="0"/>
          </a:p>
        </p:txBody>
      </p:sp>
      <p:sp>
        <p:nvSpPr>
          <p:cNvPr id="66" name="Shape 64"/>
          <p:cNvSpPr/>
          <p:nvPr/>
        </p:nvSpPr>
        <p:spPr>
          <a:xfrm>
            <a:off x="5138738" y="6772275"/>
            <a:ext cx="3881438" cy="1790700"/>
          </a:xfrm>
          <a:prstGeom prst="roundRect">
            <a:avLst>
              <a:gd name="adj" fmla="val 6383"/>
            </a:avLst>
          </a:prstGeom>
          <a:solidFill>
            <a:srgbClr val="F5F7FC"/>
          </a:solidFill>
          <a:ln/>
        </p:spPr>
      </p:sp>
      <p:sp>
        <p:nvSpPr>
          <p:cNvPr id="67" name="Shape 65"/>
          <p:cNvSpPr/>
          <p:nvPr/>
        </p:nvSpPr>
        <p:spPr>
          <a:xfrm>
            <a:off x="5138738" y="85534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68" name="Shape 66"/>
          <p:cNvSpPr/>
          <p:nvPr/>
        </p:nvSpPr>
        <p:spPr>
          <a:xfrm>
            <a:off x="5138738" y="6772275"/>
            <a:ext cx="3881438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69" name="Shape 67"/>
          <p:cNvSpPr/>
          <p:nvPr/>
        </p:nvSpPr>
        <p:spPr>
          <a:xfrm>
            <a:off x="5138738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70" name="Shape 68"/>
          <p:cNvSpPr/>
          <p:nvPr/>
        </p:nvSpPr>
        <p:spPr>
          <a:xfrm>
            <a:off x="9010650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71" name="Text 69"/>
          <p:cNvSpPr/>
          <p:nvPr/>
        </p:nvSpPr>
        <p:spPr>
          <a:xfrm>
            <a:off x="5376863" y="6963817"/>
            <a:ext cx="37457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자산화</a:t>
            </a:r>
            <a:endParaRPr lang="en-US" sz="1950" dirty="0"/>
          </a:p>
        </p:txBody>
      </p:sp>
      <p:sp>
        <p:nvSpPr>
          <p:cNvPr id="72" name="Text 70"/>
          <p:cNvSpPr/>
          <p:nvPr/>
        </p:nvSpPr>
        <p:spPr>
          <a:xfrm>
            <a:off x="5376863" y="7440067"/>
            <a:ext cx="350734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숙련자의 설계 노하우와 검증 규칙을 RAG DB·규칙 엔진에 축적해 조직 자산으로 보존</a:t>
            </a:r>
            <a:endParaRPr lang="en-US" sz="1575" dirty="0"/>
          </a:p>
        </p:txBody>
      </p:sp>
      <p:sp>
        <p:nvSpPr>
          <p:cNvPr id="73" name="Shape 71"/>
          <p:cNvSpPr/>
          <p:nvPr/>
        </p:nvSpPr>
        <p:spPr>
          <a:xfrm>
            <a:off x="9172575" y="6772275"/>
            <a:ext cx="3881438" cy="1790700"/>
          </a:xfrm>
          <a:prstGeom prst="roundRect">
            <a:avLst>
              <a:gd name="adj" fmla="val 6383"/>
            </a:avLst>
          </a:prstGeom>
          <a:solidFill>
            <a:srgbClr val="F5F7FC"/>
          </a:solidFill>
          <a:ln/>
        </p:spPr>
      </p:sp>
      <p:sp>
        <p:nvSpPr>
          <p:cNvPr id="74" name="Shape 72"/>
          <p:cNvSpPr/>
          <p:nvPr/>
        </p:nvSpPr>
        <p:spPr>
          <a:xfrm>
            <a:off x="9172575" y="85534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75" name="Shape 73"/>
          <p:cNvSpPr/>
          <p:nvPr/>
        </p:nvSpPr>
        <p:spPr>
          <a:xfrm>
            <a:off x="9172575" y="6772275"/>
            <a:ext cx="3881438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76" name="Shape 74"/>
          <p:cNvSpPr/>
          <p:nvPr/>
        </p:nvSpPr>
        <p:spPr>
          <a:xfrm>
            <a:off x="9172575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77" name="Shape 75"/>
          <p:cNvSpPr/>
          <p:nvPr/>
        </p:nvSpPr>
        <p:spPr>
          <a:xfrm>
            <a:off x="13044488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78" name="Text 76"/>
          <p:cNvSpPr/>
          <p:nvPr/>
        </p:nvSpPr>
        <p:spPr>
          <a:xfrm>
            <a:off x="9410700" y="6963817"/>
            <a:ext cx="37457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확보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9410700" y="7440067"/>
            <a:ext cx="350734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DGX Spark·Ollama 폐쇄망 로컬 모델로 회로 자산과 제어 알고리즘의 외부 유출을 원천 차단</a:t>
            </a:r>
            <a:endParaRPr lang="en-US" sz="1575" dirty="0"/>
          </a:p>
        </p:txBody>
      </p:sp>
      <p:sp>
        <p:nvSpPr>
          <p:cNvPr id="80" name="Shape 78"/>
          <p:cNvSpPr/>
          <p:nvPr/>
        </p:nvSpPr>
        <p:spPr>
          <a:xfrm>
            <a:off x="13206413" y="6772275"/>
            <a:ext cx="3881438" cy="1790700"/>
          </a:xfrm>
          <a:prstGeom prst="roundRect">
            <a:avLst>
              <a:gd name="adj" fmla="val 6383"/>
            </a:avLst>
          </a:prstGeom>
          <a:solidFill>
            <a:srgbClr val="F5F7FC"/>
          </a:solidFill>
          <a:ln/>
        </p:spPr>
      </p:sp>
      <p:sp>
        <p:nvSpPr>
          <p:cNvPr id="81" name="Shape 79"/>
          <p:cNvSpPr/>
          <p:nvPr/>
        </p:nvSpPr>
        <p:spPr>
          <a:xfrm>
            <a:off x="13206413" y="85534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82" name="Shape 80"/>
          <p:cNvSpPr/>
          <p:nvPr/>
        </p:nvSpPr>
        <p:spPr>
          <a:xfrm>
            <a:off x="13206413" y="6772275"/>
            <a:ext cx="3881438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83" name="Shape 81"/>
          <p:cNvSpPr/>
          <p:nvPr/>
        </p:nvSpPr>
        <p:spPr>
          <a:xfrm>
            <a:off x="13206413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84" name="Shape 82"/>
          <p:cNvSpPr/>
          <p:nvPr/>
        </p:nvSpPr>
        <p:spPr>
          <a:xfrm>
            <a:off x="17078325" y="6772275"/>
            <a:ext cx="9525" cy="179070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85" name="Text 83"/>
          <p:cNvSpPr/>
          <p:nvPr/>
        </p:nvSpPr>
        <p:spPr>
          <a:xfrm>
            <a:off x="13444538" y="7123807"/>
            <a:ext cx="37457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문화 혁신</a:t>
            </a:r>
            <a:endParaRPr lang="en-US" sz="1950" dirty="0"/>
          </a:p>
        </p:txBody>
      </p:sp>
      <p:sp>
        <p:nvSpPr>
          <p:cNvPr id="86" name="Text 84"/>
          <p:cNvSpPr/>
          <p:nvPr/>
        </p:nvSpPr>
        <p:spPr>
          <a:xfrm>
            <a:off x="13444538" y="7600057"/>
            <a:ext cx="350734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 리뷰와 자동 빌드 검증을 일상 워크플로우로 정착시켜 개발 문화를 혁신</a:t>
            </a:r>
            <a:endParaRPr lang="en-US" sz="1575" dirty="0"/>
          </a:p>
        </p:txBody>
      </p:sp>
      <p:sp>
        <p:nvSpPr>
          <p:cNvPr id="87" name="Text 85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과제 개요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1-6. 확산 가능성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2038350"/>
            <a:ext cx="3662362" cy="6467475"/>
          </a:xfrm>
          <a:prstGeom prst="roundRect">
            <a:avLst>
              <a:gd name="adj" fmla="val 364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25" y="2047875"/>
            <a:ext cx="3643313" cy="561975"/>
          </a:xfrm>
          <a:prstGeom prst="rect">
            <a:avLst/>
          </a:prstGeom>
          <a:solidFill>
            <a:srgbClr val="9FB0E0"/>
          </a:solidFill>
          <a:ln/>
        </p:spPr>
      </p:sp>
      <p:sp>
        <p:nvSpPr>
          <p:cNvPr id="10" name="Text 8"/>
          <p:cNvSpPr/>
          <p:nvPr/>
        </p:nvSpPr>
        <p:spPr>
          <a:xfrm>
            <a:off x="1212175" y="2200275"/>
            <a:ext cx="3447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362075" y="2876550"/>
            <a:ext cx="34628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STM32G4 모터 제어 보드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362075" y="3343275"/>
            <a:ext cx="1854250" cy="333375"/>
          </a:xfrm>
          <a:prstGeom prst="roundRect">
            <a:avLst>
              <a:gd name="adj" fmla="val 17143"/>
            </a:avLst>
          </a:prstGeom>
          <a:solidFill>
            <a:srgbClr val="E4E9F7"/>
          </a:solidFill>
          <a:ln/>
        </p:spPr>
      </p:sp>
      <p:sp>
        <p:nvSpPr>
          <p:cNvPr id="13" name="Text 11"/>
          <p:cNvSpPr/>
          <p:nvPr/>
        </p:nvSpPr>
        <p:spPr>
          <a:xfrm>
            <a:off x="1495425" y="3390900"/>
            <a:ext cx="16637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로봇사업부 FW팀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362075" y="5187404"/>
            <a:ext cx="21359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회로도 핀맵 3계층 검증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362075" y="5707410"/>
            <a:ext cx="24349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CubeMX 초기화 코드 생성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362075" y="6227415"/>
            <a:ext cx="26643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FOC·PID 드라이버 자동 구현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362075" y="7781925"/>
            <a:ext cx="3148013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8" name="Text 16"/>
          <p:cNvSpPr/>
          <p:nvPr/>
        </p:nvSpPr>
        <p:spPr>
          <a:xfrm>
            <a:off x="1362075" y="7943850"/>
            <a:ext cx="3242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드라이버 자동화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4938713" y="2038350"/>
            <a:ext cx="171450" cy="650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205413" y="2038350"/>
            <a:ext cx="3662362" cy="6467475"/>
          </a:xfrm>
          <a:prstGeom prst="roundRect">
            <a:avLst>
              <a:gd name="adj" fmla="val 364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4938" y="2047875"/>
            <a:ext cx="3643313" cy="561975"/>
          </a:xfrm>
          <a:prstGeom prst="rect">
            <a:avLst/>
          </a:prstGeom>
          <a:solidFill>
            <a:srgbClr val="6E83D8"/>
          </a:solidFill>
          <a:ln/>
        </p:spPr>
      </p:sp>
      <p:sp>
        <p:nvSpPr>
          <p:cNvPr id="22" name="Text 20"/>
          <p:cNvSpPr/>
          <p:nvPr/>
        </p:nvSpPr>
        <p:spPr>
          <a:xfrm>
            <a:off x="5312688" y="2200275"/>
            <a:ext cx="3447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62588" y="2876550"/>
            <a:ext cx="34628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 전 시리즈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5462588" y="3343275"/>
            <a:ext cx="2094309" cy="333375"/>
          </a:xfrm>
          <a:prstGeom prst="roundRect">
            <a:avLst>
              <a:gd name="adj" fmla="val 17143"/>
            </a:avLst>
          </a:prstGeom>
          <a:solidFill>
            <a:srgbClr val="E4E9F7"/>
          </a:solidFill>
          <a:ln/>
        </p:spPr>
      </p:sp>
      <p:sp>
        <p:nvSpPr>
          <p:cNvPr id="25" name="Text 23"/>
          <p:cNvSpPr/>
          <p:nvPr/>
        </p:nvSpPr>
        <p:spPr>
          <a:xfrm>
            <a:off x="5595937" y="3390900"/>
            <a:ext cx="190380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전사 임베디드 개발팀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5462588" y="5187404"/>
            <a:ext cx="231755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F4·H7·L4 칩 패밀리 확장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462588" y="5707410"/>
            <a:ext cx="22087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범용 페리페럴 규칙 추가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462588" y="6227415"/>
            <a:ext cx="20384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공통 HAL 골격 재사용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5462588" y="7781925"/>
            <a:ext cx="3148013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462588" y="7943850"/>
            <a:ext cx="3242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펌웨어 자동화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039225" y="2038350"/>
            <a:ext cx="171450" cy="650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305925" y="2038350"/>
            <a:ext cx="3681413" cy="6467475"/>
          </a:xfrm>
          <a:prstGeom prst="roundRect">
            <a:avLst>
              <a:gd name="adj" fmla="val 3622"/>
            </a:avLst>
          </a:prstGeom>
          <a:solidFill>
            <a:srgbClr val="EEF1FB"/>
          </a:solidFill>
          <a:ln w="19050">
            <a:solidFill>
              <a:srgbClr val="14299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4975" y="2057400"/>
            <a:ext cx="3643313" cy="561975"/>
          </a:xfrm>
          <a:prstGeom prst="rect">
            <a:avLst/>
          </a:prstGeom>
          <a:solidFill>
            <a:srgbClr val="3A5BD0"/>
          </a:solidFill>
          <a:ln/>
        </p:spPr>
      </p:sp>
      <p:sp>
        <p:nvSpPr>
          <p:cNvPr id="34" name="Text 32"/>
          <p:cNvSpPr/>
          <p:nvPr/>
        </p:nvSpPr>
        <p:spPr>
          <a:xfrm>
            <a:off x="9422725" y="2209800"/>
            <a:ext cx="3447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9572625" y="2886075"/>
            <a:ext cx="34628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설계 자동화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9572625" y="3352800"/>
            <a:ext cx="1425327" cy="333375"/>
          </a:xfrm>
          <a:prstGeom prst="roundRect">
            <a:avLst>
              <a:gd name="adj" fmla="val 17143"/>
            </a:avLst>
          </a:prstGeom>
          <a:solidFill>
            <a:srgbClr val="D7DEF5"/>
          </a:solidFill>
          <a:ln/>
        </p:spPr>
      </p:sp>
      <p:sp>
        <p:nvSpPr>
          <p:cNvPr id="37" name="Text 35"/>
          <p:cNvSpPr/>
          <p:nvPr/>
        </p:nvSpPr>
        <p:spPr>
          <a:xfrm>
            <a:off x="9705975" y="3400425"/>
            <a:ext cx="12348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HW 설계팀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9572625" y="5187404"/>
            <a:ext cx="228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요건 입력 → 회로도 초안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9572625" y="5707410"/>
            <a:ext cx="16677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부품·핀 자동 배치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9572625" y="6227415"/>
            <a:ext cx="24072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설계 규칙(DRC) 사전 검증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9572625" y="7772400"/>
            <a:ext cx="3148013" cy="9525"/>
          </a:xfrm>
          <a:prstGeom prst="rect">
            <a:avLst/>
          </a:prstGeom>
          <a:solidFill>
            <a:srgbClr val="C5CFEC"/>
          </a:solidFill>
          <a:ln/>
        </p:spPr>
      </p:sp>
      <p:sp>
        <p:nvSpPr>
          <p:cNvPr id="42" name="Text 40"/>
          <p:cNvSpPr/>
          <p:nvPr/>
        </p:nvSpPr>
        <p:spPr>
          <a:xfrm>
            <a:off x="9572625" y="7934325"/>
            <a:ext cx="3242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검토 → 회로도 생성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158788" y="2038350"/>
            <a:ext cx="171450" cy="650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13425488" y="2038350"/>
            <a:ext cx="3662362" cy="6467475"/>
          </a:xfrm>
          <a:prstGeom prst="roundRect">
            <a:avLst>
              <a:gd name="adj" fmla="val 364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435013" y="2047875"/>
            <a:ext cx="3643313" cy="5619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6" name="Text 44"/>
          <p:cNvSpPr/>
          <p:nvPr/>
        </p:nvSpPr>
        <p:spPr>
          <a:xfrm>
            <a:off x="13532763" y="2200275"/>
            <a:ext cx="34478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13682663" y="2876550"/>
            <a:ext cx="34628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MCU 플랫폼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13682663" y="3343275"/>
            <a:ext cx="1593056" cy="333375"/>
          </a:xfrm>
          <a:prstGeom prst="roundRect">
            <a:avLst>
              <a:gd name="adj" fmla="val 17143"/>
            </a:avLst>
          </a:prstGeom>
          <a:solidFill>
            <a:srgbClr val="E4E9F7"/>
          </a:solidFill>
          <a:ln/>
        </p:spPr>
      </p:sp>
      <p:sp>
        <p:nvSpPr>
          <p:cNvPr id="49" name="Text 47"/>
          <p:cNvSpPr/>
          <p:nvPr/>
        </p:nvSpPr>
        <p:spPr>
          <a:xfrm>
            <a:off x="13816013" y="3390900"/>
            <a:ext cx="140255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전사 + 협력사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3682663" y="5187404"/>
            <a:ext cx="2137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NXP·TI·Renesas 확장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3682663" y="5707410"/>
            <a:ext cx="22087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플랫폼 무관 추상화 계층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3682663" y="6227415"/>
            <a:ext cx="22087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60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협력사 표준 패키지 배포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3682663" y="7781925"/>
            <a:ext cx="3148013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82663" y="7943850"/>
            <a:ext cx="3242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무관 Design-to-Code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1104900" y="8734425"/>
            <a:ext cx="15982950" cy="847725"/>
          </a:xfrm>
          <a:prstGeom prst="roundRect">
            <a:avLst>
              <a:gd name="adj" fmla="val 13483"/>
            </a:avLst>
          </a:prstGeom>
          <a:solidFill>
            <a:srgbClr val="14299F"/>
          </a:solidFill>
          <a:ln/>
        </p:spPr>
      </p:sp>
      <p:sp>
        <p:nvSpPr>
          <p:cNvPr id="56" name="Text 54"/>
          <p:cNvSpPr/>
          <p:nvPr/>
        </p:nvSpPr>
        <p:spPr>
          <a:xfrm>
            <a:off x="1371600" y="8886825"/>
            <a:ext cx="1592903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핵심 확장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/>
                </a:solidFill>
                <a:highlight>
                  <a:srgbClr val="14299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현재의 '회로도 → 코드' 흐름을 '요건 정의 → 회로도 → 코드'로 확장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"BLDC 2축, FDCAN, 엔코더" 입력 → KiCad 회로도 초안 및 펌웨어 골격 자동 생성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추진 내용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3-Step 파이프라인 아키텍처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2019300"/>
            <a:ext cx="5145584" cy="2077789"/>
          </a:xfrm>
          <a:prstGeom prst="roundRect">
            <a:avLst>
              <a:gd name="adj" fmla="val 550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25" y="2028825"/>
            <a:ext cx="5126534" cy="48577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10" name="Shape 8"/>
          <p:cNvSpPr/>
          <p:nvPr/>
        </p:nvSpPr>
        <p:spPr>
          <a:xfrm>
            <a:off x="1304925" y="2166938"/>
            <a:ext cx="750987" cy="209550"/>
          </a:xfrm>
          <a:prstGeom prst="roundRect">
            <a:avLst>
              <a:gd name="adj" fmla="val 2272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19225" y="2185988"/>
            <a:ext cx="5974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0212" y="2181225"/>
            <a:ext cx="1793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설계 검증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3025" y="2686050"/>
            <a:ext cx="4823130" cy="126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5000"/>
              </a:lnSpc>
              <a:buNone/>
            </a:pPr>
            <a:r>
              <a:rPr lang="en-US" sz="1575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Gemma 4 31B Dense • 3계층 규칙 엔진 + RAG • errors &gt; 0이면 진행 차단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345734" y="2019300"/>
            <a:ext cx="158800" cy="2115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23583" y="2019300"/>
            <a:ext cx="5145584" cy="2077789"/>
          </a:xfrm>
          <a:prstGeom prst="roundRect">
            <a:avLst>
              <a:gd name="adj" fmla="val 550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3108" y="2028825"/>
            <a:ext cx="5126534" cy="485775"/>
          </a:xfrm>
          <a:prstGeom prst="rect">
            <a:avLst/>
          </a:prstGeom>
          <a:solidFill>
            <a:srgbClr val="3A5B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3608" y="2166938"/>
            <a:ext cx="750987" cy="209550"/>
          </a:xfrm>
          <a:prstGeom prst="roundRect">
            <a:avLst>
              <a:gd name="adj" fmla="val 2272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37908" y="2185988"/>
            <a:ext cx="5974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8895" y="2181225"/>
            <a:ext cx="14169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자동화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1708" y="2686050"/>
            <a:ext cx="4823130" cy="126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5000"/>
              </a:lnSpc>
              <a:buNone/>
            </a:pPr>
            <a:r>
              <a:rPr lang="en-US" sz="1575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.ioc 수정 • CubeMX CLI 실행 • HAL 초기화 코드 생성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764417" y="2019300"/>
            <a:ext cx="158800" cy="2115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A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942266" y="2019300"/>
            <a:ext cx="5145584" cy="2077789"/>
          </a:xfrm>
          <a:prstGeom prst="roundRect">
            <a:avLst>
              <a:gd name="adj" fmla="val 550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51791" y="2028825"/>
            <a:ext cx="5126534" cy="42862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142291" y="2138363"/>
            <a:ext cx="886569" cy="209550"/>
          </a:xfrm>
          <a:prstGeom prst="roundRect">
            <a:avLst>
              <a:gd name="adj" fmla="val 22727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256591" y="2157413"/>
            <a:ext cx="7466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143161" y="2133600"/>
            <a:ext cx="21965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Generation Agent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180391" y="2628900"/>
            <a:ext cx="4823130" cy="126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5000"/>
              </a:lnSpc>
              <a:buNone/>
            </a:pPr>
            <a:r>
              <a:rPr lang="en-US" sz="1575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Gemma 4 26B MoE • Golden Module RAG • USER CODE 영역 삽입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104900" y="4630489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레이어 설계 원칙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04900" y="5021014"/>
            <a:ext cx="15982950" cy="914400"/>
          </a:xfrm>
          <a:prstGeom prst="roundRect">
            <a:avLst>
              <a:gd name="adj" fmla="val 10417"/>
            </a:avLst>
          </a:prstGeom>
          <a:solidFill>
            <a:srgbClr val="EEF1FB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00175" y="5302002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3. 통합 레이어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4543425" y="5159127"/>
            <a:ext cx="134740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생성 </a:t>
            </a:r>
            <a:pPr algn="l" indent="0" marL="0">
              <a:buNone/>
            </a:pPr>
            <a:r>
              <a:rPr lang="en-US" sz="172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호출, 연결 코드, 인터럽트 핸들러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4543425" y="5540127"/>
            <a:ext cx="13474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기반 위에 모듈을 엮어리는 접착 코드만 생성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104900" y="6049714"/>
            <a:ext cx="15982950" cy="914400"/>
          </a:xfrm>
          <a:prstGeom prst="roundRect">
            <a:avLst>
              <a:gd name="adj" fmla="val 10417"/>
            </a:avLst>
          </a:prstGeom>
          <a:solidFill>
            <a:srgbClr val="EEF7F1"/>
          </a:solidFill>
          <a:ln w="9525">
            <a:solidFill>
              <a:srgbClr val="C9E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00175" y="6330702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2. 드라이버 알고리즘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543425" y="6221164"/>
            <a:ext cx="13474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Module </a:t>
            </a:r>
            <a:pPr algn="l" indent="0" marL="0">
              <a:buNone/>
            </a:pPr>
            <a:r>
              <a:rPr lang="en-US" sz="172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FOC, PID, Clarke/Park, SVPWM, FDCAN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4543425" y="6535489"/>
            <a:ext cx="13474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오픈소스 드라이버를 보드에 맞게 포팅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104900" y="7078414"/>
            <a:ext cx="15982950" cy="914400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00175" y="7359402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1. HAL 초기화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4543425" y="7249864"/>
            <a:ext cx="13474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CLI </a:t>
            </a:r>
            <a:pPr algn="l" indent="0" marL="0">
              <a:buNone/>
            </a:pPr>
            <a:r>
              <a:rPr lang="en-US" sz="172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MX_TIM1_Init, MX_ADC_Init, MX_FDCAN_Init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4543425" y="7564189"/>
            <a:ext cx="134740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CubeMX가 보장하는 결정적 초기화 — 할루시네이션 차단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추진 내용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활용 데이터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9663" y="2024062"/>
            <a:ext cx="3993356" cy="5143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9688" y="2157413"/>
            <a:ext cx="37131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종류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5103019" y="2024062"/>
            <a:ext cx="3993356" cy="5143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044" y="2157413"/>
            <a:ext cx="37131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096375" y="2024062"/>
            <a:ext cx="3993356" cy="5143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96400" y="2157413"/>
            <a:ext cx="37131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/ 구조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089731" y="2024062"/>
            <a:ext cx="3993356" cy="51435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29856" y="2157413"/>
            <a:ext cx="37131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109663" y="2538413"/>
            <a:ext cx="3993356" cy="119628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9688" y="267176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 공식 PDF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5103019" y="253841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044" y="267176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 기술 포털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096375" y="253841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6400" y="267176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→ 텍스트 청킹 → 벡터 임베딩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3089731" y="253841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29856" y="267176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14건 / 55MB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109663" y="3734693"/>
            <a:ext cx="3993356" cy="119628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9688" y="386804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XML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5103019" y="373469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044" y="386804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X-CUBE-MCSDK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9096375" y="373469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96400" y="386804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 → pin_af_db.json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3089731" y="373469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29856" y="386804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 40~50칩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109663" y="4930973"/>
            <a:ext cx="3993356" cy="119628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9688" y="506432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회로/코드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5103019" y="493097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044" y="506432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8개 프로젝트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096375" y="493097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6400" y="506432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C/H 함수 단위 청킹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089731" y="4930973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29856" y="5064323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~800 청크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109663" y="6127254"/>
            <a:ext cx="3993356" cy="119628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09688" y="6260604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Module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5103019" y="6127254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044" y="6260604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SimpleFOC, VESC 등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9096375" y="6127254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6400" y="6260604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 기반 표준 드라이버</a:t>
            </a:r>
            <a:endParaRPr lang="en-US" sz="1425" dirty="0"/>
          </a:p>
        </p:txBody>
      </p:sp>
      <p:sp>
        <p:nvSpPr>
          <p:cNvPr id="46" name="Shape 44"/>
          <p:cNvSpPr/>
          <p:nvPr/>
        </p:nvSpPr>
        <p:spPr>
          <a:xfrm>
            <a:off x="13089731" y="6127254"/>
            <a:ext cx="3993356" cy="119628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29856" y="6260604"/>
            <a:ext cx="3713107" cy="96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모듈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1109663" y="7323534"/>
            <a:ext cx="3993356" cy="1196578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09688" y="7456884"/>
            <a:ext cx="3713107" cy="967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피드백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5103019" y="7323534"/>
            <a:ext cx="3993356" cy="1196578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044" y="7456884"/>
            <a:ext cx="3713107" cy="967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 인터랙션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9096375" y="7323534"/>
            <a:ext cx="3993356" cy="1196578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6400" y="7456884"/>
            <a:ext cx="3713107" cy="967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이력 JSON 로그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13089731" y="7323534"/>
            <a:ext cx="3993356" cy="1196578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229856" y="7456884"/>
            <a:ext cx="3713107" cy="967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1104900" y="8696325"/>
            <a:ext cx="7896225" cy="885825"/>
          </a:xfrm>
          <a:prstGeom prst="roundRect">
            <a:avLst>
              <a:gd name="adj" fmla="val 12903"/>
            </a:avLst>
          </a:prstGeom>
          <a:solidFill>
            <a:srgbClr val="EEF1FB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62075" y="8905875"/>
            <a:ext cx="1000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DB 규모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362075" y="9086850"/>
            <a:ext cx="17643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약 4,650 청크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3156496" y="9020175"/>
            <a:ext cx="9525" cy="238125"/>
          </a:xfrm>
          <a:prstGeom prst="rect">
            <a:avLst/>
          </a:prstGeom>
          <a:solidFill>
            <a:srgbClr val="C9D2EC"/>
          </a:solidFill>
          <a:ln/>
        </p:spPr>
      </p:sp>
      <p:sp>
        <p:nvSpPr>
          <p:cNvPr id="60" name="Text 58"/>
          <p:cNvSpPr/>
          <p:nvPr/>
        </p:nvSpPr>
        <p:spPr>
          <a:xfrm>
            <a:off x="3356521" y="9020175"/>
            <a:ext cx="26701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약 2,600 + Step 3 약 2,050</a:t>
            </a:r>
            <a:endParaRPr lang="en-US" sz="1275" dirty="0"/>
          </a:p>
        </p:txBody>
      </p:sp>
      <p:sp>
        <p:nvSpPr>
          <p:cNvPr id="61" name="Shape 59"/>
          <p:cNvSpPr/>
          <p:nvPr/>
        </p:nvSpPr>
        <p:spPr>
          <a:xfrm>
            <a:off x="9191625" y="8696325"/>
            <a:ext cx="7896225" cy="885825"/>
          </a:xfrm>
          <a:prstGeom prst="roundRect">
            <a:avLst>
              <a:gd name="adj" fmla="val 12903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48800" y="9024938"/>
            <a:ext cx="6794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전략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185350" y="9015413"/>
            <a:ext cx="50658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검색 + BM25 정확 매칭 + Cross-encoder Re-ranking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17207210" y="9429750"/>
            <a:ext cx="1663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추진 내용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진행 과정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2005013"/>
            <a:ext cx="1093589" cy="304800"/>
          </a:xfrm>
          <a:prstGeom prst="roundRect">
            <a:avLst>
              <a:gd name="adj" fmla="val 15625"/>
            </a:avLst>
          </a:prstGeom>
          <a:solidFill>
            <a:srgbClr val="14299F"/>
          </a:solidFill>
          <a:ln/>
        </p:spPr>
      </p:sp>
      <p:sp>
        <p:nvSpPr>
          <p:cNvPr id="9" name="Text 7"/>
          <p:cNvSpPr/>
          <p:nvPr/>
        </p:nvSpPr>
        <p:spPr>
          <a:xfrm>
            <a:off x="1247775" y="2052638"/>
            <a:ext cx="8840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2293739" y="1981200"/>
            <a:ext cx="30595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검증 엔진 구축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04900" y="2419350"/>
            <a:ext cx="3724275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4299F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04900" y="5033516"/>
            <a:ext cx="3724275" cy="9525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" y="2419350"/>
            <a:ext cx="372427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4900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9650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5875" y="3321546"/>
            <a:ext cx="266700" cy="2667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17" name="Text 15"/>
          <p:cNvSpPr/>
          <p:nvPr/>
        </p:nvSpPr>
        <p:spPr>
          <a:xfrm>
            <a:off x="1247775" y="332154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38300" y="3292971"/>
            <a:ext cx="13972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구축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285875" y="3683496"/>
            <a:ext cx="34631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Datasheet·MCU 매뉴얼·설계 규칙·골든 코드 수집 및 청킹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05375" y="2419350"/>
            <a:ext cx="285750" cy="266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191125" y="2419350"/>
            <a:ext cx="3724275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4299F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91125" y="5033516"/>
            <a:ext cx="3724275" cy="9525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91125" y="2419350"/>
            <a:ext cx="372427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24" name="Shape 22"/>
          <p:cNvSpPr/>
          <p:nvPr/>
        </p:nvSpPr>
        <p:spPr>
          <a:xfrm>
            <a:off x="5191125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372100" y="3321546"/>
            <a:ext cx="266700" cy="2667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27" name="Text 25"/>
          <p:cNvSpPr/>
          <p:nvPr/>
        </p:nvSpPr>
        <p:spPr>
          <a:xfrm>
            <a:off x="5334000" y="332154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724525" y="3292971"/>
            <a:ext cx="15562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검증 엔진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5372100" y="3683496"/>
            <a:ext cx="34631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DB + BGE-M3 임베딩 + Dense·BM25·Re-ranking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991600" y="2419350"/>
            <a:ext cx="285750" cy="266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277350" y="2419350"/>
            <a:ext cx="3724275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4299F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77350" y="5033516"/>
            <a:ext cx="3724275" cy="9525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33" name="Shape 31"/>
          <p:cNvSpPr/>
          <p:nvPr/>
        </p:nvSpPr>
        <p:spPr>
          <a:xfrm>
            <a:off x="9277350" y="2419350"/>
            <a:ext cx="372427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4" name="Shape 32"/>
          <p:cNvSpPr/>
          <p:nvPr/>
        </p:nvSpPr>
        <p:spPr>
          <a:xfrm>
            <a:off x="9277350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992100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36" name="Shape 34"/>
          <p:cNvSpPr/>
          <p:nvPr/>
        </p:nvSpPr>
        <p:spPr>
          <a:xfrm>
            <a:off x="9458325" y="3321546"/>
            <a:ext cx="266700" cy="2667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37" name="Text 35"/>
          <p:cNvSpPr/>
          <p:nvPr/>
        </p:nvSpPr>
        <p:spPr>
          <a:xfrm>
            <a:off x="9420225" y="332154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9810750" y="3326309"/>
            <a:ext cx="21244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 · Vision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9458325" y="3654921"/>
            <a:ext cx="34631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 폐쇄망 로드 + Multimodal OCR·부품·연결 매핑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3077825" y="2419350"/>
            <a:ext cx="285750" cy="266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3363575" y="2419350"/>
            <a:ext cx="3724275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4299F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3363575" y="5033516"/>
            <a:ext cx="3724275" cy="9525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43" name="Shape 41"/>
          <p:cNvSpPr/>
          <p:nvPr/>
        </p:nvSpPr>
        <p:spPr>
          <a:xfrm>
            <a:off x="13363575" y="2419350"/>
            <a:ext cx="372427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4" name="Shape 42"/>
          <p:cNvSpPr/>
          <p:nvPr/>
        </p:nvSpPr>
        <p:spPr>
          <a:xfrm>
            <a:off x="13363575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45" name="Shape 43"/>
          <p:cNvSpPr/>
          <p:nvPr/>
        </p:nvSpPr>
        <p:spPr>
          <a:xfrm>
            <a:off x="17078325" y="2419350"/>
            <a:ext cx="9525" cy="2623691"/>
          </a:xfrm>
          <a:prstGeom prst="rect">
            <a:avLst/>
          </a:prstGeom>
          <a:solidFill>
            <a:srgbClr val="C7D2EC"/>
          </a:solidFill>
          <a:ln/>
        </p:spPr>
      </p:sp>
      <p:sp>
        <p:nvSpPr>
          <p:cNvPr id="46" name="Shape 44"/>
          <p:cNvSpPr/>
          <p:nvPr/>
        </p:nvSpPr>
        <p:spPr>
          <a:xfrm>
            <a:off x="13544550" y="3321546"/>
            <a:ext cx="266700" cy="266700"/>
          </a:xfrm>
          <a:prstGeom prst="ellipse">
            <a:avLst/>
          </a:prstGeom>
          <a:solidFill>
            <a:srgbClr val="14299F"/>
          </a:solidFill>
          <a:ln/>
        </p:spPr>
      </p:sp>
      <p:sp>
        <p:nvSpPr>
          <p:cNvPr id="47" name="Text 45"/>
          <p:cNvSpPr/>
          <p:nvPr/>
        </p:nvSpPr>
        <p:spPr>
          <a:xfrm>
            <a:off x="13506450" y="332154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3896975" y="3292971"/>
            <a:ext cx="16976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검증 · 웹 UI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13544550" y="3683496"/>
            <a:ext cx="346319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 Agent + 회로 리뷰·Q&amp;A 인터페이스 개발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5471815" y="5157341"/>
            <a:ext cx="2102346" cy="600075"/>
          </a:xfrm>
          <a:prstGeom prst="roundRect">
            <a:avLst>
              <a:gd name="adj" fmla="val 12698"/>
            </a:avLst>
          </a:prstGeom>
          <a:solidFill>
            <a:srgbClr val="FBF3F2"/>
          </a:solidFill>
          <a:ln w="9525">
            <a:solidFill>
              <a:srgbClr val="E6C9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33740" y="5352604"/>
            <a:ext cx="2199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863233" y="5252591"/>
            <a:ext cx="17039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· 수정 가이드 루프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863233" y="5481191"/>
            <a:ext cx="170390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A8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제안 → 회로 검증 재검토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7726561" y="5238304"/>
            <a:ext cx="3130600" cy="438150"/>
          </a:xfrm>
          <a:prstGeom prst="roundRect">
            <a:avLst>
              <a:gd name="adj" fmla="val 17391"/>
            </a:avLst>
          </a:prstGeom>
          <a:solidFill>
            <a:srgbClr val="14299F"/>
          </a:solidFill>
          <a:ln/>
        </p:spPr>
      </p:sp>
      <p:sp>
        <p:nvSpPr>
          <p:cNvPr id="55" name="Text 53"/>
          <p:cNvSpPr/>
          <p:nvPr/>
        </p:nvSpPr>
        <p:spPr>
          <a:xfrm>
            <a:off x="7936111" y="5357366"/>
            <a:ext cx="2007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275" dirty="0"/>
          </a:p>
        </p:txBody>
      </p:sp>
      <p:sp>
        <p:nvSpPr>
          <p:cNvPr id="56" name="Text 54"/>
          <p:cNvSpPr/>
          <p:nvPr/>
        </p:nvSpPr>
        <p:spPr>
          <a:xfrm>
            <a:off x="8155930" y="5333554"/>
            <a:ext cx="27408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검증 리뷰 — 회로 검증 통과?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11009561" y="5157341"/>
            <a:ext cx="1711375" cy="600075"/>
          </a:xfrm>
          <a:prstGeom prst="roundRect">
            <a:avLst>
              <a:gd name="adj" fmla="val 12698"/>
            </a:avLst>
          </a:prstGeom>
          <a:solidFill>
            <a:srgbClr val="EEF7F1"/>
          </a:solidFill>
          <a:ln w="9525">
            <a:solidFill>
              <a:srgbClr val="C9E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49878" y="5252591"/>
            <a:ext cx="13376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· 다음 단계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1049878" y="5481191"/>
            <a:ext cx="13376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3D8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errors = 0 → 코드 합성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12473285" y="5357366"/>
            <a:ext cx="1619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104900" y="5895529"/>
            <a:ext cx="1093589" cy="304800"/>
          </a:xfrm>
          <a:prstGeom prst="roundRect">
            <a:avLst>
              <a:gd name="adj" fmla="val 15625"/>
            </a:avLst>
          </a:prstGeom>
          <a:solidFill>
            <a:srgbClr val="1E8E5A"/>
          </a:solidFill>
          <a:ln/>
        </p:spPr>
      </p:sp>
      <p:sp>
        <p:nvSpPr>
          <p:cNvPr id="62" name="Text 60"/>
          <p:cNvSpPr/>
          <p:nvPr/>
        </p:nvSpPr>
        <p:spPr>
          <a:xfrm>
            <a:off x="1247775" y="5943154"/>
            <a:ext cx="8840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38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25" dirty="0"/>
          </a:p>
        </p:txBody>
      </p:sp>
      <p:sp>
        <p:nvSpPr>
          <p:cNvPr id="63" name="Text 61"/>
          <p:cNvSpPr/>
          <p:nvPr/>
        </p:nvSpPr>
        <p:spPr>
          <a:xfrm>
            <a:off x="2293739" y="5871716"/>
            <a:ext cx="288131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 코드 합성 &amp; 빌드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1104900" y="6309866"/>
            <a:ext cx="5086350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E8E5A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104900" y="8924032"/>
            <a:ext cx="508635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4900" y="6309866"/>
            <a:ext cx="508635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4900" y="6309866"/>
            <a:ext cx="9525" cy="2623691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68" name="Shape 66"/>
          <p:cNvSpPr/>
          <p:nvPr/>
        </p:nvSpPr>
        <p:spPr>
          <a:xfrm>
            <a:off x="6181725" y="6309866"/>
            <a:ext cx="9525" cy="2623691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69" name="Shape 67"/>
          <p:cNvSpPr/>
          <p:nvPr/>
        </p:nvSpPr>
        <p:spPr>
          <a:xfrm>
            <a:off x="1285875" y="7340650"/>
            <a:ext cx="266700" cy="26670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70" name="Text 68"/>
          <p:cNvSpPr/>
          <p:nvPr/>
        </p:nvSpPr>
        <p:spPr>
          <a:xfrm>
            <a:off x="1247775" y="7340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1638300" y="7312075"/>
            <a:ext cx="16960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자동화</a:t>
            </a:r>
            <a:endParaRPr lang="en-US" sz="1725" dirty="0"/>
          </a:p>
        </p:txBody>
      </p:sp>
      <p:sp>
        <p:nvSpPr>
          <p:cNvPr id="72" name="Text 70"/>
          <p:cNvSpPr/>
          <p:nvPr/>
        </p:nvSpPr>
        <p:spPr>
          <a:xfrm>
            <a:off x="1285875" y="7702600"/>
            <a:ext cx="5196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.ioc 자동 생성 → CubeMX 디폴트 코드 생성 → 빌드 확인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6267450" y="6309866"/>
            <a:ext cx="285750" cy="266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74" name="Shape 72"/>
          <p:cNvSpPr/>
          <p:nvPr/>
        </p:nvSpPr>
        <p:spPr>
          <a:xfrm>
            <a:off x="6553200" y="6309866"/>
            <a:ext cx="5086350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E8E5A">
                <a:alpha val="7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553200" y="8924032"/>
            <a:ext cx="508635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76" name="Shape 74"/>
          <p:cNvSpPr/>
          <p:nvPr/>
        </p:nvSpPr>
        <p:spPr>
          <a:xfrm>
            <a:off x="6553200" y="6309866"/>
            <a:ext cx="508635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7" name="Shape 75"/>
          <p:cNvSpPr/>
          <p:nvPr/>
        </p:nvSpPr>
        <p:spPr>
          <a:xfrm>
            <a:off x="6553200" y="6309866"/>
            <a:ext cx="9525" cy="2623691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78" name="Shape 76"/>
          <p:cNvSpPr/>
          <p:nvPr/>
        </p:nvSpPr>
        <p:spPr>
          <a:xfrm>
            <a:off x="11630025" y="6309866"/>
            <a:ext cx="9525" cy="2623691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79" name="Shape 77"/>
          <p:cNvSpPr/>
          <p:nvPr/>
        </p:nvSpPr>
        <p:spPr>
          <a:xfrm>
            <a:off x="6734175" y="7340650"/>
            <a:ext cx="266700" cy="26670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0" name="Text 78"/>
          <p:cNvSpPr/>
          <p:nvPr/>
        </p:nvSpPr>
        <p:spPr>
          <a:xfrm>
            <a:off x="6696075" y="7340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7086600" y="7312075"/>
            <a:ext cx="18507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코드 합성</a:t>
            </a:r>
            <a:endParaRPr lang="en-US" sz="1725" dirty="0"/>
          </a:p>
        </p:txBody>
      </p:sp>
      <p:sp>
        <p:nvSpPr>
          <p:cNvPr id="82" name="Text 80"/>
          <p:cNvSpPr/>
          <p:nvPr/>
        </p:nvSpPr>
        <p:spPr>
          <a:xfrm>
            <a:off x="6734175" y="7702600"/>
            <a:ext cx="5196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디폴트 + Golden Module 결합, 사용자 프롬프트 맞춤 생성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11715750" y="6309866"/>
            <a:ext cx="285750" cy="2661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84" name="Shape 82"/>
          <p:cNvSpPr/>
          <p:nvPr/>
        </p:nvSpPr>
        <p:spPr>
          <a:xfrm>
            <a:off x="12001500" y="6309866"/>
            <a:ext cx="5086350" cy="2623691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E8E5A">
                <a:alpha val="7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2001500" y="8924032"/>
            <a:ext cx="508635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86" name="Shape 84"/>
          <p:cNvSpPr/>
          <p:nvPr/>
        </p:nvSpPr>
        <p:spPr>
          <a:xfrm>
            <a:off x="12001500" y="6309866"/>
            <a:ext cx="5086350" cy="381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87" name="Shape 85"/>
          <p:cNvSpPr/>
          <p:nvPr/>
        </p:nvSpPr>
        <p:spPr>
          <a:xfrm>
            <a:off x="12001500" y="6309866"/>
            <a:ext cx="9525" cy="2623691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88" name="Shape 86"/>
          <p:cNvSpPr/>
          <p:nvPr/>
        </p:nvSpPr>
        <p:spPr>
          <a:xfrm>
            <a:off x="17078325" y="6309866"/>
            <a:ext cx="9525" cy="2623691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89" name="Shape 87"/>
          <p:cNvSpPr/>
          <p:nvPr/>
        </p:nvSpPr>
        <p:spPr>
          <a:xfrm>
            <a:off x="12182475" y="7340650"/>
            <a:ext cx="266700" cy="26670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0" name="Text 88"/>
          <p:cNvSpPr/>
          <p:nvPr/>
        </p:nvSpPr>
        <p:spPr>
          <a:xfrm>
            <a:off x="12144375" y="7340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25" dirty="0"/>
          </a:p>
        </p:txBody>
      </p:sp>
      <p:sp>
        <p:nvSpPr>
          <p:cNvPr id="91" name="Text 89"/>
          <p:cNvSpPr/>
          <p:nvPr/>
        </p:nvSpPr>
        <p:spPr>
          <a:xfrm>
            <a:off x="12534900" y="7312075"/>
            <a:ext cx="16114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검증 · 산출</a:t>
            </a:r>
            <a:endParaRPr lang="en-US" sz="1725" dirty="0"/>
          </a:p>
        </p:txBody>
      </p:sp>
      <p:sp>
        <p:nvSpPr>
          <p:cNvPr id="92" name="Text 90"/>
          <p:cNvSpPr/>
          <p:nvPr/>
        </p:nvSpPr>
        <p:spPr>
          <a:xfrm>
            <a:off x="12182475" y="7702600"/>
            <a:ext cx="51968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펌웨어 컴파일·정합성 검증 → 아티팩트(C/C++) 산출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1104900" y="9066907"/>
            <a:ext cx="15982950" cy="515243"/>
          </a:xfrm>
          <a:prstGeom prst="roundRect">
            <a:avLst>
              <a:gd name="adj" fmla="val 22184"/>
            </a:avLst>
          </a:prstGeom>
          <a:solidFill>
            <a:srgbClr val="14299F"/>
          </a:solidFill>
          <a:ln/>
        </p:spPr>
      </p:sp>
      <p:sp>
        <p:nvSpPr>
          <p:cNvPr id="94" name="Text 92"/>
          <p:cNvSpPr/>
          <p:nvPr/>
        </p:nvSpPr>
        <p:spPr>
          <a:xfrm>
            <a:off x="1371600" y="9200257"/>
            <a:ext cx="1592903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 </a:t>
            </a:r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14299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회로도·넷리스트 입력 → 검증(통과 시) → 코드 합성·빌드 → C/C++ 펌웨어 산출 · </a:t>
            </a:r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D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실패 시 수정 가이드 루프로 재검토</a:t>
            </a:r>
            <a:endParaRPr lang="en-US" sz="1350" dirty="0"/>
          </a:p>
        </p:txBody>
      </p:sp>
      <p:sp>
        <p:nvSpPr>
          <p:cNvPr id="95" name="Text 93"/>
          <p:cNvSpPr/>
          <p:nvPr/>
        </p:nvSpPr>
        <p:spPr>
          <a:xfrm>
            <a:off x="17117169" y="942975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추진 내용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과제원 역할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9663" y="2005013"/>
            <a:ext cx="2236143" cy="49530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9688" y="2128838"/>
            <a:ext cx="1912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3345805" y="2005013"/>
            <a:ext cx="1916757" cy="49530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7730" y="2128838"/>
            <a:ext cx="15929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5262563" y="2005013"/>
            <a:ext cx="11820525" cy="495300"/>
          </a:xfrm>
          <a:prstGeom prst="rect">
            <a:avLst/>
          </a:prstGeom>
          <a:solidFill>
            <a:srgbClr val="14299F"/>
          </a:solidFill>
          <a:ln w="9525">
            <a:solidFill>
              <a:srgbClr val="1429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2588" y="2128838"/>
            <a:ext cx="117750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09663" y="2500313"/>
            <a:ext cx="2236143" cy="53340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9688" y="2643188"/>
            <a:ext cx="1912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(PM)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45805" y="2500313"/>
            <a:ext cx="1916757" cy="53340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7730" y="2643188"/>
            <a:ext cx="15929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5262563" y="2500313"/>
            <a:ext cx="11820525" cy="53340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2588" y="2643188"/>
            <a:ext cx="117750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기획·총괄, 아키텍처 설계, 프롬프트 작성, AI Agent 작업 지시 및 결과 검증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109663" y="3033713"/>
            <a:ext cx="2236143" cy="53340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9688" y="3176588"/>
            <a:ext cx="1912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A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3345805" y="3033713"/>
            <a:ext cx="1916757" cy="53340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7730" y="3176588"/>
            <a:ext cx="15929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5262563" y="3033713"/>
            <a:ext cx="11820525" cy="53340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2588" y="3176588"/>
            <a:ext cx="117750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 지시 기반 코딩) RAG 파이프라인 구축, 데이터 수집·전처리, 벡터 DB 운영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109663" y="3567113"/>
            <a:ext cx="2236143" cy="533400"/>
          </a:xfrm>
          <a:prstGeom prst="rect">
            <a:avLst/>
          </a:prstGeom>
          <a:solidFill>
            <a:srgbClr val="EEF1FB"/>
          </a:solidFill>
          <a:ln w="9525">
            <a:solidFill>
              <a:srgbClr val="D8DD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9688" y="3709987"/>
            <a:ext cx="19122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B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3345805" y="3567113"/>
            <a:ext cx="1916757" cy="53340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7730" y="3709987"/>
            <a:ext cx="15929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5262563" y="3567113"/>
            <a:ext cx="11820525" cy="533400"/>
          </a:xfrm>
          <a:prstGeom prst="rect">
            <a:avLst/>
          </a:prstGeom>
          <a:ln w="9525">
            <a:solidFill>
              <a:srgbClr val="D8DD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2588" y="3709987"/>
            <a:ext cx="117750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2A2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 지시 기반 코딩) 웹 UI 개발, CubeMX CLI 연동, 빌드 자동화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104900" y="5130254"/>
            <a:ext cx="175812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핵심 기여 </a:t>
            </a:r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사람이 직접 수행한 기획·지시·검증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04900" y="5501729"/>
            <a:ext cx="3895725" cy="1504950"/>
          </a:xfrm>
          <a:prstGeom prst="roundRect">
            <a:avLst>
              <a:gd name="adj" fmla="val 7595"/>
            </a:avLst>
          </a:prstGeom>
          <a:solidFill>
            <a:srgbClr val="F5F7F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4900" y="6997154"/>
            <a:ext cx="3895725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4900" y="5501729"/>
            <a:ext cx="389572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4900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7" name="Shape 35"/>
          <p:cNvSpPr/>
          <p:nvPr/>
        </p:nvSpPr>
        <p:spPr>
          <a:xfrm>
            <a:off x="4991100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8" name="Text 36"/>
          <p:cNvSpPr/>
          <p:nvPr/>
        </p:nvSpPr>
        <p:spPr>
          <a:xfrm>
            <a:off x="1304925" y="5873204"/>
            <a:ext cx="3845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기획 &amp; 아키텍처 설계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304925" y="6206579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분석 → Local LLM 드라이버 자동 구현 파이프라인의 전체 구조 설계 및 작업 지시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133975" y="5501729"/>
            <a:ext cx="3895725" cy="1504950"/>
          </a:xfrm>
          <a:prstGeom prst="roundRect">
            <a:avLst>
              <a:gd name="adj" fmla="val 7595"/>
            </a:avLst>
          </a:prstGeom>
          <a:solidFill>
            <a:srgbClr val="F5F7FC"/>
          </a:solidFill>
          <a:ln/>
        </p:spPr>
      </p:sp>
      <p:sp>
        <p:nvSpPr>
          <p:cNvPr id="41" name="Shape 39"/>
          <p:cNvSpPr/>
          <p:nvPr/>
        </p:nvSpPr>
        <p:spPr>
          <a:xfrm>
            <a:off x="5133975" y="6997154"/>
            <a:ext cx="3895725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2" name="Shape 40"/>
          <p:cNvSpPr/>
          <p:nvPr/>
        </p:nvSpPr>
        <p:spPr>
          <a:xfrm>
            <a:off x="5133975" y="5501729"/>
            <a:ext cx="389572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3" name="Shape 41"/>
          <p:cNvSpPr/>
          <p:nvPr/>
        </p:nvSpPr>
        <p:spPr>
          <a:xfrm>
            <a:off x="5133975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4" name="Shape 42"/>
          <p:cNvSpPr/>
          <p:nvPr/>
        </p:nvSpPr>
        <p:spPr>
          <a:xfrm>
            <a:off x="9020175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5" name="Text 43"/>
          <p:cNvSpPr/>
          <p:nvPr/>
        </p:nvSpPr>
        <p:spPr>
          <a:xfrm>
            <a:off x="5334000" y="5873204"/>
            <a:ext cx="3845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5334000" y="6206579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4용 드라이버 생성 프롬프트·Few-shot 데이터 설계 및 AI Agent 작업 가이드 작성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163050" y="5501729"/>
            <a:ext cx="3895725" cy="1504950"/>
          </a:xfrm>
          <a:prstGeom prst="roundRect">
            <a:avLst>
              <a:gd name="adj" fmla="val 7595"/>
            </a:avLst>
          </a:prstGeom>
          <a:solidFill>
            <a:srgbClr val="F5F7FC"/>
          </a:solidFill>
          <a:ln/>
        </p:spPr>
      </p:sp>
      <p:sp>
        <p:nvSpPr>
          <p:cNvPr id="48" name="Shape 46"/>
          <p:cNvSpPr/>
          <p:nvPr/>
        </p:nvSpPr>
        <p:spPr>
          <a:xfrm>
            <a:off x="9163050" y="6997154"/>
            <a:ext cx="3895725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9" name="Shape 47"/>
          <p:cNvSpPr/>
          <p:nvPr/>
        </p:nvSpPr>
        <p:spPr>
          <a:xfrm>
            <a:off x="9163050" y="5501729"/>
            <a:ext cx="389572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50" name="Shape 48"/>
          <p:cNvSpPr/>
          <p:nvPr/>
        </p:nvSpPr>
        <p:spPr>
          <a:xfrm>
            <a:off x="9163050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049250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2" name="Text 50"/>
          <p:cNvSpPr/>
          <p:nvPr/>
        </p:nvSpPr>
        <p:spPr>
          <a:xfrm>
            <a:off x="9363075" y="5873204"/>
            <a:ext cx="3845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 Module 큐레이션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9363075" y="6206579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Arduino-FOC·MESC·VESC·moteus·ODrive 표준 모듈 선별 및 가공 방향 결정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3192125" y="5501729"/>
            <a:ext cx="3895725" cy="1504950"/>
          </a:xfrm>
          <a:prstGeom prst="roundRect">
            <a:avLst>
              <a:gd name="adj" fmla="val 7595"/>
            </a:avLst>
          </a:prstGeom>
          <a:solidFill>
            <a:srgbClr val="F5F7FC"/>
          </a:solidFill>
          <a:ln/>
        </p:spPr>
      </p:sp>
      <p:sp>
        <p:nvSpPr>
          <p:cNvPr id="55" name="Shape 53"/>
          <p:cNvSpPr/>
          <p:nvPr/>
        </p:nvSpPr>
        <p:spPr>
          <a:xfrm>
            <a:off x="13192125" y="6997154"/>
            <a:ext cx="3895725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6" name="Shape 54"/>
          <p:cNvSpPr/>
          <p:nvPr/>
        </p:nvSpPr>
        <p:spPr>
          <a:xfrm>
            <a:off x="13192125" y="5501729"/>
            <a:ext cx="3895725" cy="381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57" name="Shape 55"/>
          <p:cNvSpPr/>
          <p:nvPr/>
        </p:nvSpPr>
        <p:spPr>
          <a:xfrm>
            <a:off x="13192125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8" name="Shape 56"/>
          <p:cNvSpPr/>
          <p:nvPr/>
        </p:nvSpPr>
        <p:spPr>
          <a:xfrm>
            <a:off x="17078325" y="5501729"/>
            <a:ext cx="9525" cy="1504950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59" name="Text 57"/>
          <p:cNvSpPr/>
          <p:nvPr/>
        </p:nvSpPr>
        <p:spPr>
          <a:xfrm>
            <a:off x="13392150" y="5873204"/>
            <a:ext cx="3845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검증 &amp; 품질 관리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13392150" y="6206579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산출 코드 리뷰, 20자유도 로봇 핸드 등 다자유도 시스템 동작 검증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104900" y="8165009"/>
            <a:ext cx="15982950" cy="1417141"/>
          </a:xfrm>
          <a:prstGeom prst="roundRect">
            <a:avLst>
              <a:gd name="adj" fmla="val 8066"/>
            </a:avLst>
          </a:prstGeom>
          <a:solidFill>
            <a:srgbClr val="EEF1FB"/>
          </a:solidFill>
          <a:ln/>
        </p:spPr>
      </p:sp>
      <p:sp>
        <p:nvSpPr>
          <p:cNvPr id="62" name="Shape 60"/>
          <p:cNvSpPr/>
          <p:nvPr/>
        </p:nvSpPr>
        <p:spPr>
          <a:xfrm>
            <a:off x="1104900" y="9572625"/>
            <a:ext cx="15982950" cy="9525"/>
          </a:xfrm>
          <a:prstGeom prst="rect">
            <a:avLst/>
          </a:prstGeom>
          <a:solidFill>
            <a:srgbClr val="D3DBF2"/>
          </a:solidFill>
          <a:ln/>
        </p:spPr>
      </p:sp>
      <p:sp>
        <p:nvSpPr>
          <p:cNvPr id="63" name="Shape 61"/>
          <p:cNvSpPr/>
          <p:nvPr/>
        </p:nvSpPr>
        <p:spPr>
          <a:xfrm>
            <a:off x="1104900" y="8165009"/>
            <a:ext cx="15982950" cy="9525"/>
          </a:xfrm>
          <a:prstGeom prst="rect">
            <a:avLst/>
          </a:prstGeom>
          <a:solidFill>
            <a:srgbClr val="D3DBF2"/>
          </a:solidFill>
          <a:ln/>
        </p:spPr>
      </p:sp>
      <p:sp>
        <p:nvSpPr>
          <p:cNvPr id="64" name="Shape 62"/>
          <p:cNvSpPr/>
          <p:nvPr/>
        </p:nvSpPr>
        <p:spPr>
          <a:xfrm>
            <a:off x="1104900" y="8165009"/>
            <a:ext cx="47625" cy="1417141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65" name="Shape 63"/>
          <p:cNvSpPr/>
          <p:nvPr/>
        </p:nvSpPr>
        <p:spPr>
          <a:xfrm>
            <a:off x="17078325" y="8165009"/>
            <a:ext cx="9525" cy="1417141"/>
          </a:xfrm>
          <a:prstGeom prst="rect">
            <a:avLst/>
          </a:prstGeom>
          <a:solidFill>
            <a:srgbClr val="D3DBF2"/>
          </a:solidFill>
          <a:ln/>
        </p:spPr>
      </p:sp>
      <p:sp>
        <p:nvSpPr>
          <p:cNvPr id="66" name="Text 64"/>
          <p:cNvSpPr/>
          <p:nvPr/>
        </p:nvSpPr>
        <p:spPr>
          <a:xfrm>
            <a:off x="1419225" y="8345984"/>
            <a:ext cx="158541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사례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419225" y="8746034"/>
            <a:ext cx="1693164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 API 오류 </a:t>
            </a:r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 코드 생성의 HAL API 오류 문제 → “CubeMX CLI + LLM 접착 코드” 3계층 분리 아키텍처로 해결</a:t>
            </a:r>
            <a:endParaRPr lang="en-US" sz="1425" dirty="0"/>
          </a:p>
        </p:txBody>
      </p:sp>
      <p:sp>
        <p:nvSpPr>
          <p:cNvPr id="68" name="Text 66"/>
          <p:cNvSpPr/>
          <p:nvPr/>
        </p:nvSpPr>
        <p:spPr>
          <a:xfrm>
            <a:off x="1419225" y="9111704"/>
            <a:ext cx="1693164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AF 할루시네이션 </a:t>
            </a:r>
            <a:pPr algn="l" indent="0" marL="0">
              <a:lnSpc>
                <a:spcPct val="160000"/>
              </a:lnSpc>
              <a:buNone/>
            </a:pPr>
            <a:r>
              <a:rPr lang="en-US" sz="142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AF 할루시네이션 문제 → CubeMX XML 파싱 기반 규칙 엔진 + RAG 하이브리드 검증으로 정확도 확보</a:t>
            </a:r>
            <a:endParaRPr lang="en-US" sz="1425" dirty="0"/>
          </a:p>
        </p:txBody>
      </p:sp>
      <p:sp>
        <p:nvSpPr>
          <p:cNvPr id="69" name="Text 67"/>
          <p:cNvSpPr/>
          <p:nvPr/>
        </p:nvSpPr>
        <p:spPr>
          <a:xfrm>
            <a:off x="17129224" y="9429750"/>
            <a:ext cx="2443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추진 내용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2-4. 최종 산출물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2019300"/>
            <a:ext cx="4572000" cy="2124075"/>
          </a:xfrm>
          <a:prstGeom prst="roundRect">
            <a:avLst>
              <a:gd name="adj" fmla="val 5381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075" y="2200275"/>
            <a:ext cx="44634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사용자 산출물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62075" y="2590800"/>
            <a:ext cx="4179379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3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검증 JSON 리포트 • 확정 핀 JSON • CubeMX .ioc + HAL 초기화 코드 • Golden Module 통합 펌웨어 ZIP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04900" y="4276725"/>
            <a:ext cx="1460450" cy="781050"/>
          </a:xfrm>
          <a:prstGeom prst="roundRect">
            <a:avLst>
              <a:gd name="adj" fmla="val 12195"/>
            </a:avLst>
          </a:prstGeom>
          <a:solidFill>
            <a:srgbClr val="EEF1FB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8085" y="4400550"/>
            <a:ext cx="13340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8085" y="4552950"/>
            <a:ext cx="13340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 검증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2660600" y="4276725"/>
            <a:ext cx="1460450" cy="781050"/>
          </a:xfrm>
          <a:prstGeom prst="roundRect">
            <a:avLst>
              <a:gd name="adj" fmla="val 12195"/>
            </a:avLst>
          </a:prstGeom>
          <a:solidFill>
            <a:srgbClr val="EEF1FB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3785" y="4400550"/>
            <a:ext cx="13340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6325" y="4552950"/>
            <a:ext cx="12890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CubeMX Base Code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216301" y="4276725"/>
            <a:ext cx="1460450" cy="781050"/>
          </a:xfrm>
          <a:prstGeom prst="roundRect">
            <a:avLst>
              <a:gd name="adj" fmla="val 12195"/>
            </a:avLst>
          </a:prstGeom>
          <a:solidFill>
            <a:srgbClr val="EEF1FB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486" y="4400550"/>
            <a:ext cx="13340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79486" y="4552950"/>
            <a:ext cx="13340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통합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104900" y="5191125"/>
            <a:ext cx="4572000" cy="520452"/>
          </a:xfrm>
          <a:prstGeom prst="roundRect">
            <a:avLst>
              <a:gd name="adj" fmla="val 18301"/>
            </a:avLst>
          </a:prstGeom>
          <a:solidFill>
            <a:srgbClr val="EEF7F1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" y="5702052"/>
            <a:ext cx="45720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4900" y="5191125"/>
            <a:ext cx="4572000" cy="9525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4900" y="5191125"/>
            <a:ext cx="47625" cy="52045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7375" y="5191125"/>
            <a:ext cx="9525" cy="520452"/>
          </a:xfrm>
          <a:prstGeom prst="rect">
            <a:avLst/>
          </a:prstGeom>
          <a:solidFill>
            <a:srgbClr val="C9E6D4"/>
          </a:solidFill>
          <a:ln/>
        </p:spPr>
      </p:sp>
      <p:sp>
        <p:nvSpPr>
          <p:cNvPr id="25" name="Text 23"/>
          <p:cNvSpPr/>
          <p:nvPr/>
        </p:nvSpPr>
        <p:spPr>
          <a:xfrm>
            <a:off x="1362075" y="5334000"/>
            <a:ext cx="4232910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E5E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GUI에서 검증 → 생성 → 빌드 확인까지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E5E3E"/>
                </a:solidFill>
                <a:highlight>
                  <a:srgbClr val="EEF7F1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동작 완료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104900" y="5844927"/>
            <a:ext cx="4572000" cy="2655689"/>
          </a:xfrm>
          <a:prstGeom prst="roundRect">
            <a:avLst>
              <a:gd name="adj" fmla="val 4304"/>
            </a:avLst>
          </a:prstGeom>
          <a:solidFill>
            <a:srgbClr val="000000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1434" r="1434" t="0" b="0"/>
          <a:stretch/>
        </p:blipFill>
        <p:spPr>
          <a:xfrm>
            <a:off x="1114425" y="5854452"/>
            <a:ext cx="4552950" cy="2636639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114425" y="5854452"/>
            <a:ext cx="4552950" cy="2636639"/>
          </a:xfrm>
          <a:prstGeom prst="rect">
            <a:avLst/>
          </a:prstGeom>
          <a:solidFill>
            <a:srgbClr val="14299F">
              <a:alpha val="1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048000" y="6829871"/>
            <a:ext cx="685800" cy="6858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228600" dist="57150" dir="540000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95650" y="7020371"/>
            <a:ext cx="247650" cy="3048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1" name="Shape 28"/>
          <p:cNvSpPr/>
          <p:nvPr/>
        </p:nvSpPr>
        <p:spPr>
          <a:xfrm>
            <a:off x="1228725" y="8167241"/>
            <a:ext cx="2279749" cy="228600"/>
          </a:xfrm>
          <a:prstGeom prst="roundRect">
            <a:avLst>
              <a:gd name="adj" fmla="val 25000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323975" y="8205341"/>
            <a:ext cx="21654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MotorForgeAgent_edited_kr.mp4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76300" y="8633966"/>
            <a:ext cx="5029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영상 · 재생 시 확대해 볼 수 있음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962650" y="2019300"/>
            <a:ext cx="1223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동작 흐름도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962650" y="2390775"/>
            <a:ext cx="11125200" cy="6157466"/>
          </a:xfrm>
          <a:prstGeom prst="roundRect">
            <a:avLst>
              <a:gd name="adj" fmla="val 1856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-846" r="-846" t="0" b="0"/>
          <a:stretch/>
        </p:blipFill>
        <p:spPr>
          <a:xfrm>
            <a:off x="6048375" y="2476500"/>
            <a:ext cx="10953750" cy="5986016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06390" y="8624441"/>
            <a:ext cx="12237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 리뷰 → 핀맵 검증 → CubeMX 코드 생성 → 알고리즘 통합 → CubeIDE 빌드 검증</a:t>
            </a:r>
            <a:endParaRPr lang="en-US" sz="1125" dirty="0"/>
          </a:p>
        </p:txBody>
      </p:sp>
      <p:sp>
        <p:nvSpPr>
          <p:cNvPr id="38" name="Shape 34"/>
          <p:cNvSpPr/>
          <p:nvPr/>
        </p:nvSpPr>
        <p:spPr>
          <a:xfrm>
            <a:off x="1104900" y="9034016"/>
            <a:ext cx="15982950" cy="548134"/>
          </a:xfrm>
          <a:prstGeom prst="roundRect">
            <a:avLst>
              <a:gd name="adj" fmla="val 20853"/>
            </a:avLst>
          </a:prstGeom>
          <a:solidFill>
            <a:srgbClr val="14299F"/>
          </a:solidFill>
          <a:ln/>
        </p:spPr>
      </p:sp>
      <p:sp>
        <p:nvSpPr>
          <p:cNvPr id="39" name="Text 35"/>
          <p:cNvSpPr/>
          <p:nvPr/>
        </p:nvSpPr>
        <p:spPr>
          <a:xfrm>
            <a:off x="1371600" y="9183737"/>
            <a:ext cx="1070372" cy="2866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저장소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2499122" y="9183737"/>
            <a:ext cx="12084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>
                    <a:alpha val="5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2677120" y="9176891"/>
            <a:ext cx="516589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spc="2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https://github.com/younlea/MotorDriveForge</a:t>
            </a:r>
            <a:endParaRPr lang="en-US" sz="1425" dirty="0"/>
          </a:p>
        </p:txBody>
      </p:sp>
      <p:sp>
        <p:nvSpPr>
          <p:cNvPr id="42" name="Text 38"/>
          <p:cNvSpPr/>
          <p:nvPr/>
        </p:nvSpPr>
        <p:spPr>
          <a:xfrm>
            <a:off x="17117169" y="942975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향후 발전 방향 (Value-up)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확장과 데이터·모델 개선을 통한 정확도 향상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104900" y="2038350"/>
            <a:ext cx="5181600" cy="6728966"/>
          </a:xfrm>
          <a:prstGeom prst="roundRect">
            <a:avLst>
              <a:gd name="adj" fmla="val 2574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25" y="2047875"/>
            <a:ext cx="5162550" cy="514350"/>
          </a:xfrm>
          <a:prstGeom prst="rect">
            <a:avLst/>
          </a:prstGeom>
          <a:solidFill>
            <a:srgbClr val="9FB0E0"/>
          </a:solidFill>
          <a:ln/>
        </p:spPr>
      </p:sp>
      <p:sp>
        <p:nvSpPr>
          <p:cNvPr id="10" name="Text 8"/>
          <p:cNvSpPr/>
          <p:nvPr/>
        </p:nvSpPr>
        <p:spPr>
          <a:xfrm>
            <a:off x="1170337" y="2181225"/>
            <a:ext cx="50507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Short-term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14425" y="2562225"/>
            <a:ext cx="5162550" cy="6195566"/>
          </a:xfrm>
          <a:prstGeom prst="rect">
            <a:avLst/>
          </a:prstGeom>
          <a:solidFill>
            <a:srgbClr val="EAEEF8"/>
          </a:solidFill>
          <a:ln/>
        </p:spPr>
      </p:sp>
      <p:sp>
        <p:nvSpPr>
          <p:cNvPr id="12" name="Text 10"/>
          <p:cNvSpPr/>
          <p:nvPr/>
        </p:nvSpPr>
        <p:spPr>
          <a:xfrm>
            <a:off x="1362075" y="2809875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고도화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362075" y="3381375"/>
            <a:ext cx="4667250" cy="1633389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62100" y="3390900"/>
            <a:ext cx="4407218" cy="16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데이터 1,000쌍 구축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62075" y="5129064"/>
            <a:ext cx="4667250" cy="1633389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62100" y="5138589"/>
            <a:ext cx="4407218" cy="16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사례 DB 500건+ 축적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62075" y="6876752"/>
            <a:ext cx="4667250" cy="1633389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62100" y="6886277"/>
            <a:ext cx="4407218" cy="16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검증 규칙 정밀화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96050" y="2038350"/>
            <a:ext cx="5181600" cy="6728966"/>
          </a:xfrm>
          <a:prstGeom prst="roundRect">
            <a:avLst>
              <a:gd name="adj" fmla="val 2574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5575" y="2047875"/>
            <a:ext cx="5162550" cy="514350"/>
          </a:xfrm>
          <a:prstGeom prst="rect">
            <a:avLst/>
          </a:prstGeom>
          <a:solidFill>
            <a:srgbClr val="3A5BD0"/>
          </a:solidFill>
          <a:ln/>
        </p:spPr>
      </p:sp>
      <p:sp>
        <p:nvSpPr>
          <p:cNvPr id="21" name="Text 19"/>
          <p:cNvSpPr/>
          <p:nvPr/>
        </p:nvSpPr>
        <p:spPr>
          <a:xfrm>
            <a:off x="6561487" y="2181225"/>
            <a:ext cx="50507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Mid-term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05575" y="2562225"/>
            <a:ext cx="5162550" cy="6195566"/>
          </a:xfrm>
          <a:prstGeom prst="rect">
            <a:avLst/>
          </a:prstGeom>
          <a:solidFill>
            <a:srgbClr val="EAEEF8"/>
          </a:solidFill>
          <a:ln/>
        </p:spPr>
      </p:sp>
      <p:sp>
        <p:nvSpPr>
          <p:cNvPr id="23" name="Text 21"/>
          <p:cNvSpPr/>
          <p:nvPr/>
        </p:nvSpPr>
        <p:spPr>
          <a:xfrm>
            <a:off x="6753225" y="2809875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커버리지 확대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6753225" y="3381375"/>
            <a:ext cx="4667250" cy="1633389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53250" y="3390900"/>
            <a:ext cx="4407218" cy="16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/ H7 / L4 시리즈 추가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753225" y="5129064"/>
            <a:ext cx="4667250" cy="1633389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53250" y="5138589"/>
            <a:ext cx="4407218" cy="16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페리페럴 규칙 확장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6753225" y="6876752"/>
            <a:ext cx="4667250" cy="1633389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53250" y="6886277"/>
            <a:ext cx="4407218" cy="1652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HAL 골격 표준화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887200" y="2038350"/>
            <a:ext cx="5200650" cy="6728966"/>
          </a:xfrm>
          <a:prstGeom prst="roundRect">
            <a:avLst>
              <a:gd name="adj" fmla="val 2564"/>
            </a:avLst>
          </a:prstGeom>
          <a:solidFill>
            <a:srgbClr val="EEF1FB"/>
          </a:solidFill>
          <a:ln w="19050">
            <a:solidFill>
              <a:srgbClr val="1429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906250" y="2057400"/>
            <a:ext cx="5162550" cy="51435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2" name="Text 30"/>
          <p:cNvSpPr/>
          <p:nvPr/>
        </p:nvSpPr>
        <p:spPr>
          <a:xfrm>
            <a:off x="11962162" y="2190750"/>
            <a:ext cx="50507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Long-term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906250" y="2571750"/>
            <a:ext cx="5162550" cy="6176516"/>
          </a:xfrm>
          <a:prstGeom prst="rect">
            <a:avLst/>
          </a:prstGeom>
          <a:solidFill>
            <a:srgbClr val="EAEEF8"/>
          </a:solidFill>
          <a:ln/>
        </p:spPr>
      </p:sp>
      <p:sp>
        <p:nvSpPr>
          <p:cNvPr id="34" name="Text 32"/>
          <p:cNvSpPr/>
          <p:nvPr/>
        </p:nvSpPr>
        <p:spPr>
          <a:xfrm>
            <a:off x="12153900" y="2819400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→ 회로도 → 코드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12153900" y="3390900"/>
            <a:ext cx="4667250" cy="1626989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B4C2E4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353925" y="3400425"/>
            <a:ext cx="4407218" cy="1646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요구사항 입력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2153900" y="5132189"/>
            <a:ext cx="4667250" cy="1626989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B4C2E4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353925" y="5141714"/>
            <a:ext cx="4407218" cy="1646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KiCad 회로도 자동 생성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153900" y="6873478"/>
            <a:ext cx="4667250" cy="1626989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B4C2E4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2353925" y="6883003"/>
            <a:ext cx="4407218" cy="1646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회로도 + 펌웨어 동시 산출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04900" y="9014966"/>
            <a:ext cx="15982950" cy="567184"/>
          </a:xfrm>
          <a:prstGeom prst="roundRect">
            <a:avLst>
              <a:gd name="adj" fmla="val 20152"/>
            </a:avLst>
          </a:prstGeom>
          <a:solidFill>
            <a:srgbClr val="14299F"/>
          </a:solidFill>
          <a:ln/>
        </p:spPr>
      </p:sp>
      <p:sp>
        <p:nvSpPr>
          <p:cNvPr id="42" name="Text 40"/>
          <p:cNvSpPr/>
          <p:nvPr/>
        </p:nvSpPr>
        <p:spPr>
          <a:xfrm>
            <a:off x="1371600" y="9167366"/>
            <a:ext cx="15929039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개선 루프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highlight>
                  <a:srgbClr val="14299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수정 이력 → Few-shot 자동 전환 → 모델 응답 품질 향상 → 검증 정확도 개선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7117169" y="942975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향후 발전 방향 (Value-up)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3-1. 추가 개선 사항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04900" y="2038350"/>
            <a:ext cx="5213300" cy="7543800"/>
          </a:xfrm>
          <a:prstGeom prst="roundRect">
            <a:avLst>
              <a:gd name="adj" fmla="val 2558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425" y="2047875"/>
            <a:ext cx="5194250" cy="571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10" name="Text 8"/>
          <p:cNvSpPr/>
          <p:nvPr/>
        </p:nvSpPr>
        <p:spPr>
          <a:xfrm>
            <a:off x="1160336" y="2171700"/>
            <a:ext cx="51024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114425" y="2619375"/>
            <a:ext cx="5194250" cy="6953250"/>
          </a:xfrm>
          <a:prstGeom prst="rect">
            <a:avLst/>
          </a:prstGeom>
          <a:solidFill>
            <a:srgbClr val="EAEE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5875" y="2771775"/>
            <a:ext cx="4851350" cy="1590675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38275" y="3286125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438275" y="3600450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기반 → Fine-tuning 1,000쌍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85875" y="4457700"/>
            <a:ext cx="4851350" cy="1590675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38275" y="4972050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커버리지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438275" y="5286375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STM32G4 → STM32 전 시리즈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85875" y="6143625"/>
            <a:ext cx="4851350" cy="1590675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38275" y="6657975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코드 자산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438275" y="6972300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→ 사내 최적화 FOC/PID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285875" y="7829550"/>
            <a:ext cx="4851350" cy="1590675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38275" y="8220075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Vision·OCR 분석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438275" y="8534400"/>
            <a:ext cx="46829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캡처 분석 → 고정확도 OCR 모델 적용·사내 문서 DRM 자동 해지 업로드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89650" y="2038350"/>
            <a:ext cx="5213300" cy="7543800"/>
          </a:xfrm>
          <a:prstGeom prst="roundRect">
            <a:avLst>
              <a:gd name="adj" fmla="val 2558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9175" y="2047875"/>
            <a:ext cx="5194250" cy="571500"/>
          </a:xfrm>
          <a:prstGeom prst="rect">
            <a:avLst/>
          </a:prstGeom>
          <a:solidFill>
            <a:srgbClr val="3A5BD0"/>
          </a:solidFill>
          <a:ln/>
        </p:spPr>
      </p:sp>
      <p:sp>
        <p:nvSpPr>
          <p:cNvPr id="26" name="Text 24"/>
          <p:cNvSpPr/>
          <p:nvPr/>
        </p:nvSpPr>
        <p:spPr>
          <a:xfrm>
            <a:off x="6545087" y="2171700"/>
            <a:ext cx="51024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/ 모델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6499175" y="2619375"/>
            <a:ext cx="5194250" cy="6953250"/>
          </a:xfrm>
          <a:prstGeom prst="rect">
            <a:avLst/>
          </a:prstGeom>
          <a:solidFill>
            <a:srgbClr val="EAEEF8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0625" y="2771775"/>
            <a:ext cx="4851350" cy="215265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23025" y="3595688"/>
            <a:ext cx="50012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6823025" y="3852863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적용 · 도메인 특화 학습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670625" y="5019675"/>
            <a:ext cx="4851350" cy="215265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23025" y="5815013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사례 DB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823025" y="6129338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설계 오류 500건+ 수집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670625" y="7267575"/>
            <a:ext cx="4851350" cy="215265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23025" y="8062913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A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루프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6823025" y="8377238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이력 → Few-shot 자동 전환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1874401" y="2038350"/>
            <a:ext cx="5213300" cy="7543800"/>
          </a:xfrm>
          <a:prstGeom prst="roundRect">
            <a:avLst>
              <a:gd name="adj" fmla="val 2558"/>
            </a:avLst>
          </a:prstGeom>
          <a:solidFill>
            <a:srgbClr val="F5F7FC"/>
          </a:solidFill>
          <a:ln w="9525">
            <a:solidFill>
              <a:srgbClr val="DCE2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883926" y="2047875"/>
            <a:ext cx="5194250" cy="571500"/>
          </a:xfrm>
          <a:prstGeom prst="rect">
            <a:avLst/>
          </a:prstGeom>
          <a:solidFill>
            <a:srgbClr val="6E83D8"/>
          </a:solidFill>
          <a:ln/>
        </p:spPr>
      </p:sp>
      <p:sp>
        <p:nvSpPr>
          <p:cNvPr id="39" name="Text 37"/>
          <p:cNvSpPr/>
          <p:nvPr/>
        </p:nvSpPr>
        <p:spPr>
          <a:xfrm>
            <a:off x="11929837" y="2171700"/>
            <a:ext cx="51024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11883926" y="2619375"/>
            <a:ext cx="5194250" cy="6953250"/>
          </a:xfrm>
          <a:prstGeom prst="rect">
            <a:avLst/>
          </a:prstGeom>
          <a:solidFill>
            <a:srgbClr val="EAEEF8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55376" y="2771775"/>
            <a:ext cx="4851350" cy="1261170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2207776" y="3178522"/>
            <a:ext cx="50012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A6F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2207776" y="3426172"/>
            <a:ext cx="50012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→ React 18 + TypeScript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2055376" y="4118670"/>
            <a:ext cx="4851350" cy="1261170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2207776" y="4473029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A6F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2207776" y="4777829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LDAP/AD SSO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2055376" y="5465564"/>
            <a:ext cx="4851350" cy="1261170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2207776" y="5819924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A6F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멀티모터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2207776" y="6124724"/>
            <a:ext cx="50012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1축 → 2~4축 동시 검증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12055376" y="6812459"/>
            <a:ext cx="4851350" cy="1261170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2207776" y="7190631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A6F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검증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2207776" y="7495431"/>
            <a:ext cx="50012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arm-none-eabi-gcc + QEMU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2055376" y="8159353"/>
            <a:ext cx="4851350" cy="1261170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 w="9525">
            <a:solidFill>
              <a:srgbClr val="C3CEE8"/>
            </a:solidFill>
            <a:prstDash val="solid"/>
          </a:ln>
          <a:effectLst>
            <a:outerShdw sx="100000" sy="100000" kx="0" ky="0" algn="bl" rotWithShape="0" blurRad="38100" dist="9525" dir="5400000">
              <a:srgbClr val="14299F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2207776" y="8537525"/>
            <a:ext cx="5001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A6F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12207776" y="8842325"/>
            <a:ext cx="50012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 → Kubernetes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7117169" y="942975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71450"/>
            <a:ext cx="17774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GenAI PowerUser Level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0" y="7429500"/>
            <a:ext cx="18288000" cy="2857500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4" name="Shape 2"/>
          <p:cNvSpPr/>
          <p:nvPr/>
        </p:nvSpPr>
        <p:spPr>
          <a:xfrm>
            <a:off x="495300" y="438150"/>
            <a:ext cx="17202150" cy="939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78634" y="819150"/>
            <a:ext cx="13249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SAMSUNG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5752" y="800100"/>
            <a:ext cx="17581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향후 발전 방향 (Value-up)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305752" y="1181100"/>
            <a:ext cx="1758124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spc="-75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3-2. 기대 효과 — 종합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305752" y="1981200"/>
            <a:ext cx="1758124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MotorDriveForge </a:t>
            </a:r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임베디드 개발 초기 병목을 줄이는 사내 표준 Design-to-Code 파이프라인입니다.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04900" y="2518321"/>
            <a:ext cx="3881438" cy="6311354"/>
          </a:xfrm>
          <a:prstGeom prst="roundRect">
            <a:avLst>
              <a:gd name="adj" fmla="val 3436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88201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1" name="Shape 9"/>
          <p:cNvSpPr/>
          <p:nvPr/>
        </p:nvSpPr>
        <p:spPr>
          <a:xfrm>
            <a:off x="1104900" y="2518321"/>
            <a:ext cx="3881438" cy="4762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4900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976813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2766" y="2813596"/>
            <a:ext cx="37457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Time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43025" y="3308896"/>
            <a:ext cx="3507343" cy="4625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회로 검증과 초기 코드 구현 기간을 주 단위에서 일 단위로 단축해 프로젝트 전체 리드타임을 크게 줄입니다.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343025" y="8048625"/>
            <a:ext cx="3405188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4822" y="8172450"/>
            <a:ext cx="32215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단위 → 일 단위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38738" y="2518321"/>
            <a:ext cx="3881438" cy="6311354"/>
          </a:xfrm>
          <a:prstGeom prst="roundRect">
            <a:avLst>
              <a:gd name="adj" fmla="val 3436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138738" y="88201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138738" y="2518321"/>
            <a:ext cx="3881438" cy="4762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38738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2" name="Shape 20"/>
          <p:cNvSpPr/>
          <p:nvPr/>
        </p:nvSpPr>
        <p:spPr>
          <a:xfrm>
            <a:off x="9010650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3" name="Text 21"/>
          <p:cNvSpPr/>
          <p:nvPr/>
        </p:nvSpPr>
        <p:spPr>
          <a:xfrm>
            <a:off x="5206603" y="2813596"/>
            <a:ext cx="37457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376863" y="3308896"/>
            <a:ext cx="3507343" cy="4625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규칙과 Golden Module로 개발자별 코드 품질 편차를 줄이고 설계 리뷰 기준을 조직 차원에서 표준화합니다.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5376863" y="8048625"/>
            <a:ext cx="3405188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660" y="8172450"/>
            <a:ext cx="32215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편차 최소화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72575" y="2518321"/>
            <a:ext cx="3881438" cy="6311354"/>
          </a:xfrm>
          <a:prstGeom prst="roundRect">
            <a:avLst>
              <a:gd name="adj" fmla="val 3436"/>
            </a:avLst>
          </a:prstGeom>
          <a:solidFill>
            <a:srgbClr val="F5F7FC"/>
          </a:solidFill>
          <a:ln/>
        </p:spPr>
      </p:sp>
      <p:sp>
        <p:nvSpPr>
          <p:cNvPr id="28" name="Shape 26"/>
          <p:cNvSpPr/>
          <p:nvPr/>
        </p:nvSpPr>
        <p:spPr>
          <a:xfrm>
            <a:off x="9172575" y="88201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29" name="Shape 27"/>
          <p:cNvSpPr/>
          <p:nvPr/>
        </p:nvSpPr>
        <p:spPr>
          <a:xfrm>
            <a:off x="9172575" y="2518321"/>
            <a:ext cx="3881438" cy="4762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72575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044488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2" name="Text 30"/>
          <p:cNvSpPr/>
          <p:nvPr/>
        </p:nvSpPr>
        <p:spPr>
          <a:xfrm>
            <a:off x="9240441" y="2813596"/>
            <a:ext cx="37457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9410700" y="3308896"/>
            <a:ext cx="3507343" cy="4625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DGX Spark·Ollama 기반 폐쇄망 운영으로 핵심 회로 자산과 제어 알고리즘 IP의 외부 유출을 원천 차단합니다.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410700" y="8048625"/>
            <a:ext cx="3405188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2497" y="8172450"/>
            <a:ext cx="32215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100% 로컬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3206413" y="2518321"/>
            <a:ext cx="3881438" cy="6311354"/>
          </a:xfrm>
          <a:prstGeom prst="roundRect">
            <a:avLst>
              <a:gd name="adj" fmla="val 3436"/>
            </a:avLst>
          </a:prstGeom>
          <a:solidFill>
            <a:srgbClr val="F5F7FC"/>
          </a:solidFill>
          <a:ln/>
        </p:spPr>
      </p:sp>
      <p:sp>
        <p:nvSpPr>
          <p:cNvPr id="37" name="Shape 35"/>
          <p:cNvSpPr/>
          <p:nvPr/>
        </p:nvSpPr>
        <p:spPr>
          <a:xfrm>
            <a:off x="13206413" y="8820150"/>
            <a:ext cx="3881438" cy="9525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206413" y="2518321"/>
            <a:ext cx="3881438" cy="47625"/>
          </a:xfrm>
          <a:prstGeom prst="rect">
            <a:avLst/>
          </a:prstGeom>
          <a:solidFill>
            <a:srgbClr val="14299F"/>
          </a:solidFill>
          <a:ln/>
        </p:spPr>
      </p:sp>
      <p:sp>
        <p:nvSpPr>
          <p:cNvPr id="39" name="Shape 37"/>
          <p:cNvSpPr/>
          <p:nvPr/>
        </p:nvSpPr>
        <p:spPr>
          <a:xfrm>
            <a:off x="13206413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7078325" y="2518321"/>
            <a:ext cx="9525" cy="6311354"/>
          </a:xfrm>
          <a:prstGeom prst="rect">
            <a:avLst/>
          </a:prstGeom>
          <a:solidFill>
            <a:srgbClr val="DCE2F0"/>
          </a:solidFill>
          <a:ln/>
        </p:spPr>
      </p:sp>
      <p:sp>
        <p:nvSpPr>
          <p:cNvPr id="41" name="Text 39"/>
          <p:cNvSpPr/>
          <p:nvPr/>
        </p:nvSpPr>
        <p:spPr>
          <a:xfrm>
            <a:off x="13274278" y="2813596"/>
            <a:ext cx="37457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Scalability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3444538" y="3308896"/>
            <a:ext cx="3507343" cy="4625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STM32 전 시리즈 확장과 회로 설계 자동화까지 단계적으로 확장 가능한 구조를 확보합니다.</a:t>
            </a:r>
            <a:endParaRPr lang="en-US" sz="1575" dirty="0"/>
          </a:p>
        </p:txBody>
      </p:sp>
      <p:sp>
        <p:nvSpPr>
          <p:cNvPr id="43" name="Shape 41"/>
          <p:cNvSpPr/>
          <p:nvPr/>
        </p:nvSpPr>
        <p:spPr>
          <a:xfrm>
            <a:off x="13444538" y="8048625"/>
            <a:ext cx="3405188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3DB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6335" y="8172450"/>
            <a:ext cx="32215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9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시리즈 + 회로 자동화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104900" y="9001125"/>
            <a:ext cx="15982950" cy="581025"/>
          </a:xfrm>
          <a:prstGeom prst="roundRect">
            <a:avLst>
              <a:gd name="adj" fmla="val 19672"/>
            </a:avLst>
          </a:prstGeom>
          <a:solidFill>
            <a:srgbClr val="14299F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0" y="9153525"/>
            <a:ext cx="159290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highlight>
                  <a:srgbClr val="14299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개발자도 전문가 수준의 STM32 모터 제어 초기 결과물을 만들 수 있는 환경 구축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7117169" y="9429750"/>
            <a:ext cx="256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BD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2026-07-04T00:38:28Z</dcterms:created>
  <dcterms:modified xsi:type="dcterms:W3CDTF">2026-07-04T00:38:28Z</dcterms:modified>
</cp:coreProperties>
</file>