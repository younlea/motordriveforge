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60320"/>
            <a:ext cx="12188952" cy="2011680"/>
          </a:xfrm>
          <a:prstGeom prst="rect">
            <a:avLst/>
          </a:prstGeom>
          <a:solidFill>
            <a:srgbClr val="2E6D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00584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</a:rPr>
              <a:t>STM32G4 회로도 검증 &amp;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10058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A8D0FF"/>
                </a:solidFill>
              </a:rPr>
              <a:t>펌웨어 자동 생성 Agent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7432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FFFFFF"/>
                </a:solidFill>
              </a:rPr>
              <a:t>개발 계획 · 모델 선택 · 사용 가이드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3832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CCDDFF"/>
                </a:solidFill>
              </a:rPr>
              <a:t>대상 칩 : STM32G4 계열   |   서버 : NVIDIA DGX Spark 128GB   |   2026.04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309360"/>
            <a:ext cx="12188952" cy="548640"/>
          </a:xfrm>
          <a:prstGeom prst="rect">
            <a:avLst/>
          </a:prstGeom>
          <a:solidFill>
            <a:srgbClr val="0F24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63550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9BBFF"/>
                </a:solidFill>
              </a:rPr>
              <a:t>사내 전용 · 외부망 차단 환경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목차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5105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STM32G4 회로도 검증 &amp; 펌웨어 자동 생성 Agent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</a:rPr>
              <a:t>2 / 36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371600"/>
            <a:ext cx="5577840" cy="914400"/>
          </a:xfrm>
          <a:prstGeom prst="rect">
            <a:avLst/>
          </a:prstGeom>
          <a:solidFill>
            <a:srgbClr val="D6E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444752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2E6DB4"/>
                </a:solidFill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1426464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A1A1A"/>
                </a:solidFill>
              </a:rPr>
              <a:t>프로젝트 개요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182880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06060"/>
                </a:solidFill>
              </a:rPr>
              <a:t>무엇을 만드는가, 왜 만드는가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1426464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2E6DB4"/>
                </a:solidFill>
              </a:rPr>
              <a:t>p.3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9360" y="1371600"/>
            <a:ext cx="5577840" cy="914400"/>
          </a:xfrm>
          <a:prstGeom prst="rect">
            <a:avLst/>
          </a:prstGeom>
          <a:solidFill>
            <a:srgbClr val="D0F0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444752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2E6DB4"/>
                </a:solidFill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95160" y="1426464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A1A1A"/>
                </a:solidFill>
              </a:rPr>
              <a:t>전체 아키텍처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95160" y="182880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06060"/>
                </a:solidFill>
              </a:rPr>
              <a:t>3-Step 파이프라인 구성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0" y="1426464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2E6DB4"/>
                </a:solidFill>
              </a:rPr>
              <a:t>p.4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423160"/>
            <a:ext cx="5577840" cy="914400"/>
          </a:xfrm>
          <a:prstGeom prst="rect">
            <a:avLst/>
          </a:prstGeom>
          <a:solidFill>
            <a:srgbClr val="D6E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496312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2E6DB4"/>
                </a:solidFill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" y="2478024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A1A1A"/>
                </a:solidFill>
              </a:rPr>
              <a:t>시스템 구성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" y="288036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06060"/>
                </a:solidFill>
              </a:rPr>
              <a:t>서버, 모델, 도구 스택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46320" y="2478024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2E6DB4"/>
                </a:solidFill>
              </a:rPr>
              <a:t>p.5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09360" y="2423160"/>
            <a:ext cx="5577840" cy="914400"/>
          </a:xfrm>
          <a:prstGeom prst="rect">
            <a:avLst/>
          </a:prstGeom>
          <a:solidFill>
            <a:srgbClr val="D0F0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2496312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2E6DB4"/>
                </a:solidFill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95160" y="2478024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A1A1A"/>
                </a:solidFill>
              </a:rPr>
              <a:t>개발 로드맵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95160" y="288036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06060"/>
                </a:solidFill>
              </a:rPr>
              <a:t>Phase 1~5 타임라인 개요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89920" y="2478024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2E6DB4"/>
                </a:solidFill>
              </a:rPr>
              <a:t>p.6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" y="3474720"/>
            <a:ext cx="5577840" cy="914400"/>
          </a:xfrm>
          <a:prstGeom prst="rect">
            <a:avLst/>
          </a:prstGeom>
          <a:solidFill>
            <a:srgbClr val="D6E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7200" y="3547872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2E6DB4"/>
                </a:solidFill>
              </a:rPr>
              <a:t>05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" y="3529584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A1A1A"/>
                </a:solidFill>
              </a:rPr>
              <a:t>Phase별 개발 상세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" y="393192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06060"/>
                </a:solidFill>
              </a:rPr>
              <a:t>데이터 구축 → 검증 → CubeMX → 통합 → 학습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846320" y="3529584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2E6DB4"/>
                </a:solidFill>
              </a:rPr>
              <a:t>p.7~11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09360" y="3474720"/>
            <a:ext cx="5577840" cy="914400"/>
          </a:xfrm>
          <a:prstGeom prst="rect">
            <a:avLst/>
          </a:prstGeom>
          <a:solidFill>
            <a:srgbClr val="D0F0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0" y="3547872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2E6DB4"/>
                </a:solidFill>
              </a:rPr>
              <a:t>06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95160" y="3529584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A1A1A"/>
                </a:solidFill>
              </a:rPr>
              <a:t>학습 데이터 전략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995160" y="393192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06060"/>
                </a:solidFill>
              </a:rPr>
              <a:t>BLDC 알고리즘 모듈 &amp; 데이터 수집 방법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789920" y="3529584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2E6DB4"/>
                </a:solidFill>
              </a:rPr>
              <a:t>p.12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65760" y="4526279"/>
            <a:ext cx="5577840" cy="914400"/>
          </a:xfrm>
          <a:prstGeom prst="rect">
            <a:avLst/>
          </a:prstGeom>
          <a:solidFill>
            <a:srgbClr val="D6E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7200" y="4599431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2E6DB4"/>
                </a:solidFill>
              </a:rPr>
              <a:t>07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51560" y="4581143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A1A1A"/>
                </a:solidFill>
              </a:rPr>
              <a:t>모델 선택 가이드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51560" y="4983479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06060"/>
                </a:solidFill>
              </a:rPr>
              <a:t>Step별 LLM 선택 기준 &amp; 메모리 배치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846320" y="4581143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2E6DB4"/>
                </a:solidFill>
              </a:rPr>
              <a:t>p.13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309360" y="4526279"/>
            <a:ext cx="5577840" cy="914400"/>
          </a:xfrm>
          <a:prstGeom prst="rect">
            <a:avLst/>
          </a:prstGeom>
          <a:solidFill>
            <a:srgbClr val="D0F0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00800" y="4599431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2E6DB4"/>
                </a:solidFill>
              </a:rPr>
              <a:t>08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995160" y="4581143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A1A1A"/>
                </a:solidFill>
              </a:rPr>
              <a:t>사용 가이드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995160" y="4983479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06060"/>
                </a:solidFill>
              </a:rPr>
              <a:t>회로도 입력 → 검증 → 코드생성 → 통합 → 빌드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789920" y="4581143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2E6DB4"/>
                </a:solidFill>
              </a:rPr>
              <a:t>p.14~18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65760" y="5577840"/>
            <a:ext cx="5577840" cy="914400"/>
          </a:xfrm>
          <a:prstGeom prst="rect">
            <a:avLst/>
          </a:prstGeom>
          <a:solidFill>
            <a:srgbClr val="D6E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" y="5650992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2E6DB4"/>
                </a:solidFill>
              </a:rPr>
              <a:t>09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51560" y="5632703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A1A1A"/>
                </a:solidFill>
              </a:rPr>
              <a:t>기대 효과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51560" y="603504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06060"/>
                </a:solidFill>
              </a:rPr>
              <a:t>정확도, 시간 절감, 확장 계획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846320" y="5632703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2E6DB4"/>
                </a:solidFill>
              </a:rPr>
              <a:t>p.19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프로젝트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4980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FFFFFF"/>
                </a:solidFill>
              </a:rPr>
              <a:t>무엇을 자동화하는가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105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STM32G4 회로도 검증 &amp; 펌웨어 자동 생성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5105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</a:rPr>
              <a:t>3 / 36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2801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E6DB4"/>
                </a:solidFill>
              </a:rPr>
              <a:t>문제 정의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691640"/>
            <a:ext cx="5394960" cy="438912"/>
          </a:xfrm>
          <a:prstGeom prst="rect">
            <a:avLst/>
          </a:prstGeom>
          <a:solidFill>
            <a:srgbClr val="FFF0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709928"/>
            <a:ext cx="51206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</a:rPr>
              <a:t>▶  HW 엔지니어가 회로도 설계 후 FW 개발자에게 핀맵 전달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194560"/>
            <a:ext cx="5394960" cy="438912"/>
          </a:xfrm>
          <a:prstGeom prst="rect">
            <a:avLst/>
          </a:prstGeom>
          <a:solidFill>
            <a:srgbClr val="FFF0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12848"/>
            <a:ext cx="51206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</a:rPr>
              <a:t>▶  FW 개발자가 STM32G4 AF 스펙 수동 확인 → 오류 발생 빈번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697480"/>
            <a:ext cx="5394960" cy="438912"/>
          </a:xfrm>
          <a:prstGeom prst="rect">
            <a:avLst/>
          </a:prstGeom>
          <a:solidFill>
            <a:srgbClr val="FFF0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2715768"/>
            <a:ext cx="51206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</a:rPr>
              <a:t>▶  HAL 초기화 코드 수작업 작성 → 반복 공수 낭비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3200400"/>
            <a:ext cx="5394960" cy="438912"/>
          </a:xfrm>
          <a:prstGeom prst="rect">
            <a:avLst/>
          </a:prstGeom>
          <a:solidFill>
            <a:srgbClr val="FFF0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3218688"/>
            <a:ext cx="51206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</a:rPr>
              <a:t>▶  모터 제어 알고리즘(FOC/전류제어) 통합 코드 매번 재작성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12801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07C10"/>
                </a:solidFill>
              </a:rPr>
              <a:t>해결 방안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17920" y="1691640"/>
            <a:ext cx="5577840" cy="594360"/>
          </a:xfrm>
          <a:prstGeom prst="rect">
            <a:avLst/>
          </a:prstGeom>
          <a:solidFill>
            <a:srgbClr val="D9F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17920" y="1691640"/>
            <a:ext cx="1005840" cy="594360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36208" y="1783080"/>
            <a:ext cx="960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Step 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0" y="1728216"/>
            <a:ext cx="4297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07C10"/>
                </a:solidFill>
              </a:rPr>
              <a:t>HW 설계 검증 Agent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0" y="1993392"/>
            <a:ext cx="4297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606060"/>
                </a:solidFill>
              </a:rPr>
              <a:t>3계층 검증 (인프라/모터논리/페리페럴) → 리포트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17920" y="2377440"/>
            <a:ext cx="5577840" cy="594360"/>
          </a:xfrm>
          <a:prstGeom prst="rect">
            <a:avLst/>
          </a:prstGeom>
          <a:solidFill>
            <a:srgbClr val="D9F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17920" y="2377440"/>
            <a:ext cx="1005840" cy="594360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36208" y="2468880"/>
            <a:ext cx="960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Step 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0" y="2414016"/>
            <a:ext cx="4297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07C10"/>
                </a:solidFill>
              </a:rPr>
              <a:t>CubeMX 자동화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0" y="2679192"/>
            <a:ext cx="4297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606060"/>
                </a:solidFill>
              </a:rPr>
              <a:t>.ioc 수정 → CubeMX CLI → 스니펫 주입 → ZIP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17920" y="3063240"/>
            <a:ext cx="5577840" cy="594360"/>
          </a:xfrm>
          <a:prstGeom prst="rect">
            <a:avLst/>
          </a:prstGeom>
          <a:solidFill>
            <a:srgbClr val="D9F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217920" y="3063240"/>
            <a:ext cx="1005840" cy="594360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36208" y="3154680"/>
            <a:ext cx="960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Step 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0" y="3099816"/>
            <a:ext cx="4297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07C10"/>
                </a:solidFill>
              </a:rPr>
              <a:t>알고리즘 통합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0" y="3364992"/>
            <a:ext cx="4297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606060"/>
                </a:solidFill>
              </a:rPr>
              <a:t>오픈소스 FOC 코드를 USER CODE 영역에 자동 삽입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65760" y="3794760"/>
            <a:ext cx="11430000" cy="64008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8640" y="3858768"/>
            <a:ext cx="11064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💡  핵심 원칙 : LLM은 HAL API를 직접 생성하지 않는다.  CubeMX가 보장하는 정확한 코드 위에 알고리즘 레이어만 조립.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457200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E6DB4"/>
                </a:solidFill>
              </a:rPr>
              <a:t>기대 효과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4956048"/>
            <a:ext cx="2148840" cy="594360"/>
          </a:xfrm>
          <a:prstGeom prst="rect">
            <a:avLst/>
          </a:prstGeom>
          <a:solidFill>
            <a:srgbClr val="D6E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38912" y="4974336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2E6DB4"/>
                </a:solidFill>
              </a:rPr>
              <a:t>핀 오류 사전 차단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651760" y="4956048"/>
            <a:ext cx="2148840" cy="594360"/>
          </a:xfrm>
          <a:prstGeom prst="rect">
            <a:avLst/>
          </a:prstGeom>
          <a:solidFill>
            <a:srgbClr val="D6E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724912" y="4974336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2E6DB4"/>
                </a:solidFill>
              </a:rPr>
              <a:t>HAL 코드 생성
90% 단축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937760" y="4956048"/>
            <a:ext cx="2148840" cy="594360"/>
          </a:xfrm>
          <a:prstGeom prst="rect">
            <a:avLst/>
          </a:prstGeom>
          <a:solidFill>
            <a:srgbClr val="D6E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010912" y="4974336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2E6DB4"/>
                </a:solidFill>
              </a:rPr>
              <a:t>알고리즘 통합
자동화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223760" y="4956048"/>
            <a:ext cx="2148840" cy="594360"/>
          </a:xfrm>
          <a:prstGeom prst="rect">
            <a:avLst/>
          </a:prstGeom>
          <a:solidFill>
            <a:srgbClr val="D6E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296912" y="4974336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2E6DB4"/>
                </a:solidFill>
              </a:rPr>
              <a:t>멀티모터
2~4개 지원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509760" y="4956048"/>
            <a:ext cx="2148840" cy="594360"/>
          </a:xfrm>
          <a:prstGeom prst="rect">
            <a:avLst/>
          </a:prstGeom>
          <a:solidFill>
            <a:srgbClr val="D6E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582912" y="4974336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2E6DB4"/>
                </a:solidFill>
              </a:rPr>
              <a:t>사내 스타일
일관성 유지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전체 아키텍처 — 3-Step 파이프라인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5105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STM32G4 회로도 검증 &amp; 펌웨어 자동 생성 Agent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</a:rPr>
              <a:t>4 / 36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234440"/>
            <a:ext cx="3566160" cy="438912"/>
          </a:xfrm>
          <a:prstGeom prst="rect">
            <a:avLst/>
          </a:prstGeom>
          <a:solidFill>
            <a:srgbClr val="2E6D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7472" y="1252728"/>
            <a:ext cx="822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STEP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1280160"/>
            <a:ext cx="2514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HW 설계 검증 Agent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1691640"/>
            <a:ext cx="3566160" cy="2514600"/>
          </a:xfrm>
          <a:prstGeom prst="rect">
            <a:avLst/>
          </a:prstGeom>
          <a:solidFill>
            <a:srgbClr val="D6E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1737360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2E6DB4"/>
                </a:solidFill>
              </a:rPr>
              <a:t>입력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2011680"/>
            <a:ext cx="3246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• 회로도 입력
(CSV + 자연어)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" y="2423160"/>
            <a:ext cx="3246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• CubeMX XML 핀 DB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" y="2834640"/>
            <a:ext cx="3246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• 3계층 규칙 엔진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" y="3246120"/>
            <a:ext cx="3246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• STM32G4 RAG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4233672"/>
            <a:ext cx="3566160" cy="502920"/>
          </a:xfrm>
          <a:prstGeom prst="rect">
            <a:avLst/>
          </a:prstGeom>
          <a:solidFill>
            <a:srgbClr val="2E6D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7472" y="4261104"/>
            <a:ext cx="3429000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모델 : Gemma 4 31B Dense
(~20GB)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4773168"/>
            <a:ext cx="3566160" cy="566928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7472" y="4828032"/>
            <a:ext cx="34290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</a:rPr>
              <a:t>출력 : 검증 완료
핀 JSON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33672" y="1234440"/>
            <a:ext cx="3566160" cy="438912"/>
          </a:xfrm>
          <a:prstGeom prst="rect">
            <a:avLst/>
          </a:prstGeom>
          <a:solidFill>
            <a:srgbClr val="007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06824" y="1252728"/>
            <a:ext cx="822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STEP 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93792" y="1280160"/>
            <a:ext cx="2514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CubeMX 자동화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33672" y="1691640"/>
            <a:ext cx="3566160" cy="2514600"/>
          </a:xfrm>
          <a:prstGeom prst="rect">
            <a:avLst/>
          </a:prstGeom>
          <a:solidFill>
            <a:srgbClr val="D0F0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25112" y="1737360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007A8A"/>
                </a:solidFill>
              </a:rPr>
              <a:t>입력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98264" y="2011680"/>
            <a:ext cx="3246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• .ioc 파일 자동 생성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98264" y="2423160"/>
            <a:ext cx="3246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• CubeMX CLI 실행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98264" y="2834640"/>
            <a:ext cx="3246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• HAL 코드 출력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233672" y="4233672"/>
            <a:ext cx="3566160" cy="502920"/>
          </a:xfrm>
          <a:prstGeom prst="rect">
            <a:avLst/>
          </a:prstGeom>
          <a:solidFill>
            <a:srgbClr val="007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306824" y="4261104"/>
            <a:ext cx="3429000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모델 : LLM 불필요
(결정론적 처리)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33672" y="4773168"/>
            <a:ext cx="3566160" cy="566928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306824" y="4828032"/>
            <a:ext cx="34290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</a:rPr>
              <a:t>출력 : HAL 초기화 코드
(main.c, tim.c ...)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193024" y="1234440"/>
            <a:ext cx="3566160" cy="438912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66176" y="1252728"/>
            <a:ext cx="822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STEP 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53144" y="1280160"/>
            <a:ext cx="2514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알고리즘 통합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193024" y="1691640"/>
            <a:ext cx="3566160" cy="2514600"/>
          </a:xfrm>
          <a:prstGeom prst="rect">
            <a:avLst/>
          </a:prstGeom>
          <a:solidFill>
            <a:srgbClr val="D9F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84464" y="1737360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07C10"/>
                </a:solidFill>
              </a:rPr>
              <a:t>입력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57616" y="2011680"/>
            <a:ext cx="3246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• Golden Module RAG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57616" y="2423160"/>
            <a:ext cx="3246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• USER CODE 삽입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57616" y="2834640"/>
            <a:ext cx="3246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• 모듈 간 연결 코드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193024" y="4233672"/>
            <a:ext cx="3566160" cy="502920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266176" y="4261104"/>
            <a:ext cx="3429000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모델 : Gemma 4 26B MoE
(~22GB)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193024" y="4773168"/>
            <a:ext cx="3566160" cy="566928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266176" y="4828032"/>
            <a:ext cx="34290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</a:rPr>
              <a:t>출력 : 완성 펌웨어
(motor_foc.c ...)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874519" y="5340096"/>
            <a:ext cx="457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B3A6B"/>
                </a:solidFill>
              </a:rPr>
              <a:t>↓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14400" y="5687568"/>
            <a:ext cx="2377440" cy="475488"/>
          </a:xfrm>
          <a:prstGeom prst="rect">
            <a:avLst/>
          </a:prstGeom>
          <a:solidFill>
            <a:srgbClr val="FFF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14400" y="5687568"/>
            <a:ext cx="2377440" cy="475488"/>
          </a:xfrm>
          <a:prstGeom prst="rect">
            <a:avLst/>
          </a:prstGeom>
          <a:noFill/>
          <a:ln w="25400">
            <a:solidFill>
              <a:srgbClr val="E66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87552" y="5724144"/>
            <a:ext cx="223113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E66C00"/>
                </a:solidFill>
              </a:rPr>
              <a:t>🔒 검증 게이트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87552" y="5916168"/>
            <a:ext cx="223113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1A1A1A"/>
                </a:solidFill>
              </a:rPr>
              <a:t>errors[ ] == 0 ?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10128" y="58064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07C10"/>
                </a:solidFill>
              </a:rPr>
              <a:t>PASS ▶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43000" y="6172200"/>
            <a:ext cx="777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C0392B"/>
                </a:solidFill>
              </a:rPr>
              <a:t>FAIL ↓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74320" y="6446520"/>
            <a:ext cx="2743200" cy="320040"/>
          </a:xfrm>
          <a:prstGeom prst="rect">
            <a:avLst/>
          </a:prstGeom>
          <a:solidFill>
            <a:srgbClr val="FF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274320" y="6446520"/>
            <a:ext cx="2743200" cy="320040"/>
          </a:xfrm>
          <a:prstGeom prst="rect">
            <a:avLst/>
          </a:prstGeom>
          <a:noFill/>
          <a:ln w="1905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20040" y="6464808"/>
            <a:ext cx="2697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C0392B"/>
                </a:solidFill>
              </a:rPr>
              <a:t>❌ 진행 차단 — 오류 리포트 반환 → 회로도 수정 후 재실행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867912" y="2926080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1B3A6B"/>
                </a:solidFill>
              </a:rPr>
              <a:t>▶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291840" y="5687568"/>
            <a:ext cx="8595360" cy="804672"/>
          </a:xfrm>
          <a:prstGeom prst="rect">
            <a:avLst/>
          </a:prstGeom>
          <a:solidFill>
            <a:srgbClr val="FFF0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429000" y="5715000"/>
            <a:ext cx="8321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E66C00"/>
                </a:solidFill>
              </a:rPr>
              <a:t>※  Step 2 · Step 3는 Step 1 검증 PASS 시에만 실행됩니다.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429000" y="6007608"/>
            <a:ext cx="8321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Step 2는 LLM 없이 동작.  Step 1 · 3 모델 합산 ~42GB → DGX Spark 128GB 내 동시 상주 가능 (큰 여유)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시스템 구성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4980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FFFFFF"/>
                </a:solidFill>
              </a:rPr>
              <a:t>서버 · 모델 · 도구 스택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105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STM32G4 회로도 검증 &amp; 펌웨어 자동 생성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5105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</a:rPr>
              <a:t>5 / 36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280160"/>
            <a:ext cx="5303520" cy="2377440"/>
          </a:xfrm>
          <a:prstGeom prst="rect">
            <a:avLst/>
          </a:prstGeom>
          <a:solidFill>
            <a:srgbClr val="D6E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0040" y="1280160"/>
            <a:ext cx="5303520" cy="384048"/>
          </a:xfrm>
          <a:prstGeom prst="rect">
            <a:avLst/>
          </a:prstGeom>
          <a:solidFill>
            <a:srgbClr val="2E6D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316736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AI 서버 — NVIDIA DGX Spark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737360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</a:rPr>
              <a:t>• 칩셋 : GB10 Grace Blackwell Superchip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103120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</a:rPr>
              <a:t>• 메모리 : 128GB LPDDR5X (CPU+GPU Unified)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2468880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</a:rPr>
              <a:t>• AI 성능 : ~1 PFLOPS (FP4)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2834640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</a:rPr>
              <a:t>• OS : Ubuntu (로컬, 외부망 차단)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200400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</a:rPr>
              <a:t>• 확장 : 2대 NVLink → 256GB (405B 모델 가능)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89320" y="1280160"/>
            <a:ext cx="5852160" cy="2377440"/>
          </a:xfrm>
          <a:prstGeom prst="rect">
            <a:avLst/>
          </a:prstGeom>
          <a:solidFill>
            <a:srgbClr val="D9F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989320" y="1280160"/>
            <a:ext cx="5852160" cy="384048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26480" y="1316736"/>
            <a:ext cx="5577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LLM 모델 (Ollama 로컬 실행)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26480" y="1755648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07C10"/>
                </a:solidFill>
              </a:rPr>
              <a:t>Step 1 — 검증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8120" y="1755648"/>
            <a:ext cx="3840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Gemma 4 31B Dense (Q4_K_M, ~20GB)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26480" y="2139696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07C10"/>
                </a:solidFill>
              </a:rPr>
              <a:t>Step 3 — 통합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18120" y="2139696"/>
            <a:ext cx="3840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Gemma 4 26B MoE (Q8, ~22GB, Active ~4B)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6480" y="2523744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07C10"/>
                </a:solidFill>
              </a:rPr>
              <a:t>임베딩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18120" y="2523744"/>
            <a:ext cx="3840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BAAI/bge-m3 (한국어+영어 지원)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26480" y="2907791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07C10"/>
                </a:solidFill>
              </a:rPr>
              <a:t>동시 로드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18120" y="2907791"/>
            <a:ext cx="3840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~42GB 합산 → 128GB 내 큰 여유 ✓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20040" y="3749039"/>
            <a:ext cx="11521440" cy="38404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7200" y="3785615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도구 스택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20040" y="4160520"/>
            <a:ext cx="1152144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4187952"/>
            <a:ext cx="1920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B3A6B"/>
                </a:solidFill>
              </a:rPr>
              <a:t>RAG 프레임워크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468880" y="4187952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2E6DB4"/>
                </a:solidFill>
              </a:rPr>
              <a:t>LlamaIndex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92040" y="4187952"/>
            <a:ext cx="6675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06060"/>
                </a:solidFill>
              </a:rPr>
              <a:t>문서 파이프라인, RAG 파이프라인 구성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20040" y="4498848"/>
            <a:ext cx="11521440" cy="3383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7200" y="4526280"/>
            <a:ext cx="1920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B3A6B"/>
                </a:solidFill>
              </a:rPr>
              <a:t>벡터 DB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468880" y="4526280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2E6DB4"/>
                </a:solidFill>
              </a:rPr>
              <a:t>Qdrant (Docker)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92040" y="4526280"/>
            <a:ext cx="6675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06060"/>
                </a:solidFill>
              </a:rPr>
              <a:t>메타데이터 필터링 — 칩/모듈 종류별 필터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20040" y="4837176"/>
            <a:ext cx="1152144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7200" y="4864608"/>
            <a:ext cx="1920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B3A6B"/>
                </a:solidFill>
              </a:rPr>
              <a:t>HAL 코드 생성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468880" y="4864608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2E6DB4"/>
                </a:solidFill>
              </a:rPr>
              <a:t>STM32CubeMX CLI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892040" y="4864608"/>
            <a:ext cx="6675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06060"/>
                </a:solidFill>
              </a:rPr>
              <a:t>핀 JSON → .ioc → HAL 코드 결정론적 생성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20040" y="5175504"/>
            <a:ext cx="11521440" cy="3383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5202936"/>
            <a:ext cx="1920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B3A6B"/>
                </a:solidFill>
              </a:rPr>
              <a:t>API 서버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468880" y="5202936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2E6DB4"/>
                </a:solidFill>
              </a:rPr>
              <a:t>FastAPI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892040" y="5202936"/>
            <a:ext cx="6675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06060"/>
                </a:solidFill>
              </a:rPr>
              <a:t>사내 서비스 연동 엔드포인트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20040" y="5513831"/>
            <a:ext cx="1152144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57200" y="5541264"/>
            <a:ext cx="1920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B3A6B"/>
                </a:solidFill>
              </a:rPr>
              <a:t>UI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468880" y="5541264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2E6DB4"/>
                </a:solidFill>
              </a:rPr>
              <a:t>Streamlit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92040" y="5541264"/>
            <a:ext cx="6675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06060"/>
                </a:solidFill>
              </a:rPr>
              <a:t>3-Step 진행 화면, 검증 리포트 표시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20040" y="5852160"/>
            <a:ext cx="11521440" cy="3383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57200" y="5879592"/>
            <a:ext cx="1920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B3A6B"/>
                </a:solidFill>
              </a:rPr>
              <a:t>컴파일 검증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468880" y="5879592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2E6DB4"/>
                </a:solidFill>
              </a:rPr>
              <a:t>arm-none-eabi-gcc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892040" y="5879592"/>
            <a:ext cx="6675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06060"/>
                </a:solidFill>
              </a:rPr>
              <a:t>생성 코드 자동 빌드 테스트 CI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개발 로드맵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4980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FFFFFF"/>
                </a:solidFill>
              </a:rPr>
              <a:t>Phase 1~5 타임라인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105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STM32G4 회로도 검증 &amp; 펌웨어 자동 생성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5105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</a:rPr>
              <a:t>6 / 36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280160"/>
            <a:ext cx="2221992" cy="384048"/>
          </a:xfrm>
          <a:prstGeom prst="rect">
            <a:avLst/>
          </a:prstGeom>
          <a:solidFill>
            <a:srgbClr val="2E6D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298448"/>
            <a:ext cx="213055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Phase 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1673352"/>
            <a:ext cx="2221992" cy="658368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1691640"/>
            <a:ext cx="2130552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1" i="0">
                <a:solidFill>
                  <a:srgbClr val="2E6DB4"/>
                </a:solidFill>
              </a:rPr>
              <a:t>데이터 기반 구축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350008"/>
            <a:ext cx="2221992" cy="292608"/>
          </a:xfrm>
          <a:prstGeom prst="rect">
            <a:avLst/>
          </a:prstGeom>
          <a:solidFill>
            <a:srgbClr val="2E6D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2368296"/>
            <a:ext cx="21305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4~6주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2670048"/>
            <a:ext cx="2221992" cy="1499616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2724912"/>
            <a:ext cx="208483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• CubeMX DB 파싱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3163824"/>
            <a:ext cx="208483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• Golden Module 등록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3602736"/>
            <a:ext cx="208483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• 오픈소스 FOC 코드 가공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24912" y="1280160"/>
            <a:ext cx="2221992" cy="384048"/>
          </a:xfrm>
          <a:prstGeom prst="rect">
            <a:avLst/>
          </a:prstGeom>
          <a:solidFill>
            <a:srgbClr val="007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70632" y="1298448"/>
            <a:ext cx="213055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Phase 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24912" y="1673352"/>
            <a:ext cx="2221992" cy="658368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770632" y="1691640"/>
            <a:ext cx="2130552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1" i="0">
                <a:solidFill>
                  <a:srgbClr val="007A8A"/>
                </a:solidFill>
              </a:rPr>
              <a:t>Step 1
HW 검증 Agent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24912" y="2350008"/>
            <a:ext cx="2221992" cy="292608"/>
          </a:xfrm>
          <a:prstGeom prst="rect">
            <a:avLst/>
          </a:prstGeom>
          <a:solidFill>
            <a:srgbClr val="007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770632" y="2368296"/>
            <a:ext cx="21305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3~4주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24912" y="2670048"/>
            <a:ext cx="2221992" cy="1499616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816352" y="2724912"/>
            <a:ext cx="208483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• 3계층 규칙 엔진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816352" y="3163824"/>
            <a:ext cx="208483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• RAG 구성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816352" y="3602736"/>
            <a:ext cx="208483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• Gemma 4 31B 연결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38344" y="1280160"/>
            <a:ext cx="2221992" cy="384048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84064" y="1298448"/>
            <a:ext cx="213055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Phase 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38344" y="1673352"/>
            <a:ext cx="2221992" cy="658368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84064" y="1691640"/>
            <a:ext cx="2130552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1" i="0">
                <a:solidFill>
                  <a:srgbClr val="107C10"/>
                </a:solidFill>
              </a:rPr>
              <a:t>Step 2
CubeMX 자동화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38344" y="2350008"/>
            <a:ext cx="2221992" cy="292608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84064" y="2368296"/>
            <a:ext cx="21305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2~3주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038344" y="2670048"/>
            <a:ext cx="2221992" cy="1499616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129783" y="2724912"/>
            <a:ext cx="208483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• .ioc 템플릿 수정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29783" y="3163824"/>
            <a:ext cx="208483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• CubeMX CLI 연동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129783" y="3602736"/>
            <a:ext cx="208483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• 스니펫 주입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351775" y="1280160"/>
            <a:ext cx="2221992" cy="384048"/>
          </a:xfrm>
          <a:prstGeom prst="rect">
            <a:avLst/>
          </a:prstGeom>
          <a:solidFill>
            <a:srgbClr val="E6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397496" y="1298448"/>
            <a:ext cx="213055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Phase 4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351775" y="1673352"/>
            <a:ext cx="2221992" cy="658368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397496" y="1691640"/>
            <a:ext cx="2130552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1" i="0">
                <a:solidFill>
                  <a:srgbClr val="E66C00"/>
                </a:solidFill>
              </a:rPr>
              <a:t>Step 3
통합 Agent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351775" y="2350008"/>
            <a:ext cx="2221992" cy="292608"/>
          </a:xfrm>
          <a:prstGeom prst="rect">
            <a:avLst/>
          </a:prstGeom>
          <a:solidFill>
            <a:srgbClr val="E6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397496" y="2368296"/>
            <a:ext cx="21305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4~6주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351775" y="2670048"/>
            <a:ext cx="2221992" cy="1499616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443215" y="2724912"/>
            <a:ext cx="208483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• Golden Module RAG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443215" y="3163824"/>
            <a:ext cx="208483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• Gemma 4 26B MoE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443215" y="3602736"/>
            <a:ext cx="208483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• USER CODE 삽입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665207" y="1280160"/>
            <a:ext cx="2221992" cy="384048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710928" y="1298448"/>
            <a:ext cx="213055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Phase 5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665207" y="1673352"/>
            <a:ext cx="2221992" cy="658368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710928" y="1691640"/>
            <a:ext cx="2130552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1" i="0">
                <a:solidFill>
                  <a:srgbClr val="C0392B"/>
                </a:solidFill>
              </a:rPr>
              <a:t>Fine-tuning
(선택)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665207" y="2350008"/>
            <a:ext cx="2221992" cy="292608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710928" y="2368296"/>
            <a:ext cx="21305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8~12주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665207" y="2670048"/>
            <a:ext cx="2221992" cy="1499616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756647" y="2724912"/>
            <a:ext cx="208483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• 학습 데이터 300개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756647" y="3163824"/>
            <a:ext cx="208483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• QLoRA 파인튜닝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756647" y="3602736"/>
            <a:ext cx="208483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• 성능 평가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615184" y="1719072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B3A6B"/>
                </a:solidFill>
              </a:rPr>
              <a:t>▶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928616" y="1719072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B3A6B"/>
                </a:solidFill>
              </a:rPr>
              <a:t>▶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242047" y="1719072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B3A6B"/>
                </a:solidFill>
              </a:rPr>
              <a:t>▶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555480" y="1719072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B3A6B"/>
                </a:solidFill>
              </a:rPr>
              <a:t>▶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11480" y="5212080"/>
            <a:ext cx="11338560" cy="502920"/>
          </a:xfrm>
          <a:prstGeom prst="rect">
            <a:avLst/>
          </a:prstGeom>
          <a:solidFill>
            <a:srgbClr val="D6E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48640" y="5257800"/>
            <a:ext cx="11064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B3A6B"/>
                </a:solidFill>
              </a:rPr>
              <a:t>MVP 목표 : Phase 1~3 완료 시 기본 동작 가능 (핀 검증 + CubeMX 코드 생성)  |  Phase 4 완료 시 알고리즘 통합까지 풀 파이프라인  |  Phase 5는 데이터 축적 후 진행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Phase 1 — 데이터 기반 구축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4980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FFFFFF"/>
                </a:solidFill>
              </a:rPr>
              <a:t>기간: 4~6주  |  LLM 없이 진행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105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STM32G4 회로도 검증 &amp; 펌웨어 자동 생성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5105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</a:rPr>
              <a:t>7 / 36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234440"/>
            <a:ext cx="1645920" cy="320040"/>
          </a:xfrm>
          <a:prstGeom prst="rect">
            <a:avLst/>
          </a:prstGeom>
          <a:solidFill>
            <a:srgbClr val="2E6D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1252728"/>
            <a:ext cx="1554480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Phase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69164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E6DB4"/>
                </a:solidFill>
              </a:rPr>
              <a:t>① ST 공식 문서 수집 (✅ 14건 완료)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084831"/>
            <a:ext cx="5486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</a:rPr>
              <a:t>    📌 rm0440 레퍼런스 매뉴얼 (39MB)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432303"/>
            <a:ext cx="5486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</a:rPr>
              <a:t>    ▸ stm32g474re 데이터시트 + AN5306 OPAMP + AN5346 ADC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2779776"/>
            <a:ext cx="5486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</a:rPr>
              <a:t>    ▸ AN5348 FDCAN + AN3070 RS-485 + AN5031 HW가이드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3127248"/>
            <a:ext cx="5486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</a:rPr>
              <a:t>    ▸ EVSPIN32G4-DUAL 회로도/매뉴얼/BOM/제조데이터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3474720"/>
            <a:ext cx="5486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</a:rPr>
              <a:t>    ▸ um3027/um3016 MCSDK Workbench/Profiler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388620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E6DB4"/>
                </a:solidFill>
              </a:rPr>
              <a:t>② 오픈소스 프로젝트 (8개 등록)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4279392"/>
            <a:ext cx="5486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07C10"/>
                </a:solidFill>
              </a:rPr>
              <a:t>    ✅ flatmcu (73파일) — KiCad 회로도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4626864"/>
            <a:ext cx="5486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07C10"/>
                </a:solidFill>
              </a:rPr>
              <a:t>    ✅ STM32CubeG4 (3,063파일) — HAL 예제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4974336"/>
            <a:ext cx="5486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66C00"/>
                </a:solidFill>
              </a:rPr>
              <a:t>    ⬜ Arduino-FOC / stm32-esc / moteus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5321808"/>
            <a:ext cx="5486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66C00"/>
                </a:solidFill>
              </a:rPr>
              <a:t>    ⬜ MESC / VESC / ODrive (submodule 미초기화)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17920" y="169164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66C00"/>
                </a:solidFill>
              </a:rPr>
              <a:t>③ Golden Module (작성 현황)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17920" y="2084831"/>
            <a:ext cx="5486400" cy="475488"/>
          </a:xfrm>
          <a:prstGeom prst="rect">
            <a:avLst/>
          </a:prstGeom>
          <a:solidFill>
            <a:srgbClr val="D9F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55080" y="2103120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07C10"/>
                </a:solidFill>
              </a:rPr>
              <a:t>✅ bldc_6step_hall.c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52560" y="2103120"/>
            <a:ext cx="2468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606060"/>
                </a:solidFill>
              </a:rPr>
              <a:t>6-step Hall + BRK 보호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17920" y="2615184"/>
            <a:ext cx="5486400" cy="475488"/>
          </a:xfrm>
          <a:prstGeom prst="rect">
            <a:avLst/>
          </a:prstGeom>
          <a:solidFill>
            <a:srgbClr val="D9F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55080" y="2633472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07C10"/>
                </a:solidFill>
              </a:rPr>
              <a:t>✅ dc_motor_pid.c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52560" y="2633472"/>
            <a:ext cx="2468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606060"/>
                </a:solidFill>
              </a:rPr>
              <a:t>H-bridge PWM + PID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17920" y="3145535"/>
            <a:ext cx="5486400" cy="475488"/>
          </a:xfrm>
          <a:prstGeom prst="rect">
            <a:avLst/>
          </a:prstGeom>
          <a:solidFill>
            <a:srgbClr val="D9F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55080" y="3163824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07C10"/>
                </a:solidFill>
              </a:rPr>
              <a:t>✅ fdcan_motor_cmd.c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52560" y="3163824"/>
            <a:ext cx="2468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606060"/>
                </a:solidFill>
              </a:rPr>
              <a:t>FDCAN 커맨드 파싱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17920" y="3675887"/>
            <a:ext cx="5486400" cy="475488"/>
          </a:xfrm>
          <a:prstGeom prst="rect">
            <a:avLst/>
          </a:prstGeom>
          <a:solidFill>
            <a:srgbClr val="D9F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55080" y="3694175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07C10"/>
                </a:solidFill>
              </a:rPr>
              <a:t>✅ multi_axis_sync.c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52560" y="3694175"/>
            <a:ext cx="2468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606060"/>
                </a:solidFill>
              </a:rPr>
              <a:t>TIM1/TIM8/TIM20 동기화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217920" y="4206240"/>
            <a:ext cx="5486400" cy="475488"/>
          </a:xfrm>
          <a:prstGeom prst="rect">
            <a:avLst/>
          </a:prstGeom>
          <a:solidFill>
            <a:srgbClr val="FFF0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55080" y="4224527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66C00"/>
                </a:solidFill>
              </a:rPr>
              <a:t>⬜ foc_clarke/park/...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52560" y="4224527"/>
            <a:ext cx="2468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606060"/>
                </a:solidFill>
              </a:rPr>
              <a:t>오픈소스에서 가공 예정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17920" y="425196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E6DB4"/>
                </a:solidFill>
              </a:rPr>
              <a:t>④ 학습 데이터 목표 수량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217920" y="4645152"/>
            <a:ext cx="2606040" cy="640080"/>
          </a:xfrm>
          <a:prstGeom prst="rect">
            <a:avLst/>
          </a:prstGeom>
          <a:solidFill>
            <a:srgbClr val="D6E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309360" y="4690872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1" i="0">
                <a:solidFill>
                  <a:srgbClr val="2E6DB4"/>
                </a:solidFill>
              </a:rPr>
              <a:t>RAG 지식베이스
~2,600 청크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098280" y="4645152"/>
            <a:ext cx="2606040" cy="640080"/>
          </a:xfrm>
          <a:prstGeom prst="rect">
            <a:avLst/>
          </a:prstGeom>
          <a:solidFill>
            <a:srgbClr val="D9F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189720" y="4690872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1" i="0">
                <a:solidFill>
                  <a:srgbClr val="107C10"/>
                </a:solidFill>
              </a:rPr>
              <a:t>Fine-tuning 데이터셋
500~1,000쌍 (자동생성)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Phase 2 — Step 1 HW 설계 검증 Agent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4980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FFFFFF"/>
                </a:solidFill>
              </a:rPr>
              <a:t>기간: 3~4주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105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STM32G4 회로도 검증 &amp; 펌웨어 자동 생성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5105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</a:rPr>
              <a:t>8 / 36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234440"/>
            <a:ext cx="1645920" cy="320040"/>
          </a:xfrm>
          <a:prstGeom prst="rect">
            <a:avLst/>
          </a:prstGeom>
          <a:solidFill>
            <a:srgbClr val="007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1252728"/>
            <a:ext cx="1554480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Phase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691640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7A8A"/>
                </a:solidFill>
              </a:rPr>
              <a:t>구현 항목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103120"/>
            <a:ext cx="5303520" cy="594360"/>
          </a:xfrm>
          <a:prstGeom prst="rect">
            <a:avLst/>
          </a:prstGeom>
          <a:solidFill>
            <a:srgbClr val="D0F0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139696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7A8A"/>
                </a:solidFill>
              </a:rPr>
              <a:t>3계층 규칙엔진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20240" y="2139696"/>
            <a:ext cx="3566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</a:rPr>
              <a:t>① 인프라 ② 모터논리(상보PWM) ③ 페리페럴(ADC/OPAMP)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761487"/>
            <a:ext cx="5303520" cy="594360"/>
          </a:xfrm>
          <a:prstGeom prst="rect">
            <a:avLst/>
          </a:prstGeom>
          <a:solidFill>
            <a:srgbClr val="D0F0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279806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7A8A"/>
                </a:solidFill>
              </a:rPr>
              <a:t>RAG 구성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20240" y="2798063"/>
            <a:ext cx="3566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</a:rPr>
              <a:t>PDF + 오픈소스 회로도 → 청킹 → BGE-M3 → Qdrant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419856"/>
            <a:ext cx="5303520" cy="594360"/>
          </a:xfrm>
          <a:prstGeom prst="rect">
            <a:avLst/>
          </a:prstGeom>
          <a:solidFill>
            <a:srgbClr val="D0F0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345643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7A8A"/>
                </a:solidFill>
              </a:rPr>
              <a:t>LLM 연결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20240" y="3456432"/>
            <a:ext cx="3566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</a:rPr>
              <a:t>Gemma 4 31B Dense: 자연어 설명 + JSON 구조화 출력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4078224"/>
            <a:ext cx="5303520" cy="594360"/>
          </a:xfrm>
          <a:prstGeom prst="rect">
            <a:avLst/>
          </a:prstGeom>
          <a:solidFill>
            <a:srgbClr val="D0F0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411480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7A8A"/>
                </a:solidFill>
              </a:rPr>
              <a:t>UI 구성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20240" y="4114800"/>
            <a:ext cx="3566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</a:rPr>
              <a:t>Streamlit: 회로도 업로드 → 검증 진행 → 리포트 표시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7920" y="1691640"/>
            <a:ext cx="5577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7A8A"/>
                </a:solidFill>
              </a:rPr>
              <a:t>3계층 검증 항목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17920" y="2103120"/>
            <a:ext cx="557784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09360" y="2139696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</a:rPr>
              <a:t>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75120" y="2139696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007A8A"/>
                </a:solidFill>
              </a:rPr>
              <a:t>VDD/VCAP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0" y="2139696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606060"/>
                </a:solidFill>
              </a:rPr>
              <a:t>전원 핀 누락 확인 (ERROR)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17920" y="2578608"/>
            <a:ext cx="5577840" cy="43891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09360" y="2615184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</a:rPr>
              <a:t>①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75120" y="2615184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007A8A"/>
                </a:solidFill>
              </a:rPr>
              <a:t>BOOT0/NRST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0" y="2615184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606060"/>
                </a:solidFill>
              </a:rPr>
              <a:t>플로팅 방지, 리셋 회로 (ERROR)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17920" y="3054096"/>
            <a:ext cx="557784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9360" y="3090672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</a:rPr>
              <a:t>①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75120" y="3090672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007A8A"/>
                </a:solidFill>
              </a:rPr>
              <a:t>SWD 디버그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600" y="3090672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606060"/>
                </a:solidFill>
              </a:rPr>
              <a:t>SWDIO/SWCLK 연결 확인 (WARN)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217920" y="3529584"/>
            <a:ext cx="5577840" cy="43891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09360" y="3566160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</a:rPr>
              <a:t>②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75120" y="356616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007A8A"/>
                </a:solidFill>
              </a:rPr>
              <a:t>상보 PWM 쌍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29600" y="356616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606060"/>
                </a:solidFill>
              </a:rPr>
              <a:t>TIM1_CH1 + CH1N 동일 타이머 (ERROR)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217920" y="4005072"/>
            <a:ext cx="557784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309360" y="4041648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</a:rPr>
              <a:t>②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675120" y="4041648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007A8A"/>
                </a:solidFill>
              </a:rPr>
              <a:t>엔코더 타이머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29600" y="4041648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606060"/>
                </a:solidFill>
              </a:rPr>
              <a:t>Encoder Mode 전용 TIM 확인 (ERROR)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217920" y="4480560"/>
            <a:ext cx="5577840" cy="43891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309360" y="4517136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</a:rPr>
              <a:t>③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675120" y="4517136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007A8A"/>
                </a:solidFill>
              </a:rPr>
              <a:t>OPAMP/ADC 충돌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29600" y="4517136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606060"/>
                </a:solidFill>
              </a:rPr>
              <a:t>내부 연결 충돌 감지 (ERROR)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65760" y="5047488"/>
            <a:ext cx="11430000" cy="530352"/>
          </a:xfrm>
          <a:prstGeom prst="rect">
            <a:avLst/>
          </a:prstGeom>
          <a:solidFill>
            <a:srgbClr val="D6E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48640" y="5093208"/>
            <a:ext cx="110642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1B3A6B"/>
                </a:solidFill>
              </a:rPr>
              <a:t>출력 : 검증 완료 핀 JSON (chip, validation, pins[], peripherals[], errors[], warnings[]) → Step 2 입력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Phase 3 — Step 2  CubeMX 자동화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4980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FFFFFF"/>
                </a:solidFill>
              </a:rPr>
              <a:t>기간: 2~3주  |  LLM 불필요 — 완전 결정론적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105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STM32G4 회로도 검증 &amp; 펌웨어 자동 생성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5105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</a:rPr>
              <a:t>9 / 36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234440"/>
            <a:ext cx="1645920" cy="320040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1252728"/>
            <a:ext cx="1554480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Phase 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1280160"/>
            <a:ext cx="2651760" cy="411480"/>
          </a:xfrm>
          <a:prstGeom prst="rect">
            <a:avLst/>
          </a:prstGeom>
          <a:solidFill>
            <a:srgbClr val="2E6D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1307592"/>
            <a:ext cx="2468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핀 JSON 수신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1709928"/>
            <a:ext cx="2651760" cy="54864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1737360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1A1A"/>
                </a:solidFill>
              </a:rPr>
              <a:t>Step 1
출력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63240" y="1709928"/>
            <a:ext cx="274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3A6B"/>
                </a:solidFill>
              </a:rPr>
              <a:t>▶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46120" y="1280160"/>
            <a:ext cx="2651760" cy="411480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337560" y="1307592"/>
            <a:ext cx="2468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.ioc 생성기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46120" y="1709928"/>
            <a:ext cx="2651760" cy="54864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337560" y="1737360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1A1A"/>
                </a:solidFill>
              </a:rPr>
              <a:t>Python 스크립트
자동 변환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0" y="1709928"/>
            <a:ext cx="274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3A6B"/>
                </a:solidFill>
              </a:rPr>
              <a:t>▶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26480" y="1280160"/>
            <a:ext cx="2651760" cy="411480"/>
          </a:xfrm>
          <a:prstGeom prst="rect">
            <a:avLst/>
          </a:prstGeom>
          <a:solidFill>
            <a:srgbClr val="007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17920" y="1307592"/>
            <a:ext cx="2468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CubeMX CLI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26480" y="1709928"/>
            <a:ext cx="2651760" cy="54864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17920" y="1737360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1A1A"/>
                </a:solidFill>
              </a:rPr>
              <a:t>STM32CubeMX -q
script.txt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23960" y="1709928"/>
            <a:ext cx="274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3A6B"/>
                </a:solidFill>
              </a:rPr>
              <a:t>▶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06840" y="1280160"/>
            <a:ext cx="2651760" cy="411480"/>
          </a:xfrm>
          <a:prstGeom prst="rect">
            <a:avLst/>
          </a:prstGeom>
          <a:solidFill>
            <a:srgbClr val="E6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098280" y="1307592"/>
            <a:ext cx="2468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HAL 코드 출력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006840" y="1709928"/>
            <a:ext cx="2651760" cy="54864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098280" y="1737360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1A1A"/>
                </a:solidFill>
              </a:rPr>
              <a:t>main.c / tim.c
adc.c / fdcan.c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5760" y="2423160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07C10"/>
                </a:solidFill>
              </a:rPr>
              <a:t>.ioc 파일 구조 (텍스트 포맷, 자동 생성)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" y="2816352"/>
            <a:ext cx="5486400" cy="292608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2920" y="2862072"/>
            <a:ext cx="530352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CEF5B0"/>
                </a:solidFill>
              </a:rPr>
              <a:t>Mcu.UserName=STM32G474RET6
RCC.HSEFreq_Value=24000000
RCC.SYSCLKFreq_VALUE=170000000
PA8.Signal=TIM1_CH1
PA8.GPIO_Label=PWM_UH
PA7.Signal=TIM1_CH1N
PA7.GPIO_Label=PWM_UL
PB9.Signal=FDCAN1_TX
IP.TIM1=enabled
IP.ADC1=enabled
IP.FDCAN1=enabled
IP.CORDIC=enabled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2423160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07C10"/>
                </a:solidFill>
              </a:rPr>
              <a:t>CubeMX 출력 구조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17920" y="2816352"/>
            <a:ext cx="5486400" cy="237744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55080" y="2862072"/>
            <a:ext cx="53035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DD8E6"/>
                </a:solidFill>
              </a:rPr>
              <a:t>project/
├── Core/Src/
│   ├── main.c         ← USER CODE BEGIN/END 포함
│   ├── tim.c          ← MX_TIM1_Init (PWM + 데드타임)
│   ├── adc.c          ← MX_ADC1_Init (Injected + TIM 트리거)
│   ├── fdcan.c        ← MX_FDCAN1_Init
│   └── cordic.c       ← MX_CORDIC_Init
├── Core/Inc/
│   └── main.h
└── Makefile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217920" y="5239512"/>
            <a:ext cx="5486400" cy="475488"/>
          </a:xfrm>
          <a:prstGeom prst="rect">
            <a:avLst/>
          </a:prstGeom>
          <a:solidFill>
            <a:srgbClr val="D9F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55080" y="5285232"/>
            <a:ext cx="5212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107C10"/>
                </a:solidFill>
              </a:rPr>
              <a:t>💡  USER CODE BEGIN/END 영역이 Step 3에서 LLM이 채울 공간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Phase 4 — Step 3  알고리즘 통합 Agent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4980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FFFFFF"/>
                </a:solidFill>
              </a:rPr>
              <a:t>기간: 4~6주  |  Gemma 4 26B MoE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105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STM32G4 회로도 검증 &amp; 펌웨어 자동 생성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5105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</a:rPr>
              <a:t>10 / 36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234440"/>
            <a:ext cx="1645920" cy="320040"/>
          </a:xfrm>
          <a:prstGeom prst="rect">
            <a:avLst/>
          </a:prstGeom>
          <a:solidFill>
            <a:srgbClr val="E6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1252728"/>
            <a:ext cx="1554480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Phase 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691640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66C00"/>
                </a:solidFill>
              </a:rPr>
              <a:t>LLM이 하는 일 (범위 명확히 제한)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084831"/>
            <a:ext cx="5486400" cy="411480"/>
          </a:xfrm>
          <a:prstGeom prst="rect">
            <a:avLst/>
          </a:prstGeom>
          <a:solidFill>
            <a:srgbClr val="D9F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121408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</a:rPr>
              <a:t>✅  USER CODE 영역 내 함수 호출 및 변수 선언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542032"/>
            <a:ext cx="5486400" cy="411480"/>
          </a:xfrm>
          <a:prstGeom prst="rect">
            <a:avLst/>
          </a:prstGeom>
          <a:solidFill>
            <a:srgbClr val="D9F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2578608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</a:rPr>
              <a:t>✅  ADC 완료 인터럽트 → FOC 루틴 연결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2999232"/>
            <a:ext cx="5486400" cy="411480"/>
          </a:xfrm>
          <a:prstGeom prst="rect">
            <a:avLst/>
          </a:prstGeom>
          <a:solidFill>
            <a:srgbClr val="D9F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3035808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</a:rPr>
              <a:t>✅  FDCAN 수신 콜백 → 커맨드 파싱 호출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456432"/>
            <a:ext cx="5486400" cy="411480"/>
          </a:xfrm>
          <a:prstGeom prst="rect">
            <a:avLst/>
          </a:prstGeom>
          <a:solidFill>
            <a:srgbClr val="D9F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3493008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</a:rPr>
              <a:t>✅  메인 루프 → 속도/위치 제어 루프 호출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3913631"/>
            <a:ext cx="5486400" cy="411480"/>
          </a:xfrm>
          <a:prstGeom prst="rect">
            <a:avLst/>
          </a:prstGeom>
          <a:solidFill>
            <a:srgbClr val="D9F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3950208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</a:rPr>
              <a:t>✅  Golden Module include + 파라미터 설정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4434840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0392B"/>
                </a:solidFill>
              </a:rPr>
              <a:t>LLM이 하지 않는 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48006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0392B"/>
                </a:solidFill>
              </a:rPr>
              <a:t>❌  HAL_TIM_PWM_Init 등 HAL 초기화 함수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5148072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0392B"/>
                </a:solidFill>
              </a:rPr>
              <a:t>❌  Clarke/Park/SVPWM 알고리즘 내부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5495544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0392B"/>
                </a:solidFill>
              </a:rPr>
              <a:t>❌  CORDIC/FMAC 레지스터 직접 접근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17920" y="1691640"/>
            <a:ext cx="5577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66C00"/>
                </a:solidFill>
              </a:rPr>
              <a:t>Golden Module RAG 구성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17920" y="2084831"/>
            <a:ext cx="5577840" cy="594360"/>
          </a:xfrm>
          <a:prstGeom prst="rect">
            <a:avLst/>
          </a:prstGeom>
          <a:solidFill>
            <a:srgbClr val="FFF0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55080" y="2121408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E66C00"/>
                </a:solidFill>
              </a:rPr>
              <a:t>검색 대상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09560" y="2121408"/>
            <a:ext cx="37490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오픈소스 FOC 코드 + golden_modules/
(8개 오픈소스 프로젝트 기반)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17920" y="2743200"/>
            <a:ext cx="5577840" cy="594360"/>
          </a:xfrm>
          <a:prstGeom prst="rect">
            <a:avLst/>
          </a:prstGeom>
          <a:solidFill>
            <a:srgbClr val="FFF0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55080" y="2779776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E66C00"/>
                </a:solidFill>
              </a:rPr>
              <a:t>임베딩 모델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909560" y="2779776"/>
            <a:ext cx="37490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BAAI/bge-m3 (코드+주석 혼재)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17920" y="3401568"/>
            <a:ext cx="5577840" cy="594360"/>
          </a:xfrm>
          <a:prstGeom prst="rect">
            <a:avLst/>
          </a:prstGeom>
          <a:solidFill>
            <a:srgbClr val="FFF0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55080" y="3438144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E66C00"/>
                </a:solidFill>
              </a:rPr>
              <a:t>벡터 DB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909560" y="3438144"/>
            <a:ext cx="37490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Qdrant + 메타데이터 필터
(motor_type, control_method 필터)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217920" y="4059935"/>
            <a:ext cx="5577840" cy="594360"/>
          </a:xfrm>
          <a:prstGeom prst="rect">
            <a:avLst/>
          </a:prstGeom>
          <a:solidFill>
            <a:srgbClr val="FFF0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55080" y="4096512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E66C00"/>
                </a:solidFill>
              </a:rPr>
              <a:t>검색 방식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909560" y="4096512"/>
            <a:ext cx="37490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Hybrid: Dense + BM25 키워드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217920" y="4782312"/>
            <a:ext cx="5577840" cy="932688"/>
          </a:xfrm>
          <a:prstGeom prst="rect">
            <a:avLst/>
          </a:prstGeom>
          <a:solidFill>
            <a:srgbClr val="D6E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217920" y="4782312"/>
            <a:ext cx="5577840" cy="320040"/>
          </a:xfrm>
          <a:prstGeom prst="rect">
            <a:avLst/>
          </a:prstGeom>
          <a:solidFill>
            <a:srgbClr val="2E6D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55080" y="4809744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통합 후 데이터 흐름 (FOC 루프)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55080" y="5138928"/>
            <a:ext cx="5303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B3A6B"/>
                </a:solidFill>
              </a:rPr>
              <a:t>ADC ISR → foc_clarke() → foc_park() → foc_current_pi()
→ foc_inv_park() → foc_svpwm() → TIM1 CCR 갱신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Phase 5 — Fine-tuning (선택)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4980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FFFFFF"/>
                </a:solidFill>
              </a:rPr>
              <a:t>기간: 8~12주  |  DGX Spark 단독 실행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105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STM32G4 회로도 검증 &amp; 펌웨어 자동 생성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5105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</a:rPr>
              <a:t>11 / 36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234440"/>
            <a:ext cx="1645920" cy="32004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1252728"/>
            <a:ext cx="1554480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Phase 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69164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0392B"/>
                </a:solidFill>
              </a:rPr>
              <a:t>목적 &amp; 조건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084831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</a:rPr>
              <a:t>• Phase 1~4 완료 후 RAG 품질이 부족하다고 판단될 때 진행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2496312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</a:rPr>
              <a:t>• 학습 데이터 300개 이상 확보된 시점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2907791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</a:rPr>
              <a:t>• 사내 코딩 스타일 / 네이밍 규칙을 LLM에 체화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3310128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0392B"/>
                </a:solidFill>
              </a:rPr>
              <a:t>모델별 Fine-tuning 계획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3703320"/>
            <a:ext cx="5303520" cy="32004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3730752"/>
            <a:ext cx="960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</a:rPr>
              <a:t>모델 역할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63040" y="3730752"/>
            <a:ext cx="960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</a:rPr>
              <a:t>베이스 모델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68880" y="3730752"/>
            <a:ext cx="960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</a:rPr>
              <a:t>방법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74720" y="3730752"/>
            <a:ext cx="960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</a:rPr>
              <a:t>메모리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3730752"/>
            <a:ext cx="960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</a:rPr>
              <a:t>목적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4041648"/>
            <a:ext cx="530352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078224"/>
            <a:ext cx="960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검증 모델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63040" y="4078224"/>
            <a:ext cx="960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Gemma 4 31B Dense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468880" y="4078224"/>
            <a:ext cx="960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QLoRA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74720" y="4078224"/>
            <a:ext cx="960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~60~70GB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80560" y="4078224"/>
            <a:ext cx="960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3계층 리포트 포맷 통일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" y="4453128"/>
            <a:ext cx="530352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7200" y="4489704"/>
            <a:ext cx="960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통합 모델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63040" y="4489704"/>
            <a:ext cx="960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Gemma 4 26B MoE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468880" y="4489704"/>
            <a:ext cx="960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QLoRA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74720" y="4489704"/>
            <a:ext cx="960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~40~50GB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80560" y="4489704"/>
            <a:ext cx="960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USER CODE 삽입 정확도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17920" y="1691640"/>
            <a:ext cx="5577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0392B"/>
                </a:solidFill>
              </a:rPr>
              <a:t>학습 데이터 수집 전략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217920" y="2084831"/>
            <a:ext cx="5577840" cy="512064"/>
          </a:xfrm>
          <a:prstGeom prst="rect">
            <a:avLst/>
          </a:prstGeom>
          <a:solidFill>
            <a:srgbClr val="FFF0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27648" y="2121408"/>
            <a:ext cx="777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0392B"/>
                </a:solidFill>
              </a:rPr>
              <a:t>1순위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178040" y="2121408"/>
            <a:ext cx="4480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A1A1A"/>
                </a:solidFill>
              </a:rPr>
              <a:t>오픈소스 FOC 코드 + CubeMX 생성 코드 조합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178040" y="2359152"/>
            <a:ext cx="4480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606060"/>
                </a:solidFill>
              </a:rPr>
              <a:t>즉시 시작 가능, ~20~30개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217920" y="2651760"/>
            <a:ext cx="5577840" cy="512064"/>
          </a:xfrm>
          <a:prstGeom prst="rect">
            <a:avLst/>
          </a:prstGeom>
          <a:solidFill>
            <a:srgbClr val="FFF0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327648" y="2688336"/>
            <a:ext cx="777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0392B"/>
                </a:solidFill>
              </a:rPr>
              <a:t>2순위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178040" y="2688336"/>
            <a:ext cx="4480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A1A1A"/>
                </a:solidFill>
              </a:rPr>
              <a:t>오픈소스 회로도 기반 검증 에러 자동 생성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178040" y="2926080"/>
            <a:ext cx="4480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606060"/>
                </a:solidFill>
              </a:rPr>
              <a:t>~30~50개 추가 확보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217920" y="3218687"/>
            <a:ext cx="5577840" cy="512064"/>
          </a:xfrm>
          <a:prstGeom prst="rect">
            <a:avLst/>
          </a:prstGeom>
          <a:solidFill>
            <a:srgbClr val="FFF0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327648" y="3255263"/>
            <a:ext cx="777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0392B"/>
                </a:solidFill>
              </a:rPr>
              <a:t>3순위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178040" y="3255263"/>
            <a:ext cx="4480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A1A1A"/>
                </a:solidFill>
              </a:rPr>
              <a:t>Golden Module 조합 자동 생성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178040" y="3493008"/>
            <a:ext cx="4480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606060"/>
                </a:solidFill>
              </a:rPr>
              <a:t>컴파일 검증 후 확장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217920" y="3785615"/>
            <a:ext cx="5577840" cy="512064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327648" y="3822191"/>
            <a:ext cx="777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606060"/>
                </a:solidFill>
              </a:rPr>
              <a:t>품질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178040" y="3822191"/>
            <a:ext cx="4480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A1A1A"/>
                </a:solidFill>
              </a:rPr>
              <a:t>arm-none-eabi-gcc 빌드 통과 필수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178040" y="4059935"/>
            <a:ext cx="4480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606060"/>
                </a:solidFill>
              </a:rPr>
              <a:t>전체 샘플 100% 적용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217920" y="4352544"/>
            <a:ext cx="5577840" cy="512064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327648" y="4389120"/>
            <a:ext cx="777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606060"/>
                </a:solidFill>
              </a:rPr>
              <a:t>검증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178040" y="4389120"/>
            <a:ext cx="4480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A1A1A"/>
                </a:solidFill>
              </a:rPr>
              <a:t>실제 하드웨어 동작 확인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178040" y="4626864"/>
            <a:ext cx="4480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606060"/>
                </a:solidFill>
              </a:rPr>
              <a:t>전체의 20~30% 샘플링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65760" y="5166360"/>
            <a:ext cx="11430000" cy="475488"/>
          </a:xfrm>
          <a:prstGeom prst="rect">
            <a:avLst/>
          </a:prstGeom>
          <a:solidFill>
            <a:srgbClr val="D6E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48640" y="5212080"/>
            <a:ext cx="11064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B3A6B"/>
                </a:solidFill>
              </a:rPr>
              <a:t>💡  DGX Spark 128GB → 31B Dense / 26B MoE QLoRA 파인튜닝 모두 가능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학습 데이터 전략 — BLDC 제어 알고리즘 구조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4980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FFFFFF"/>
                </a:solidFill>
              </a:rPr>
              <a:t>오픈소스 FOC 코드 기반 → Golden Module 가공·등록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105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STM32G4 회로도 검증 &amp; 펌웨어 자동 생성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5105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</a:rPr>
              <a:t>12 / 36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298448"/>
            <a:ext cx="6400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E6DB4"/>
                </a:solidFill>
              </a:rPr>
              <a:t>FOC 제어 루프 캐스케이드 (STM32G4 가속기 포함)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719072"/>
            <a:ext cx="1371600" cy="10515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" y="1783080"/>
            <a:ext cx="1280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606060"/>
                </a:solidFill>
              </a:rPr>
              <a:t>위치 PI
(외부 루프, ~1kHz)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73936" y="2103120"/>
            <a:ext cx="1645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B3A6B"/>
                </a:solidFill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874519" y="1719072"/>
            <a:ext cx="1371600" cy="1051560"/>
          </a:xfrm>
          <a:prstGeom prst="rect">
            <a:avLst/>
          </a:prstGeom>
          <a:solidFill>
            <a:srgbClr val="D6E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920239" y="1783080"/>
            <a:ext cx="1280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2E6DB4"/>
                </a:solidFill>
              </a:rPr>
              <a:t>속도 PI
(중간 루프, ~1kHz)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82696" y="2103120"/>
            <a:ext cx="1645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B3A6B"/>
                </a:solidFill>
              </a:rPr>
              <a:t>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83279" y="1719072"/>
            <a:ext cx="1371600" cy="1051560"/>
          </a:xfrm>
          <a:prstGeom prst="rect">
            <a:avLst/>
          </a:prstGeom>
          <a:solidFill>
            <a:srgbClr val="D9F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28999" y="1783080"/>
            <a:ext cx="1280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07C10"/>
                </a:solidFill>
              </a:rPr>
              <a:t>Id/Iq PI
전류 제어
(20kHz)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91456" y="2103120"/>
            <a:ext cx="1645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B3A6B"/>
                </a:solidFill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892040" y="1719072"/>
            <a:ext cx="1371600" cy="1051560"/>
          </a:xfrm>
          <a:prstGeom prst="rect">
            <a:avLst/>
          </a:prstGeom>
          <a:solidFill>
            <a:srgbClr val="FFF0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37759" y="1783080"/>
            <a:ext cx="1280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E66C00"/>
                </a:solidFill>
              </a:rPr>
              <a:t>SVPWM
→ TIM1 PWM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2852928"/>
            <a:ext cx="5943600" cy="347472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28803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각도 소스 (θ)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3218688"/>
            <a:ext cx="1920240" cy="384048"/>
          </a:xfrm>
          <a:prstGeom prst="rect">
            <a:avLst/>
          </a:prstGeom>
          <a:solidFill>
            <a:srgbClr val="2E6D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" y="3246120"/>
            <a:ext cx="18745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증분 엔코더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350008" y="3218688"/>
            <a:ext cx="1920240" cy="384048"/>
          </a:xfrm>
          <a:prstGeom prst="rect">
            <a:avLst/>
          </a:prstGeom>
          <a:solidFill>
            <a:srgbClr val="007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395728" y="3246120"/>
            <a:ext cx="18745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Hall 센서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334256" y="3218688"/>
            <a:ext cx="1920240" cy="384048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379976" y="3246120"/>
            <a:ext cx="18745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Sensorless SMO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3703320"/>
            <a:ext cx="5943600" cy="320040"/>
          </a:xfrm>
          <a:prstGeom prst="rect">
            <a:avLst/>
          </a:prstGeom>
          <a:solidFill>
            <a:srgbClr val="E6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2920" y="3730752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STM32G4 가속기 활용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" y="4050791"/>
            <a:ext cx="1920240" cy="566928"/>
          </a:xfrm>
          <a:prstGeom prst="rect">
            <a:avLst/>
          </a:prstGeom>
          <a:solidFill>
            <a:srgbClr val="FFF0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7200" y="4078224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66C00"/>
                </a:solidFill>
              </a:rPr>
              <a:t>CORDIC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4315968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06060"/>
                </a:solidFill>
              </a:rPr>
              <a:t>Park/역Park sin/cos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350008" y="4050791"/>
            <a:ext cx="1920240" cy="566928"/>
          </a:xfrm>
          <a:prstGeom prst="rect">
            <a:avLst/>
          </a:prstGeom>
          <a:solidFill>
            <a:srgbClr val="FFF0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441448" y="4078224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66C00"/>
                </a:solidFill>
              </a:rPr>
              <a:t>FMAC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441448" y="4315968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06060"/>
                </a:solidFill>
              </a:rPr>
              <a:t>Id/Iq PI 필터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334256" y="4050791"/>
            <a:ext cx="1920240" cy="566928"/>
          </a:xfrm>
          <a:prstGeom prst="rect">
            <a:avLst/>
          </a:prstGeom>
          <a:solidFill>
            <a:srgbClr val="FFF0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425696" y="4078224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66C00"/>
                </a:solidFill>
              </a:rPr>
              <a:t>Internal OPAMP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425696" y="4315968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06060"/>
                </a:solidFill>
              </a:rPr>
              <a:t>전류 감지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83680" y="1298448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E6DB4"/>
                </a:solidFill>
              </a:rPr>
              <a:t>Golden Module 목록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583680" y="1691640"/>
            <a:ext cx="5303520" cy="274320"/>
          </a:xfrm>
          <a:prstGeom prst="rect">
            <a:avLst/>
          </a:prstGeom>
          <a:solidFill>
            <a:srgbClr val="D9F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675120" y="1709928"/>
            <a:ext cx="2743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✅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995160" y="1709928"/>
            <a:ext cx="2194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07C10"/>
                </a:solidFill>
              </a:rPr>
              <a:t>bldc_6step_hall.c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81160" y="1709928"/>
            <a:ext cx="2468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606060"/>
                </a:solidFill>
              </a:rPr>
              <a:t>6-step Hall + BRK 보호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583680" y="1993392"/>
            <a:ext cx="5303520" cy="274320"/>
          </a:xfrm>
          <a:prstGeom prst="rect">
            <a:avLst/>
          </a:prstGeom>
          <a:solidFill>
            <a:srgbClr val="D9F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675120" y="2011680"/>
            <a:ext cx="2743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✅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995160" y="2011680"/>
            <a:ext cx="2194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07C10"/>
                </a:solidFill>
              </a:rPr>
              <a:t>dc_motor_pid.c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281160" y="2011680"/>
            <a:ext cx="2468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606060"/>
                </a:solidFill>
              </a:rPr>
              <a:t>DC H-bridge PID (완성)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583680" y="2295144"/>
            <a:ext cx="5303520" cy="274320"/>
          </a:xfrm>
          <a:prstGeom prst="rect">
            <a:avLst/>
          </a:prstGeom>
          <a:solidFill>
            <a:srgbClr val="D9F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675120" y="2313432"/>
            <a:ext cx="2743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✅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995160" y="2313432"/>
            <a:ext cx="2194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07C10"/>
                </a:solidFill>
              </a:rPr>
              <a:t>fdcan_motor_cmd.c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281160" y="2313432"/>
            <a:ext cx="2468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606060"/>
                </a:solidFill>
              </a:rPr>
              <a:t>FDCAN 커맨드 파싱 (완성)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583680" y="2596896"/>
            <a:ext cx="5303520" cy="274320"/>
          </a:xfrm>
          <a:prstGeom prst="rect">
            <a:avLst/>
          </a:prstGeom>
          <a:solidFill>
            <a:srgbClr val="D9F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675120" y="2615184"/>
            <a:ext cx="2743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✅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995160" y="2615184"/>
            <a:ext cx="2194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07C10"/>
                </a:solidFill>
              </a:rPr>
              <a:t>multi_axis_sync.c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281160" y="2615184"/>
            <a:ext cx="2468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606060"/>
                </a:solidFill>
              </a:rPr>
              <a:t>TIM 동기화 (완성)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583680" y="2898648"/>
            <a:ext cx="5303520" cy="274320"/>
          </a:xfrm>
          <a:prstGeom prst="rect">
            <a:avLst/>
          </a:prstGeom>
          <a:solidFill>
            <a:srgbClr val="FFF0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675120" y="2916936"/>
            <a:ext cx="2743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⬜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995160" y="2916936"/>
            <a:ext cx="2194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E66C00"/>
                </a:solidFill>
              </a:rPr>
              <a:t>foc_clarke.c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281160" y="2916936"/>
            <a:ext cx="2468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606060"/>
                </a:solidFill>
              </a:rPr>
              <a:t>Clarke (오픈소스 가공 예정)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583680" y="3200400"/>
            <a:ext cx="5303520" cy="274320"/>
          </a:xfrm>
          <a:prstGeom prst="rect">
            <a:avLst/>
          </a:prstGeom>
          <a:solidFill>
            <a:srgbClr val="FFF0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675120" y="3218688"/>
            <a:ext cx="2743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⬜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995160" y="3218688"/>
            <a:ext cx="2194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E66C00"/>
                </a:solidFill>
              </a:rPr>
              <a:t>foc_park.c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281160" y="3218688"/>
            <a:ext cx="2468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606060"/>
                </a:solidFill>
              </a:rPr>
              <a:t>Park + CORDIC (가공 예정)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583680" y="3502152"/>
            <a:ext cx="5303520" cy="274320"/>
          </a:xfrm>
          <a:prstGeom prst="rect">
            <a:avLst/>
          </a:prstGeom>
          <a:solidFill>
            <a:srgbClr val="FFF0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675120" y="3520440"/>
            <a:ext cx="2743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⬜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995160" y="3520440"/>
            <a:ext cx="2194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E66C00"/>
                </a:solidFill>
              </a:rPr>
              <a:t>foc_inv_park.c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281160" y="3520440"/>
            <a:ext cx="2468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606060"/>
                </a:solidFill>
              </a:rPr>
              <a:t>역 Park (가공 예정)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583680" y="3803904"/>
            <a:ext cx="5303520" cy="274320"/>
          </a:xfrm>
          <a:prstGeom prst="rect">
            <a:avLst/>
          </a:prstGeom>
          <a:solidFill>
            <a:srgbClr val="FFF0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675120" y="3822191"/>
            <a:ext cx="2743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⬜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995160" y="3822191"/>
            <a:ext cx="2194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E66C00"/>
                </a:solidFill>
              </a:rPr>
              <a:t>foc_svpwm.c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281160" y="3822191"/>
            <a:ext cx="2468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606060"/>
                </a:solidFill>
              </a:rPr>
              <a:t>SVPWM (가공 예정)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583680" y="4105656"/>
            <a:ext cx="5303520" cy="274320"/>
          </a:xfrm>
          <a:prstGeom prst="rect">
            <a:avLst/>
          </a:prstGeom>
          <a:solidFill>
            <a:srgbClr val="FFF0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675120" y="4123944"/>
            <a:ext cx="2743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⬜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995160" y="4123944"/>
            <a:ext cx="2194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E66C00"/>
                </a:solidFill>
              </a:rPr>
              <a:t>foc_current_pi.c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281160" y="4123944"/>
            <a:ext cx="2468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606060"/>
                </a:solidFill>
              </a:rPr>
              <a:t>PI 제어기 (가공 예정)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583680" y="4407408"/>
            <a:ext cx="5303520" cy="274320"/>
          </a:xfrm>
          <a:prstGeom prst="rect">
            <a:avLst/>
          </a:prstGeom>
          <a:solidFill>
            <a:srgbClr val="FFF0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675120" y="4425696"/>
            <a:ext cx="2743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⬜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995160" y="4425696"/>
            <a:ext cx="2194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E66C00"/>
                </a:solidFill>
              </a:rPr>
              <a:t>foc_speed_pi.c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281160" y="4425696"/>
            <a:ext cx="2468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606060"/>
                </a:solidFill>
              </a:rPr>
              <a:t>속도 PI (가공 예정)</a:t>
            </a:r>
          </a:p>
        </p:txBody>
      </p:sp>
      <p:sp>
        <p:nvSpPr>
          <p:cNvPr id="81" name="Rectangle 80"/>
          <p:cNvSpPr/>
          <p:nvPr/>
        </p:nvSpPr>
        <p:spPr>
          <a:xfrm>
            <a:off x="6583680" y="4709160"/>
            <a:ext cx="5303520" cy="274320"/>
          </a:xfrm>
          <a:prstGeom prst="rect">
            <a:avLst/>
          </a:prstGeom>
          <a:solidFill>
            <a:srgbClr val="FFF0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6675120" y="4727448"/>
            <a:ext cx="2743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⬜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995160" y="4727448"/>
            <a:ext cx="2194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E66C00"/>
                </a:solidFill>
              </a:rPr>
              <a:t>foc_angle_encoder.c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281160" y="4727448"/>
            <a:ext cx="2468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606060"/>
                </a:solidFill>
              </a:rPr>
              <a:t>엔코더 (가공 예정)</a:t>
            </a:r>
          </a:p>
        </p:txBody>
      </p:sp>
      <p:sp>
        <p:nvSpPr>
          <p:cNvPr id="85" name="Rectangle 84"/>
          <p:cNvSpPr/>
          <p:nvPr/>
        </p:nvSpPr>
        <p:spPr>
          <a:xfrm>
            <a:off x="6583680" y="5010912"/>
            <a:ext cx="5303520" cy="274320"/>
          </a:xfrm>
          <a:prstGeom prst="rect">
            <a:avLst/>
          </a:prstGeom>
          <a:solidFill>
            <a:srgbClr val="FFF0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675120" y="5029200"/>
            <a:ext cx="2743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⬜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995160" y="5029200"/>
            <a:ext cx="2194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E66C00"/>
                </a:solidFill>
              </a:rPr>
              <a:t>foc_angle_hall.c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281160" y="5029200"/>
            <a:ext cx="2468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606060"/>
                </a:solidFill>
              </a:rPr>
              <a:t>Hall 각도 (가공 예정)</a:t>
            </a:r>
          </a:p>
        </p:txBody>
      </p:sp>
      <p:sp>
        <p:nvSpPr>
          <p:cNvPr id="89" name="Rectangle 88"/>
          <p:cNvSpPr/>
          <p:nvPr/>
        </p:nvSpPr>
        <p:spPr>
          <a:xfrm>
            <a:off x="6583680" y="5312664"/>
            <a:ext cx="5303520" cy="274320"/>
          </a:xfrm>
          <a:prstGeom prst="rect">
            <a:avLst/>
          </a:prstGeom>
          <a:solidFill>
            <a:srgbClr val="FFF0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675120" y="5330952"/>
            <a:ext cx="2743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⬜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995160" y="5330952"/>
            <a:ext cx="2194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E66C00"/>
                </a:solidFill>
              </a:rPr>
              <a:t>foc_angle_smo.c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281160" y="5330952"/>
            <a:ext cx="2468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606060"/>
                </a:solidFill>
              </a:rPr>
              <a:t>SMO 옵저버 (가공 예정)</a:t>
            </a:r>
          </a:p>
        </p:txBody>
      </p:sp>
      <p:sp>
        <p:nvSpPr>
          <p:cNvPr id="93" name="Rectangle 92"/>
          <p:cNvSpPr/>
          <p:nvPr/>
        </p:nvSpPr>
        <p:spPr>
          <a:xfrm>
            <a:off x="6583680" y="5614416"/>
            <a:ext cx="5303520" cy="274320"/>
          </a:xfrm>
          <a:prstGeom prst="rect">
            <a:avLst/>
          </a:prstGeom>
          <a:solidFill>
            <a:srgbClr val="FFF0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6675120" y="5632704"/>
            <a:ext cx="2743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⬜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995160" y="5632704"/>
            <a:ext cx="2194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E66C00"/>
                </a:solidFill>
              </a:rPr>
              <a:t>foc_current_sense.c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9281160" y="5632704"/>
            <a:ext cx="2468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606060"/>
                </a:solidFill>
              </a:rPr>
              <a:t>전류감지 (가공 예정)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583680" y="5916168"/>
            <a:ext cx="5303520" cy="274320"/>
          </a:xfrm>
          <a:prstGeom prst="rect">
            <a:avLst/>
          </a:prstGeom>
          <a:solidFill>
            <a:srgbClr val="FFF0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675120" y="5934456"/>
            <a:ext cx="2743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⬜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995160" y="5934456"/>
            <a:ext cx="2194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E66C00"/>
                </a:solidFill>
              </a:rPr>
              <a:t>foc_position_pi.c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9281160" y="5934456"/>
            <a:ext cx="2468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606060"/>
                </a:solidFill>
              </a:rPr>
              <a:t>위치 PI (가공 예정)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모델 선택 가이드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4980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FFFFFF"/>
                </a:solidFill>
              </a:rPr>
              <a:t>DGX Spark 128GB 기준 최적 배치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105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STM32G4 회로도 검증 &amp; 펌웨어 자동 생성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5105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</a:rPr>
              <a:t>13 / 36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280160"/>
            <a:ext cx="11430000" cy="38404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1307592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13432" y="1307592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역할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15384" y="1307592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선택 모델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17336" y="1307592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양자화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19288" y="1307592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메모리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21240" y="1307592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선택 이유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1691640"/>
            <a:ext cx="11430000" cy="594360"/>
          </a:xfrm>
          <a:prstGeom prst="rect">
            <a:avLst/>
          </a:prstGeom>
          <a:solidFill>
            <a:srgbClr val="D6E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1737360"/>
            <a:ext cx="822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1B3A6B"/>
                </a:solidFill>
              </a:rPr>
              <a:t>Step 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1737360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606060"/>
                </a:solidFill>
              </a:rPr>
              <a:t>HW 검증
(추론)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97480" y="1737360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2E6DB4"/>
                </a:solidFill>
              </a:rPr>
              <a:t>Gemma 4 31B Dense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03520" y="1737360"/>
            <a:ext cx="822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1A1A1A"/>
                </a:solidFill>
              </a:rPr>
              <a:t>Q4_K_M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2200" y="1737360"/>
            <a:ext cx="822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07C10"/>
                </a:solidFill>
              </a:rPr>
              <a:t>~20GB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86600" y="1737360"/>
            <a:ext cx="4480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06060"/>
                </a:solidFill>
              </a:rPr>
              <a:t>논리 추론 정확도 최상급, JSON 구조화 출력 우수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2313432"/>
            <a:ext cx="11430000" cy="594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2359152"/>
            <a:ext cx="822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1B3A6B"/>
                </a:solidFill>
              </a:rPr>
              <a:t>Step 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80160" y="2359152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606060"/>
                </a:solidFill>
              </a:rPr>
              <a:t>CubeMX
자동화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97480" y="2359152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2E6DB4"/>
                </a:solidFill>
              </a:rPr>
              <a:t>LLM 불필요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520" y="2359152"/>
            <a:ext cx="822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1A1A1A"/>
                </a:solidFill>
              </a:rP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72200" y="2359152"/>
            <a:ext cx="822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606060"/>
                </a:solidFill>
              </a:rPr>
              <a:t>0GB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86600" y="2359152"/>
            <a:ext cx="4480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06060"/>
                </a:solidFill>
              </a:rPr>
              <a:t>결정론적 코드 생성 — CubeMX CLI 직접 사용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" y="2935224"/>
            <a:ext cx="11430000" cy="594360"/>
          </a:xfrm>
          <a:prstGeom prst="rect">
            <a:avLst/>
          </a:prstGeom>
          <a:solidFill>
            <a:srgbClr val="D6E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2980944"/>
            <a:ext cx="822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1B3A6B"/>
                </a:solidFill>
              </a:rPr>
              <a:t>Step 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80160" y="2980944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606060"/>
                </a:solidFill>
              </a:rPr>
              <a:t>알고리즘
통합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697480" y="2980944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2E6DB4"/>
                </a:solidFill>
              </a:rPr>
              <a:t>Gemma 4 26B MoE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303520" y="2980944"/>
            <a:ext cx="822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1A1A1A"/>
                </a:solidFill>
              </a:rPr>
              <a:t>Q8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72200" y="2980944"/>
            <a:ext cx="822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07C10"/>
                </a:solidFill>
              </a:rPr>
              <a:t>~22GB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086600" y="2980944"/>
            <a:ext cx="4480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06060"/>
                </a:solidFill>
              </a:rPr>
              <a:t>Active ~4B → 빠른 추론, USER CODE 삽입 최적화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3557016"/>
            <a:ext cx="11430000" cy="594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3602736"/>
            <a:ext cx="822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1B3A6B"/>
                </a:solidFill>
              </a:rPr>
              <a:t>임베딩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280160" y="3602736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606060"/>
                </a:solidFill>
              </a:rPr>
              <a:t>RAG 검색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697480" y="3602736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2E6DB4"/>
                </a:solidFill>
              </a:rPr>
              <a:t>BAAI/bge-m3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303520" y="3602736"/>
            <a:ext cx="822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1A1A1A"/>
                </a:solidFill>
              </a:rPr>
              <a:t>FP32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172200" y="3602736"/>
            <a:ext cx="822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07C10"/>
                </a:solidFill>
              </a:rPr>
              <a:t>~2GB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086600" y="3602736"/>
            <a:ext cx="4480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06060"/>
                </a:solidFill>
              </a:rPr>
              <a:t>한국어+영어 혼재 문서 최적, 로컬 실행 가능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5760" y="4279392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E6DB4"/>
                </a:solidFill>
              </a:rPr>
              <a:t>동시 메모리 로드 시나리오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4663440"/>
            <a:ext cx="8229600" cy="32004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57200" y="4690872"/>
            <a:ext cx="1554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시나리오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103120" y="4690872"/>
            <a:ext cx="1554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Step 1 모델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749039" y="4690872"/>
            <a:ext cx="1554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Step 3 모델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394960" y="4690872"/>
            <a:ext cx="1554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합산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040880" y="4690872"/>
            <a:ext cx="1554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판정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65760" y="5010912"/>
            <a:ext cx="8229600" cy="365760"/>
          </a:xfrm>
          <a:prstGeom prst="rect">
            <a:avLst/>
          </a:prstGeom>
          <a:solidFill>
            <a:srgbClr val="D6E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57200" y="5047488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E6DB4"/>
                </a:solidFill>
              </a:rPr>
              <a:t>권장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103120" y="5047488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Gemma 4 31B Q4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749039" y="5047488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Gemma 4 26B MoE Q8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394960" y="5047488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~42GB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040880" y="5047488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07C10"/>
                </a:solidFill>
              </a:rPr>
              <a:t>✓ 큰 여유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65760" y="5394960"/>
            <a:ext cx="822960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57200" y="5431536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E6DB4"/>
                </a:solidFill>
              </a:rPr>
              <a:t>최고 품질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103120" y="5431536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Gemma 4 31B Q8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749039" y="5431536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Gemma 4 26B MoE Q8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394960" y="5431536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~58GB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040880" y="5431536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07C10"/>
                </a:solidFill>
              </a:rPr>
              <a:t>✓ 여유</a:t>
            </a:r>
          </a:p>
        </p:txBody>
      </p:sp>
      <p:sp>
        <p:nvSpPr>
          <p:cNvPr id="63" name="Rectangle 62"/>
          <p:cNvSpPr/>
          <p:nvPr/>
        </p:nvSpPr>
        <p:spPr>
          <a:xfrm>
            <a:off x="365760" y="5779008"/>
            <a:ext cx="8229600" cy="3657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57200" y="5815583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E6DB4"/>
                </a:solidFill>
              </a:rPr>
              <a:t>경량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103120" y="5815583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Gemma 4 26B MoE Q4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749039" y="5815583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Gemma 4 26B MoE Q4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394960" y="5815583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~36GB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040880" y="5815583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07C10"/>
                </a:solidFill>
              </a:rPr>
              <a:t>✓ 큰 여유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961120" y="4279392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0392B"/>
                </a:solidFill>
              </a:rPr>
              <a:t>Fine-tuning 메모리 요구량</a:t>
            </a:r>
          </a:p>
        </p:txBody>
      </p:sp>
      <p:sp>
        <p:nvSpPr>
          <p:cNvPr id="70" name="Rectangle 69"/>
          <p:cNvSpPr/>
          <p:nvPr/>
        </p:nvSpPr>
        <p:spPr>
          <a:xfrm>
            <a:off x="8961120" y="4663440"/>
            <a:ext cx="3200400" cy="475488"/>
          </a:xfrm>
          <a:prstGeom prst="rect">
            <a:avLst/>
          </a:prstGeom>
          <a:solidFill>
            <a:srgbClr val="FFF0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9098280" y="4690872"/>
            <a:ext cx="21945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66C00"/>
                </a:solidFill>
              </a:rPr>
              <a:t>Gemma 4 31B Dense QLoRA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384280" y="4690872"/>
            <a:ext cx="7315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C0392B"/>
                </a:solidFill>
              </a:rPr>
              <a:t>~60~70GB</a:t>
            </a:r>
          </a:p>
        </p:txBody>
      </p:sp>
      <p:sp>
        <p:nvSpPr>
          <p:cNvPr id="73" name="Rectangle 72"/>
          <p:cNvSpPr/>
          <p:nvPr/>
        </p:nvSpPr>
        <p:spPr>
          <a:xfrm>
            <a:off x="8961120" y="5193792"/>
            <a:ext cx="3200400" cy="475488"/>
          </a:xfrm>
          <a:prstGeom prst="rect">
            <a:avLst/>
          </a:prstGeom>
          <a:solidFill>
            <a:srgbClr val="FFF0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9098280" y="5221224"/>
            <a:ext cx="21945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66C00"/>
                </a:solidFill>
              </a:rPr>
              <a:t>Gemma 4 26B MoE QLoRA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1384280" y="5221224"/>
            <a:ext cx="7315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C0392B"/>
                </a:solidFill>
              </a:rPr>
              <a:t>~40~50GB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961120" y="5742432"/>
            <a:ext cx="3200400" cy="384048"/>
          </a:xfrm>
          <a:prstGeom prst="rect">
            <a:avLst/>
          </a:prstGeom>
          <a:solidFill>
            <a:srgbClr val="D9F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9098280" y="5779008"/>
            <a:ext cx="30175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07C10"/>
                </a:solidFill>
              </a:rPr>
              <a:t>✅ DGX Spark 단독 가능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사용 가이드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772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FFFFFF"/>
                </a:solidFill>
              </a:rPr>
              <a:t>회로도 입력부터 완성 펌웨어까지 — Step별 사용법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105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STM32G4 회로도 검증 &amp; 펌웨어 자동 생성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5105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</a:rPr>
              <a:t>14 / 36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325880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07C10"/>
                </a:solidFill>
              </a:rPr>
              <a:t>전체 사용 흐름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755648"/>
            <a:ext cx="1737360" cy="475488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8912" y="1783080"/>
            <a:ext cx="1600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</a:rPr>
              <a:t>① 준비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249424"/>
            <a:ext cx="1737360" cy="594360"/>
          </a:xfrm>
          <a:prstGeom prst="rect">
            <a:avLst/>
          </a:prstGeom>
          <a:solidFill>
            <a:srgbClr val="D9F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8912" y="2286000"/>
            <a:ext cx="1600200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1A1A1A"/>
                </a:solidFill>
              </a:rPr>
              <a:t>회로도 핀맵
작성 (CSV)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39696" y="2331720"/>
            <a:ext cx="2011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07C10"/>
                </a:solidFill>
              </a:rPr>
              <a:t>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86000" y="1755648"/>
            <a:ext cx="1737360" cy="475488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359152" y="1783080"/>
            <a:ext cx="1600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</a:rPr>
              <a:t>② 핀 검증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286000" y="2249424"/>
            <a:ext cx="1737360" cy="594360"/>
          </a:xfrm>
          <a:prstGeom prst="rect">
            <a:avLst/>
          </a:prstGeom>
          <a:solidFill>
            <a:srgbClr val="D9F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359152" y="2286000"/>
            <a:ext cx="1600200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1A1A1A"/>
                </a:solidFill>
              </a:rPr>
              <a:t>Step 1 Agent
실행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59935" y="2331720"/>
            <a:ext cx="2011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0392B"/>
                </a:solidFill>
              </a:rPr>
              <a:t>▶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06240" y="1755648"/>
            <a:ext cx="1737360" cy="475488"/>
          </a:xfrm>
          <a:prstGeom prst="rect">
            <a:avLst/>
          </a:prstGeom>
          <a:solidFill>
            <a:srgbClr val="E6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279392" y="1783080"/>
            <a:ext cx="1600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</a:rPr>
              <a:t>③ 검증 게이트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206240" y="2249424"/>
            <a:ext cx="1737360" cy="594360"/>
          </a:xfrm>
          <a:prstGeom prst="rect">
            <a:avLst/>
          </a:prstGeom>
          <a:solidFill>
            <a:srgbClr val="FFF0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279392" y="2286000"/>
            <a:ext cx="1600200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1A1A1A"/>
                </a:solidFill>
              </a:rPr>
              <a:t>PASS만
Step 2 진행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80176" y="2331720"/>
            <a:ext cx="2011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07C10"/>
                </a:solidFill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26480" y="1755648"/>
            <a:ext cx="1737360" cy="475488"/>
          </a:xfrm>
          <a:prstGeom prst="rect">
            <a:avLst/>
          </a:prstGeom>
          <a:solidFill>
            <a:srgbClr val="007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199632" y="1783080"/>
            <a:ext cx="1600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</a:rPr>
              <a:t>④ HAL 코드 생성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26480" y="2249424"/>
            <a:ext cx="1737360" cy="594360"/>
          </a:xfrm>
          <a:prstGeom prst="rect">
            <a:avLst/>
          </a:prstGeom>
          <a:solidFill>
            <a:srgbClr val="D9F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99632" y="2286000"/>
            <a:ext cx="1600200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1A1A1A"/>
                </a:solidFill>
              </a:rPr>
              <a:t>Step 2
CubeMX 자동화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00416" y="2331720"/>
            <a:ext cx="2011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07C10"/>
                </a:solidFill>
              </a:rPr>
              <a:t>▶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46720" y="1755648"/>
            <a:ext cx="1737360" cy="475488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19872" y="1783080"/>
            <a:ext cx="1600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</a:rPr>
              <a:t>⑤ 알고리즘 통합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046720" y="2249424"/>
            <a:ext cx="1737360" cy="594360"/>
          </a:xfrm>
          <a:prstGeom prst="rect">
            <a:avLst/>
          </a:prstGeom>
          <a:solidFill>
            <a:srgbClr val="D9F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119872" y="2286000"/>
            <a:ext cx="1600200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1A1A1A"/>
                </a:solidFill>
              </a:rPr>
              <a:t>Step 3 Agent
실행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820656" y="2331720"/>
            <a:ext cx="2011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07C10"/>
                </a:solidFill>
              </a:rPr>
              <a:t>▶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966960" y="1755648"/>
            <a:ext cx="1737360" cy="475488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040112" y="1783080"/>
            <a:ext cx="1600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</a:rPr>
              <a:t>⑥ 빌드 확인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966960" y="2249424"/>
            <a:ext cx="1737360" cy="594360"/>
          </a:xfrm>
          <a:prstGeom prst="rect">
            <a:avLst/>
          </a:prstGeom>
          <a:solidFill>
            <a:srgbClr val="D9F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040112" y="2286000"/>
            <a:ext cx="1600200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1A1A1A"/>
                </a:solidFill>
              </a:rPr>
              <a:t>컴파일 &amp;
검증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286000" y="2926080"/>
            <a:ext cx="1737360" cy="384048"/>
          </a:xfrm>
          <a:prstGeom prst="rect">
            <a:avLst/>
          </a:prstGeom>
          <a:solidFill>
            <a:srgbClr val="FF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286000" y="2926080"/>
            <a:ext cx="1737360" cy="384048"/>
          </a:xfrm>
          <a:prstGeom prst="rect">
            <a:avLst/>
          </a:prstGeom>
          <a:noFill/>
          <a:ln w="1905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331720" y="295351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C0392B"/>
                </a:solidFill>
              </a:rPr>
              <a:t>FAIL ↓  오류 리포트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286000" y="3337560"/>
            <a:ext cx="1737360" cy="530352"/>
          </a:xfrm>
          <a:prstGeom prst="rect">
            <a:avLst/>
          </a:prstGeom>
          <a:solidFill>
            <a:srgbClr val="FF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331720" y="3364992"/>
            <a:ext cx="16459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C0392B"/>
                </a:solidFill>
              </a:rPr>
              <a:t>회로도 수정
후 ① 재실행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063240" y="2834640"/>
            <a:ext cx="320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C0392B"/>
                </a:solidFill>
              </a:rPr>
              <a:t>↓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65760" y="301752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07C10"/>
                </a:solidFill>
              </a:rPr>
              <a:t>입력 파일 포맷 (CSV 예시)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65760" y="3401568"/>
            <a:ext cx="5303520" cy="306324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2920" y="3447288"/>
            <a:ext cx="5120640" cy="2971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EF5B0"/>
                </a:solidFill>
              </a:rPr>
              <a:t>chip,STM32G474RET6
hse_mhz,24
sysclk_mhz,170
pin,function,label
PA8,TIM1_CH1,PWM_UH
PA7,TIM1_CH1N,PWM_UL
PA9,TIM1_CH2,PWM_VH
PB0,TIM1_CH2N,PWM_VL
PA10,TIM1_CH3,PWM_WH
PB1,TIM1_CH3N,PWM_WL
PA0,TIM2_CH1,ENC_A
PA1,TIM2_CH2,ENC_B
PB8,FDCAN1_RX,CAN_RX
PB9,FDCAN1_TX,CAN_TX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217920" y="3017520"/>
            <a:ext cx="5577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07C10"/>
                </a:solidFill>
              </a:rPr>
              <a:t>기능 요구사항 — 자연어 프롬프트 입력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217920" y="3346704"/>
            <a:ext cx="55778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06060"/>
                </a:solidFill>
              </a:rPr>
              <a:t>HW 개발자가 자유롭게 작성 → LLM이 파싱하여 핀 검증 수행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217920" y="3593592"/>
            <a:ext cx="5577840" cy="2468880"/>
          </a:xfrm>
          <a:prstGeom prst="rect">
            <a:avLst/>
          </a:prstGeom>
          <a:solidFill>
            <a:srgbClr val="1A2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217920" y="3593592"/>
            <a:ext cx="64008" cy="2468880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373368" y="3639312"/>
            <a:ext cx="53492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EF5B0"/>
                </a:solidFill>
              </a:rPr>
              <a:t>STM32G474RET6 칩을 쓸 거고,
외부 크리스탈 24MHz / 시스템 170MHz야.
BLDC 모터 1개를 FOC로 제어할 건데
증분형 엔코더(A/B/Z)로 각도 읽고,
3상 6채널 PWM으로 인버터 구동해.
데드타임은 500ns, 전류는 내부 OPAMP.
통신은 FDCAN 1Mbps 쓰고,
파라미터 저장용으로 SPI EEPROM도
연결할 거야. (CS: PA4)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217920" y="6099048"/>
            <a:ext cx="5577840" cy="365760"/>
          </a:xfrm>
          <a:prstGeom prst="rect">
            <a:avLst/>
          </a:prstGeom>
          <a:solidFill>
            <a:srgbClr val="D9F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263640" y="6126480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401A"/>
                </a:solidFill>
              </a:rPr>
              <a:t>포함 권장: 칩명 · 클럭 · 모터종류/제어방식 · 피드백센서 · PWM채널수 · 통신프로토콜 · 외부장치(EEPROM 등)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사용 가이드 ① — Step 1 : 핀 검증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4980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FFFFFF"/>
                </a:solidFill>
              </a:rPr>
              <a:t>회로도 핀맵 CSV + 자연어 프롬프트 입력 → LLM 파싱 → 검증 리포트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105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STM32G4 회로도 검증 &amp; 펌웨어 자동 생성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5105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</a:rPr>
              <a:t>15 / 36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234440"/>
            <a:ext cx="2011680" cy="320040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1252728"/>
            <a:ext cx="1920240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사용 가이드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69164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07C10"/>
                </a:solidFill>
              </a:rPr>
              <a:t>실행 순서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084831"/>
            <a:ext cx="5303520" cy="420624"/>
          </a:xfrm>
          <a:prstGeom prst="rect">
            <a:avLst/>
          </a:prstGeom>
          <a:solidFill>
            <a:srgbClr val="D9F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121408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</a:rPr>
              <a:t>1.  웹 UI 접속  (http://dgx-spark:3000)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542032"/>
            <a:ext cx="5303520" cy="4206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2578608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</a:rPr>
              <a:t>2.  핀맵 CSV 파일 업로드 (회로도에서 추출)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2999232"/>
            <a:ext cx="5303520" cy="420624"/>
          </a:xfrm>
          <a:prstGeom prst="rect">
            <a:avLst/>
          </a:prstGeom>
          <a:solidFill>
            <a:srgbClr val="D9F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3035808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</a:rPr>
              <a:t>3.  기능 요구사항을 자연어로 입력 (프롬프트 가이드 참고)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456432"/>
            <a:ext cx="5303520" cy="4206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3493008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</a:rPr>
              <a:t>4.  [핀 검증 실행] 버튼 클릭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3913631"/>
            <a:ext cx="5303520" cy="420624"/>
          </a:xfrm>
          <a:prstGeom prst="rect">
            <a:avLst/>
          </a:prstGeom>
          <a:solidFill>
            <a:srgbClr val="D9F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3950208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</a:rPr>
              <a:t>5.  검증 결과 리포트 확인 (PASS / FAIL)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4416552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07C10"/>
                </a:solidFill>
              </a:rPr>
              <a:t>프롬프트 작성 가이드 (이런 내용을 포함하세요)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4718304"/>
            <a:ext cx="1188720" cy="246888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84048" y="4736592"/>
            <a:ext cx="1152144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</a:rPr>
              <a:t>칩 정보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572768" y="4718304"/>
            <a:ext cx="4096512" cy="246888"/>
          </a:xfrm>
          <a:prstGeom prst="rect">
            <a:avLst/>
          </a:prstGeom>
          <a:solidFill>
            <a:srgbClr val="D9F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664208" y="4745736"/>
            <a:ext cx="3931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어떤 STM32G4 칩인지, 외부 크리스탈, 동작 클럭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5001768"/>
            <a:ext cx="1188720" cy="246888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84048" y="5020055"/>
            <a:ext cx="1152144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</a:rPr>
              <a:t>모터/제어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572768" y="5001768"/>
            <a:ext cx="4096512" cy="2468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664208" y="5029200"/>
            <a:ext cx="3931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모터 종류(BLDC/DC), 제어 방식(FOC/6-step/듀티), 축 수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" y="5285232"/>
            <a:ext cx="1188720" cy="246888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84048" y="5303520"/>
            <a:ext cx="1152144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</a:rPr>
              <a:t>피드백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572768" y="5285232"/>
            <a:ext cx="4096512" cy="246888"/>
          </a:xfrm>
          <a:prstGeom prst="rect">
            <a:avLst/>
          </a:prstGeom>
          <a:solidFill>
            <a:srgbClr val="D9F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664208" y="5312664"/>
            <a:ext cx="3931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엔코더(증분/절대), Hall 센서, 리졸버 등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5568696"/>
            <a:ext cx="1188720" cy="246888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84048" y="5586983"/>
            <a:ext cx="1152144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</a:rPr>
              <a:t>PWM/인버터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572768" y="5568696"/>
            <a:ext cx="4096512" cy="2468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664208" y="5596128"/>
            <a:ext cx="3931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채널 수, 데드타임, 전류 감지 방법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65760" y="5852160"/>
            <a:ext cx="1188720" cy="246888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84048" y="5870448"/>
            <a:ext cx="1152144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</a:rPr>
              <a:t>통신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572768" y="5852160"/>
            <a:ext cx="4096512" cy="246888"/>
          </a:xfrm>
          <a:prstGeom prst="rect">
            <a:avLst/>
          </a:prstGeom>
          <a:solidFill>
            <a:srgbClr val="D9F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664208" y="5879592"/>
            <a:ext cx="3931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FDCAN, UART, SPI, I2C 및 속도/주소 등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6135624"/>
            <a:ext cx="1188720" cy="246888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84048" y="6153912"/>
            <a:ext cx="1152144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</a:rPr>
              <a:t>외부 장치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572768" y="6135624"/>
            <a:ext cx="4096512" cy="2468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664208" y="6163056"/>
            <a:ext cx="3931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EEPROM, 센서, 디스플레이 등 연결 장치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217920" y="1691640"/>
            <a:ext cx="5577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07C10"/>
                </a:solidFill>
              </a:rPr>
              <a:t>검증 리포트 출력 예시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217920" y="2084831"/>
            <a:ext cx="5303520" cy="260604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355080" y="2130552"/>
            <a:ext cx="5120640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EF5B0"/>
                </a:solidFill>
              </a:rPr>
              <a:t>✅ 검증 통과 (PASS)
────────────────────────────
PIN    FUNCTION     AF    STATUS
PA8    TIM1_CH1     AF6   OK
PA7    TIM1_CH1N    AF6   OK
PA9    TIM1_CH2     AF6   OK
PB8    FDCAN1_RX    AF9   OK
PB9    FDCAN1_TX    AF9   OK
⚠ 경고 (Warnings)
• PA0 : 풀업 저항 미설정 권장
• TIM1 데드타임 500ns 설정 필요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217920" y="4754880"/>
            <a:ext cx="5303520" cy="1664208"/>
          </a:xfrm>
          <a:prstGeom prst="rect">
            <a:avLst/>
          </a:prstGeom>
          <a:solidFill>
            <a:srgbClr val="2A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355080" y="4800600"/>
            <a:ext cx="5120640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9A9A"/>
                </a:solidFill>
              </a:rPr>
              <a:t>❌ 검증 실패 (FAIL)
────────────────────────────
ERROR: PA9 — TIM1_CH2 ≠ AF6
  └ PA9의 TIM1_CH2는 AF6이지만
    회로도에 AF7로 설정됨
ERROR: PB10 — I2C2_SCL 핀 중복
  └ PB10이 FDCAN1_TX와 충돌
→ 회로도 수정 후 재검증 필요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65760" y="5212080"/>
            <a:ext cx="5303520" cy="566928"/>
          </a:xfrm>
          <a:prstGeom prst="rect">
            <a:avLst/>
          </a:prstGeom>
          <a:solidFill>
            <a:srgbClr val="D9F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365760" y="5212080"/>
            <a:ext cx="64008" cy="566928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02920" y="5239512"/>
            <a:ext cx="5120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107C10"/>
                </a:solidFill>
              </a:rPr>
              <a:t>✅  PASS :  errors[ ] == 0 → Step 2 자동 진행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02920" y="5486400"/>
            <a:ext cx="5120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606060"/>
                </a:solidFill>
              </a:rPr>
              <a:t>경고(warnings)는 리포트에 표시하되 진행은 허용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217920" y="5212080"/>
            <a:ext cx="5577840" cy="566928"/>
          </a:xfrm>
          <a:prstGeom prst="rect">
            <a:avLst/>
          </a:prstGeom>
          <a:solidFill>
            <a:srgbClr val="FF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217920" y="5212080"/>
            <a:ext cx="64008" cy="566928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355080" y="5239512"/>
            <a:ext cx="5349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C0392B"/>
                </a:solidFill>
              </a:rPr>
              <a:t>❌  FAIL :  errors[ ] &gt; 0 → Step 2·3 완전 차단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355080" y="5486400"/>
            <a:ext cx="5349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606060"/>
                </a:solidFill>
              </a:rPr>
              <a:t>오류 핀 목록 + 원인 리포트 → 회로도 수정 후 Step 1 재실행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사용 가이드 ② — Step 2 : CubeMX 코드 자동 생성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4980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FFFFFF"/>
                </a:solidFill>
              </a:rPr>
              <a:t>Step 1 PASS 확인 후 자동 진행 — 사용자 조작 불필요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105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STM32G4 회로도 검증 &amp; 펌웨어 자동 생성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5105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</a:rPr>
              <a:t>16 / 36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234440"/>
            <a:ext cx="2011680" cy="320040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1252728"/>
            <a:ext cx="1920240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사용 가이드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1691640"/>
            <a:ext cx="11430000" cy="475488"/>
          </a:xfrm>
          <a:prstGeom prst="rect">
            <a:avLst/>
          </a:prstGeom>
          <a:solidFill>
            <a:srgbClr val="007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737360"/>
            <a:ext cx="11064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50" b="1" i="0">
                <a:solidFill>
                  <a:srgbClr val="FFFFFF"/>
                </a:solidFill>
              </a:rPr>
              <a:t>🔒 검증 게이트 통과 후에만 실행됩니다.  errors[ ] &gt; 0 이면 이 화면에 진입 불가.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286000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7A8A"/>
                </a:solidFill>
              </a:rPr>
              <a:t>내부 처리 과정 (투명하게 표시)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697480"/>
            <a:ext cx="475488" cy="475488"/>
          </a:xfrm>
          <a:prstGeom prst="rect">
            <a:avLst/>
          </a:prstGeom>
          <a:solidFill>
            <a:srgbClr val="007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2715768"/>
            <a:ext cx="47548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8680" y="2697480"/>
            <a:ext cx="10972800" cy="475488"/>
          </a:xfrm>
          <a:prstGeom prst="rect">
            <a:avLst/>
          </a:prstGeom>
          <a:solidFill>
            <a:srgbClr val="D0F0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2734056"/>
            <a:ext cx="25603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7A8A"/>
                </a:solidFill>
              </a:rPr>
              <a:t>핀 JSON 수신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03320" y="2734056"/>
            <a:ext cx="7955279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</a:rPr>
              <a:t>Step 1의 검증 완료 JSON (chip, pins[], peripherals[])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3291840"/>
            <a:ext cx="475488" cy="475488"/>
          </a:xfrm>
          <a:prstGeom prst="rect">
            <a:avLst/>
          </a:prstGeom>
          <a:solidFill>
            <a:srgbClr val="007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" y="3310128"/>
            <a:ext cx="47548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68680" y="3291840"/>
            <a:ext cx="1097280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3328416"/>
            <a:ext cx="25603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7A8A"/>
                </a:solidFill>
              </a:rPr>
              <a:t>.ioc 파일 생성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03320" y="3328416"/>
            <a:ext cx="7955279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</a:rPr>
              <a:t>Python 스크립트 → 핀 설정, 클럭, 주변장치 자동 작성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3886200"/>
            <a:ext cx="475488" cy="475488"/>
          </a:xfrm>
          <a:prstGeom prst="rect">
            <a:avLst/>
          </a:prstGeom>
          <a:solidFill>
            <a:srgbClr val="007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3904488"/>
            <a:ext cx="47548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68680" y="3886200"/>
            <a:ext cx="10972800" cy="475488"/>
          </a:xfrm>
          <a:prstGeom prst="rect">
            <a:avLst/>
          </a:prstGeom>
          <a:solidFill>
            <a:srgbClr val="D0F0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5840" y="3922776"/>
            <a:ext cx="25603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7A8A"/>
                </a:solidFill>
              </a:rPr>
              <a:t>CubeMX CLI 실행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03320" y="3922776"/>
            <a:ext cx="7955279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</a:rPr>
              <a:t>STM32CubeMX -q script.txt (백그라운드 실행, ~10~30초)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4480560"/>
            <a:ext cx="475488" cy="475488"/>
          </a:xfrm>
          <a:prstGeom prst="rect">
            <a:avLst/>
          </a:prstGeom>
          <a:solidFill>
            <a:srgbClr val="007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5760" y="4498848"/>
            <a:ext cx="47548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68680" y="4480560"/>
            <a:ext cx="1097280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05840" y="4517136"/>
            <a:ext cx="25603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7A8A"/>
                </a:solidFill>
              </a:rPr>
              <a:t>출력 파일 수집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03320" y="4517136"/>
            <a:ext cx="7955279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</a:rPr>
              <a:t>main.c / tim.c / adc.c / fdcan.c / cordic.c 수집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65760" y="5074920"/>
            <a:ext cx="475488" cy="475488"/>
          </a:xfrm>
          <a:prstGeom prst="rect">
            <a:avLst/>
          </a:prstGeom>
          <a:solidFill>
            <a:srgbClr val="007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65760" y="5093208"/>
            <a:ext cx="47548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68680" y="5074920"/>
            <a:ext cx="10972800" cy="475488"/>
          </a:xfrm>
          <a:prstGeom prst="rect">
            <a:avLst/>
          </a:prstGeom>
          <a:solidFill>
            <a:srgbClr val="D0F0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05840" y="5111496"/>
            <a:ext cx="25603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7A8A"/>
                </a:solidFill>
              </a:rPr>
              <a:t>USER CODE 영역 확인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703320" y="5111496"/>
            <a:ext cx="7955279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</a:rPr>
              <a:t>Step 3 LLM이 채울 영역 존재 여부 검증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65760" y="5733288"/>
            <a:ext cx="11430000" cy="640080"/>
          </a:xfrm>
          <a:prstGeom prst="rect">
            <a:avLst/>
          </a:prstGeom>
          <a:solidFill>
            <a:srgbClr val="D9F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65760" y="5733288"/>
            <a:ext cx="73152" cy="640080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8640" y="5779008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07C10"/>
                </a:solidFill>
              </a:rPr>
              <a:t>출력 확인 :  Streamlit 화면에서 생성된 파일 트리 확인 가능
main.c의 USER CODE BEGIN 영역을 미리보기로 표시 → Step 3 진행 확인 후 클릭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사용 가이드 ③ — Step 3 : 알고리즘 통합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4980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FFFFFF"/>
                </a:solidFill>
              </a:rPr>
              <a:t>CubeMX 생성 코드 + Golden Module → 완성 펌웨어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105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STM32G4 회로도 검증 &amp; 펌웨어 자동 생성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5105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</a:rPr>
              <a:t>17 / 36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234440"/>
            <a:ext cx="2011680" cy="320040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1252728"/>
            <a:ext cx="1920240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사용 가이드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69164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07C10"/>
                </a:solidFill>
              </a:rPr>
              <a:t>사용 방법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084831"/>
            <a:ext cx="5303520" cy="420624"/>
          </a:xfrm>
          <a:prstGeom prst="rect">
            <a:avLst/>
          </a:prstGeom>
          <a:solidFill>
            <a:srgbClr val="D9F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121408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</a:rPr>
              <a:t>1.  Step 2 완료 확인 후 [알고리즘 통합 실행] 버튼 클릭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542032"/>
            <a:ext cx="5303520" cy="4206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2578608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</a:rPr>
              <a:t>2.  LLM이 요구사항 JSON을 분석하여 필요한 Golden Module 자동 선택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2999232"/>
            <a:ext cx="5303520" cy="420624"/>
          </a:xfrm>
          <a:prstGeom prst="rect">
            <a:avLst/>
          </a:prstGeom>
          <a:solidFill>
            <a:srgbClr val="D9F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3035808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</a:rPr>
              <a:t>3.  선택된 모듈 목록 확인 (수동 추가/제거 가능)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456432"/>
            <a:ext cx="5303520" cy="4206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3493008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</a:rPr>
              <a:t>4.  [코드 생성 확정] 클릭 → Gemma 4 26B MoE 실행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3913631"/>
            <a:ext cx="5303520" cy="420624"/>
          </a:xfrm>
          <a:prstGeom prst="rect">
            <a:avLst/>
          </a:prstGeom>
          <a:solidFill>
            <a:srgbClr val="D9F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3950208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</a:rPr>
              <a:t>5.  생성 완료 후 코드 미리보기 확인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4370831"/>
            <a:ext cx="5303520" cy="4206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4407408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</a:rPr>
              <a:t>6.  [다운로드] 또는 프로젝트 폴더로 저장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7920" y="1691640"/>
            <a:ext cx="5577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07C10"/>
                </a:solidFill>
              </a:rPr>
              <a:t>자동 선택된 Golden Module 예시 (BLDC FOC + FDCAN)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17920" y="2084831"/>
            <a:ext cx="5577840" cy="402336"/>
          </a:xfrm>
          <a:prstGeom prst="rect">
            <a:avLst/>
          </a:prstGeom>
          <a:solidFill>
            <a:srgbClr val="D9F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09360" y="2121408"/>
            <a:ext cx="2743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</a:rPr>
              <a:t>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29400" y="2121408"/>
            <a:ext cx="228600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07C10"/>
                </a:solidFill>
              </a:rPr>
              <a:t>bldc_6step_hall.c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06840" y="2121408"/>
            <a:ext cx="265176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06060"/>
                </a:solidFill>
              </a:rPr>
              <a:t>6-step Hall + BRK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17920" y="2514600"/>
            <a:ext cx="5577840" cy="4023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09360" y="2551176"/>
            <a:ext cx="2743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</a:rPr>
              <a:t>✅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29400" y="2551176"/>
            <a:ext cx="228600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07C10"/>
                </a:solidFill>
              </a:rPr>
              <a:t>fdcan_motor_cmd.c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06840" y="2551176"/>
            <a:ext cx="265176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06060"/>
                </a:solidFill>
              </a:rPr>
              <a:t>FDCAN 핸들러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17920" y="2944368"/>
            <a:ext cx="5577840" cy="402336"/>
          </a:xfrm>
          <a:prstGeom prst="rect">
            <a:avLst/>
          </a:prstGeom>
          <a:solidFill>
            <a:srgbClr val="D9F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9360" y="2980944"/>
            <a:ext cx="2743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</a:rPr>
              <a:t>⬜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29400" y="2980944"/>
            <a:ext cx="228600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07C10"/>
                </a:solidFill>
              </a:rPr>
              <a:t>foc_clarke.c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006840" y="2980944"/>
            <a:ext cx="265176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06060"/>
                </a:solidFill>
              </a:rPr>
              <a:t>Clarke 변환 (가공 예정)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217920" y="3374135"/>
            <a:ext cx="5577840" cy="4023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09360" y="3410711"/>
            <a:ext cx="2743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</a:rPr>
              <a:t>⬜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29400" y="3410711"/>
            <a:ext cx="228600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07C10"/>
                </a:solidFill>
              </a:rPr>
              <a:t>foc_park.c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006840" y="3410711"/>
            <a:ext cx="265176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06060"/>
                </a:solidFill>
              </a:rPr>
              <a:t>Park 변환 (가공 예정)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217920" y="3803904"/>
            <a:ext cx="5577840" cy="402336"/>
          </a:xfrm>
          <a:prstGeom prst="rect">
            <a:avLst/>
          </a:prstGeom>
          <a:solidFill>
            <a:srgbClr val="D9F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309360" y="3840479"/>
            <a:ext cx="2743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</a:rPr>
              <a:t>⬜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629400" y="3840479"/>
            <a:ext cx="228600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07C10"/>
                </a:solidFill>
              </a:rPr>
              <a:t>foc_inv_park.c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006840" y="3840479"/>
            <a:ext cx="265176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06060"/>
                </a:solidFill>
              </a:rPr>
              <a:t>역 Park (가공 예정)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217920" y="4233671"/>
            <a:ext cx="5577840" cy="4023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309360" y="4270248"/>
            <a:ext cx="2743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</a:rPr>
              <a:t>⬜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629400" y="4270248"/>
            <a:ext cx="228600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07C10"/>
                </a:solidFill>
              </a:rPr>
              <a:t>foc_svpwm.c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006840" y="4270248"/>
            <a:ext cx="265176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06060"/>
                </a:solidFill>
              </a:rPr>
              <a:t>SVPWM (가공 예정)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217920" y="4663440"/>
            <a:ext cx="5577840" cy="402336"/>
          </a:xfrm>
          <a:prstGeom prst="rect">
            <a:avLst/>
          </a:prstGeom>
          <a:solidFill>
            <a:srgbClr val="D9F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309360" y="4700016"/>
            <a:ext cx="2743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</a:rPr>
              <a:t>⬜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629400" y="4700016"/>
            <a:ext cx="228600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07C10"/>
                </a:solidFill>
              </a:rPr>
              <a:t>foc_current_pi.c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006840" y="4700016"/>
            <a:ext cx="265176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06060"/>
                </a:solidFill>
              </a:rPr>
              <a:t>PI 제어기 (가공 예정)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217920" y="5093208"/>
            <a:ext cx="5577840" cy="4023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09360" y="5129783"/>
            <a:ext cx="2743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</a:rPr>
              <a:t>⬜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629400" y="5129783"/>
            <a:ext cx="228600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07C10"/>
                </a:solidFill>
              </a:rPr>
              <a:t>foc_angle_encoder.c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006840" y="5129783"/>
            <a:ext cx="265176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06060"/>
                </a:solidFill>
              </a:rPr>
              <a:t>엔코더 (가공 예정)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217920" y="5522975"/>
            <a:ext cx="5577840" cy="402336"/>
          </a:xfrm>
          <a:prstGeom prst="rect">
            <a:avLst/>
          </a:prstGeom>
          <a:solidFill>
            <a:srgbClr val="D9F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309360" y="5559552"/>
            <a:ext cx="2743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</a:rPr>
              <a:t>⬜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629400" y="5559552"/>
            <a:ext cx="228600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07C10"/>
                </a:solidFill>
              </a:rPr>
              <a:t>foc_current_sense.c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006840" y="5559552"/>
            <a:ext cx="265176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06060"/>
                </a:solidFill>
              </a:rPr>
              <a:t>전류 감지 (가공 예정)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937760"/>
            <a:ext cx="11430000" cy="594360"/>
          </a:xfrm>
          <a:prstGeom prst="rect">
            <a:avLst/>
          </a:prstGeom>
          <a:solidFill>
            <a:srgbClr val="D6E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48640" y="4983480"/>
            <a:ext cx="11064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B3A6B"/>
                </a:solidFill>
              </a:rPr>
              <a:t>💡  LLM이 삽입하는 코드 :  ADC ISR에 FOC 루틴 호출, FDCAN 콜백에 커맨드 파싱 연결, 메인 루프에 속도 제어 루프 추가 — HAL API는 건드리지 않음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사용 가이드 ④ — 결과 확인 &amp; 빌드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4980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FFFFFF"/>
                </a:solidFill>
              </a:rPr>
              <a:t>출력 파일 구조 · 빌드 방법 · 주의사항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105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STM32G4 회로도 검증 &amp; 펌웨어 자동 생성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5105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</a:rPr>
              <a:t>18 / 36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234440"/>
            <a:ext cx="2011680" cy="320040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1252728"/>
            <a:ext cx="1920240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사용 가이드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69164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07C10"/>
                </a:solidFill>
              </a:rPr>
              <a:t>최종 출력 파일 구조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084831"/>
            <a:ext cx="5303520" cy="315468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130552"/>
            <a:ext cx="5120640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DD8E6"/>
                </a:solidFill>
              </a:rPr>
              <a:t>project_output/
├── Core/Src/
│   ├── main.c           ← USER CODE 채워진 통합본
│   ├── tim.c / adc.c / fdcan.c / cordic.c
│   ├── motor_foc.c      ← FOC 알고리즘 통합
│   ├── motor_foc.h
│   └── fdcan_handler.c  ← FDCAN 핸들러
├── Core/Inc/
│   ├── main.h
│   └── motor_params.h   ← 모터 파라미터 설정
├── Drivers/             ← CubeMX HAL 라이브러리
└── Makefile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0" y="1691640"/>
            <a:ext cx="5577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07C10"/>
                </a:solidFill>
              </a:rPr>
              <a:t>빌드 &amp; 검증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2084831"/>
            <a:ext cx="1371600" cy="475488"/>
          </a:xfrm>
          <a:prstGeom prst="rect">
            <a:avLst/>
          </a:prstGeom>
          <a:solidFill>
            <a:srgbClr val="007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2121408"/>
            <a:ext cx="12801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컴파일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7808" y="2084831"/>
            <a:ext cx="4187952" cy="475488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99248" y="2121408"/>
            <a:ext cx="405993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EF5B0"/>
                </a:solidFill>
              </a:rPr>
              <a:t>make all  (arm-none-eabi-gcc)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17920" y="2615184"/>
            <a:ext cx="1371600" cy="475488"/>
          </a:xfrm>
          <a:prstGeom prst="rect">
            <a:avLst/>
          </a:prstGeom>
          <a:solidFill>
            <a:srgbClr val="007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2651760"/>
            <a:ext cx="12801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자동 검증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07808" y="2615184"/>
            <a:ext cx="4187952" cy="475488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699248" y="2651760"/>
            <a:ext cx="405993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EF5B0"/>
                </a:solidFill>
              </a:rPr>
              <a:t>CI 파이프라인 → 빌드 결과 Streamlit 표시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17920" y="3145535"/>
            <a:ext cx="1371600" cy="475488"/>
          </a:xfrm>
          <a:prstGeom prst="rect">
            <a:avLst/>
          </a:prstGeom>
          <a:solidFill>
            <a:srgbClr val="007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63640" y="3182111"/>
            <a:ext cx="12801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플래싱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07808" y="3145535"/>
            <a:ext cx="4187952" cy="475488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699248" y="3182111"/>
            <a:ext cx="405993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EF5B0"/>
                </a:solidFill>
              </a:rPr>
              <a:t>make flash  (OpenOCD / ST-Link)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17920" y="3675887"/>
            <a:ext cx="1371600" cy="475488"/>
          </a:xfrm>
          <a:prstGeom prst="rect">
            <a:avLst/>
          </a:prstGeom>
          <a:solidFill>
            <a:srgbClr val="007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63640" y="3712463"/>
            <a:ext cx="12801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디버그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607808" y="3675887"/>
            <a:ext cx="4187952" cy="475488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99248" y="3712463"/>
            <a:ext cx="405993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EF5B0"/>
                </a:solidFill>
              </a:rPr>
              <a:t>make debug  (GDB + OpenOCD)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17920" y="4251960"/>
            <a:ext cx="5577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66C00"/>
                </a:solidFill>
              </a:rPr>
              <a:t>주의사항 &amp; 권장 작업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17920" y="4645152"/>
            <a:ext cx="5577840" cy="393192"/>
          </a:xfrm>
          <a:prstGeom prst="rect">
            <a:avLst/>
          </a:prstGeom>
          <a:solidFill>
            <a:srgbClr val="FFF0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55080" y="4681728"/>
            <a:ext cx="5394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⚠  모터 파라미터 (Rs, Ld, Lq, Flux) 실측 후 motor_params.h 수정 필수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17920" y="5074920"/>
            <a:ext cx="5577840" cy="393192"/>
          </a:xfrm>
          <a:prstGeom prst="rect">
            <a:avLst/>
          </a:prstGeom>
          <a:solidFill>
            <a:srgbClr val="FFF0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55080" y="5111496"/>
            <a:ext cx="5394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⚠  FDCAN ID 및 메시지 포맷은 프로젝트 CAN 스펙에 맞게 확인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217920" y="5504688"/>
            <a:ext cx="5577840" cy="393192"/>
          </a:xfrm>
          <a:prstGeom prst="rect">
            <a:avLst/>
          </a:prstGeom>
          <a:solidFill>
            <a:srgbClr val="FFF0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55080" y="5541264"/>
            <a:ext cx="5394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⚠  데드타임 설정값은 사용 드라이버 IC 스펙 확인 후 수정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217920" y="5934456"/>
            <a:ext cx="5577840" cy="393192"/>
          </a:xfrm>
          <a:prstGeom prst="rect">
            <a:avLst/>
          </a:prstGeom>
          <a:solidFill>
            <a:srgbClr val="FFF0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55080" y="5971032"/>
            <a:ext cx="5394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⚠  처음 실행 시 무부하 + 저속으로 FOC 루프 튜닝 권장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UI 화면 예시 ① — 메인 대시보드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4980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FFFFFF"/>
                </a:solidFill>
              </a:rPr>
              <a:t>브라우저 접속 초기 화면 — 프로젝트 현황 및 Step 진입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105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STM32G4 회로도 검증 &amp; 펌웨어 자동 생성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5105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</a:rPr>
              <a:t>19 / 36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234440"/>
            <a:ext cx="1645920" cy="320040"/>
          </a:xfrm>
          <a:prstGeom prst="rect">
            <a:avLst/>
          </a:prstGeom>
          <a:solidFill>
            <a:srgbClr val="007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1252728"/>
            <a:ext cx="1554480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UI 예시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1691640"/>
            <a:ext cx="11548872" cy="246888"/>
          </a:xfrm>
          <a:prstGeom prst="rect">
            <a:avLst/>
          </a:prstGeom>
          <a:solidFill>
            <a:srgbClr val="3C3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79" y="1719072"/>
            <a:ext cx="54864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AAAAAA"/>
                </a:solidFill>
              </a:rPr>
              <a:t>* * *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97280" y="1728216"/>
            <a:ext cx="6949440" cy="164592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" y="1728216"/>
            <a:ext cx="68580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DDDDD"/>
                </a:solidFill>
              </a:rPr>
              <a:t>http://dgx-spark:3000  —  STM32G4 Agent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" y="1938528"/>
            <a:ext cx="11548872" cy="347472"/>
          </a:xfrm>
          <a:prstGeom prst="rect">
            <a:avLst/>
          </a:prstGeom>
          <a:solidFill>
            <a:srgbClr val="0F24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1984248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STM32G4 Agent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479" y="2002536"/>
            <a:ext cx="43891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0B4CC"/>
                </a:solidFill>
              </a:rPr>
              <a:t>대시보드     작업이력     설정     도움말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835640" y="1965960"/>
            <a:ext cx="274320" cy="274320"/>
          </a:xfrm>
          <a:prstGeom prst="rect">
            <a:avLst/>
          </a:prstGeom>
          <a:solidFill>
            <a:srgbClr val="007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835640" y="196596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0040" y="2286000"/>
            <a:ext cx="11548872" cy="41605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20040" y="2286000"/>
            <a:ext cx="1737360" cy="4160520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8056" y="2414016"/>
            <a:ext cx="14630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718296"/>
                </a:solidFill>
              </a:rPr>
              <a:t>MENU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0040" y="2633472"/>
            <a:ext cx="1737360" cy="420624"/>
          </a:xfrm>
          <a:prstGeom prst="rect">
            <a:avLst/>
          </a:prstGeom>
          <a:solidFill>
            <a:srgbClr val="2D6A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29768" y="2679192"/>
            <a:ext cx="1600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</a:rPr>
              <a:t>Home  대시보드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0040" y="3090672"/>
            <a:ext cx="1737360" cy="420624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9768" y="3136392"/>
            <a:ext cx="1600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0B4CC"/>
                </a:solidFill>
              </a:rPr>
              <a:t>01    핀 검증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0040" y="3547872"/>
            <a:ext cx="1737360" cy="420624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29768" y="3593592"/>
            <a:ext cx="1600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0B4CC"/>
                </a:solidFill>
              </a:rPr>
              <a:t>02    코드 생성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0040" y="4005072"/>
            <a:ext cx="1737360" cy="420624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29768" y="4050791"/>
            <a:ext cx="1600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0B4CC"/>
                </a:solidFill>
              </a:rPr>
              <a:t>03    알고리즘 통합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20040" y="4462272"/>
            <a:ext cx="1737360" cy="420624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9768" y="4507992"/>
            <a:ext cx="1600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0B4CC"/>
                </a:solidFill>
              </a:rPr>
              <a:t>Hist  작업 이력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20040" y="4919472"/>
            <a:ext cx="1737360" cy="420624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29768" y="4965192"/>
            <a:ext cx="1600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0B4CC"/>
                </a:solidFill>
              </a:rPr>
              <a:t>Cfg   설정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240279" y="23774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02C"/>
                </a:solidFill>
              </a:rPr>
              <a:t>대시보드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240279" y="2670048"/>
            <a:ext cx="6858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18296"/>
                </a:solidFill>
              </a:rPr>
              <a:t>현재 프로젝트: BLDC_Motor_v2  |  STM32G474RET6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240279" y="2907792"/>
            <a:ext cx="2834640" cy="91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240279" y="2907792"/>
            <a:ext cx="64008" cy="914400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404872" y="295351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718296"/>
                </a:solidFill>
              </a:rPr>
              <a:t>STEP 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404872" y="3145536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02C"/>
                </a:solidFill>
              </a:rPr>
              <a:t>핀 검증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404872" y="3447288"/>
            <a:ext cx="960120" cy="201168"/>
          </a:xfrm>
          <a:prstGeom prst="rect">
            <a:avLst/>
          </a:prstGeom>
          <a:solidFill>
            <a:srgbClr val="C6F6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404872" y="3456432"/>
            <a:ext cx="96012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22543D"/>
                </a:solidFill>
              </a:rPr>
              <a:t>PASS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404872" y="368503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718296"/>
                </a:solidFill>
              </a:rPr>
              <a:t>오류 0건  경고 1건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257800" y="2907792"/>
            <a:ext cx="2834640" cy="91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257800" y="2907792"/>
            <a:ext cx="64008" cy="914400"/>
          </a:xfrm>
          <a:prstGeom prst="rect">
            <a:avLst/>
          </a:prstGeom>
          <a:solidFill>
            <a:srgbClr val="007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422392" y="295351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718296"/>
                </a:solidFill>
              </a:rPr>
              <a:t>STEP 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422392" y="3145536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02C"/>
                </a:solidFill>
              </a:rPr>
              <a:t>HAL 코드 생성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422392" y="3447288"/>
            <a:ext cx="960120" cy="201168"/>
          </a:xfrm>
          <a:prstGeom prst="rect">
            <a:avLst/>
          </a:prstGeom>
          <a:solidFill>
            <a:srgbClr val="BEE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422392" y="3456432"/>
            <a:ext cx="96012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1A365D"/>
                </a:solidFill>
              </a:rPr>
              <a:t>완료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22392" y="368503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718296"/>
                </a:solidFill>
              </a:rPr>
              <a:t>파일 5개 생성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275319" y="2907792"/>
            <a:ext cx="2834640" cy="91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8275319" y="2907792"/>
            <a:ext cx="64008" cy="914400"/>
          </a:xfrm>
          <a:prstGeom prst="rect">
            <a:avLst/>
          </a:prstGeom>
          <a:solidFill>
            <a:srgbClr val="7182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439911" y="295351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718296"/>
                </a:solidFill>
              </a:rPr>
              <a:t>STEP 3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439911" y="3145536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02C"/>
                </a:solidFill>
              </a:rPr>
              <a:t>알고리즘 통합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439911" y="3447288"/>
            <a:ext cx="960120" cy="201168"/>
          </a:xfrm>
          <a:prstGeom prst="rect">
            <a:avLst/>
          </a:prstGeom>
          <a:solidFill>
            <a:srgbClr val="EDED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439911" y="3456432"/>
            <a:ext cx="96012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777777"/>
                </a:solidFill>
              </a:rPr>
              <a:t>대기중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439911" y="368503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718296"/>
                </a:solidFill>
              </a:rPr>
              <a:t>Step 2 완료 후 진행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240279" y="3950208"/>
            <a:ext cx="4572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02C"/>
                </a:solidFill>
              </a:rPr>
              <a:t>최근 작업 이력</a:t>
            </a:r>
          </a:p>
        </p:txBody>
      </p:sp>
      <p:sp>
        <p:nvSpPr>
          <p:cNvPr id="59" name="Rectangle 58"/>
          <p:cNvSpPr/>
          <p:nvPr/>
        </p:nvSpPr>
        <p:spPr>
          <a:xfrm>
            <a:off x="2240279" y="4224528"/>
            <a:ext cx="9537192" cy="228600"/>
          </a:xfrm>
          <a:prstGeom prst="rect">
            <a:avLst/>
          </a:prstGeom>
          <a:solidFill>
            <a:srgbClr val="ED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331720" y="4242816"/>
            <a:ext cx="251460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718296"/>
                </a:solidFill>
              </a:rPr>
              <a:t>프로젝트명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892040" y="4242816"/>
            <a:ext cx="1783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718296"/>
                </a:solidFill>
              </a:rPr>
              <a:t>칩 모델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720840" y="4242816"/>
            <a:ext cx="1463039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718296"/>
                </a:solidFill>
              </a:rPr>
              <a:t>상태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229600" y="4242816"/>
            <a:ext cx="150876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718296"/>
                </a:solidFill>
              </a:rPr>
              <a:t>날짜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784080" y="4242816"/>
            <a:ext cx="1234439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718296"/>
                </a:solidFill>
              </a:rPr>
              <a:t>담당자</a:t>
            </a:r>
          </a:p>
        </p:txBody>
      </p:sp>
      <p:sp>
        <p:nvSpPr>
          <p:cNvPr id="65" name="Rectangle 64"/>
          <p:cNvSpPr/>
          <p:nvPr/>
        </p:nvSpPr>
        <p:spPr>
          <a:xfrm>
            <a:off x="2240279" y="4453128"/>
            <a:ext cx="9537192" cy="2834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2331720" y="4489704"/>
            <a:ext cx="2514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BLDC_Motor_v2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892040" y="4489704"/>
            <a:ext cx="1783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STM32G474RET6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720840" y="4489704"/>
            <a:ext cx="146303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07C10"/>
                </a:solidFill>
              </a:rPr>
              <a:t>PASS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229600" y="4489704"/>
            <a:ext cx="1508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2026-04-10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784080" y="4489704"/>
            <a:ext cx="123443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김철수</a:t>
            </a:r>
          </a:p>
        </p:txBody>
      </p:sp>
      <p:sp>
        <p:nvSpPr>
          <p:cNvPr id="71" name="Rectangle 70"/>
          <p:cNvSpPr/>
          <p:nvPr/>
        </p:nvSpPr>
        <p:spPr>
          <a:xfrm>
            <a:off x="2240279" y="4754880"/>
            <a:ext cx="9537192" cy="283464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331720" y="4791456"/>
            <a:ext cx="2514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DC_Conv_3kW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892040" y="4791456"/>
            <a:ext cx="1783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STM32G431KBT6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720840" y="4791456"/>
            <a:ext cx="146303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66C00"/>
                </a:solidFill>
              </a:rPr>
              <a:t>경고 1건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229600" y="4791456"/>
            <a:ext cx="1508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2026-04-09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784080" y="4791456"/>
            <a:ext cx="123443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이영희</a:t>
            </a:r>
          </a:p>
        </p:txBody>
      </p:sp>
      <p:sp>
        <p:nvSpPr>
          <p:cNvPr id="77" name="Rectangle 76"/>
          <p:cNvSpPr/>
          <p:nvPr/>
        </p:nvSpPr>
        <p:spPr>
          <a:xfrm>
            <a:off x="2240279" y="5056632"/>
            <a:ext cx="9537192" cy="2834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2331720" y="5093208"/>
            <a:ext cx="2514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EPS_Controller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892040" y="5093208"/>
            <a:ext cx="1783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STM32G474VET6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720840" y="5093208"/>
            <a:ext cx="146303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0392B"/>
                </a:solidFill>
              </a:rPr>
              <a:t>오류 2건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229600" y="5093208"/>
            <a:ext cx="1508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2026-04-08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784080" y="5093208"/>
            <a:ext cx="123443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박민준</a:t>
            </a:r>
          </a:p>
        </p:txBody>
      </p:sp>
      <p:sp>
        <p:nvSpPr>
          <p:cNvPr id="83" name="Rectangle 82"/>
          <p:cNvSpPr/>
          <p:nvPr/>
        </p:nvSpPr>
        <p:spPr>
          <a:xfrm>
            <a:off x="2240279" y="5541264"/>
            <a:ext cx="2377440" cy="347472"/>
          </a:xfrm>
          <a:prstGeom prst="rect">
            <a:avLst/>
          </a:prstGeom>
          <a:solidFill>
            <a:srgbClr val="2E6D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2286000" y="5586984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+  새 프로젝트 시작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UI 화면 예시 ② — Step 1 핀 검증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4980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FFFFFF"/>
                </a:solidFill>
              </a:rPr>
              <a:t>CSV 업로드 + 요구사항 JSON 입력 → 검증 결과 실시간 표시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105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STM32G4 회로도 검증 &amp; 펌웨어 자동 생성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5105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</a:rPr>
              <a:t>20 / 36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234440"/>
            <a:ext cx="1645920" cy="320040"/>
          </a:xfrm>
          <a:prstGeom prst="rect">
            <a:avLst/>
          </a:prstGeom>
          <a:solidFill>
            <a:srgbClr val="007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1252728"/>
            <a:ext cx="1554480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UI 예시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1691640"/>
            <a:ext cx="11548872" cy="246888"/>
          </a:xfrm>
          <a:prstGeom prst="rect">
            <a:avLst/>
          </a:prstGeom>
          <a:solidFill>
            <a:srgbClr val="3C3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79" y="1719072"/>
            <a:ext cx="54864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AAAAAA"/>
                </a:solidFill>
              </a:rPr>
              <a:t>* * *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97280" y="1728216"/>
            <a:ext cx="6949440" cy="164592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" y="1728216"/>
            <a:ext cx="68580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DDDDD"/>
                </a:solidFill>
              </a:rPr>
              <a:t>http://dgx-spark:3000/step1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" y="1938528"/>
            <a:ext cx="11548872" cy="347472"/>
          </a:xfrm>
          <a:prstGeom prst="rect">
            <a:avLst/>
          </a:prstGeom>
          <a:solidFill>
            <a:srgbClr val="0F24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1984248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STM32G4 Agent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09560" y="2002536"/>
            <a:ext cx="36576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0B4CC"/>
                </a:solidFill>
              </a:rPr>
              <a:t>대시보드     작업이력     설정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835640" y="1965960"/>
            <a:ext cx="274320" cy="274320"/>
          </a:xfrm>
          <a:prstGeom prst="rect">
            <a:avLst/>
          </a:prstGeom>
          <a:solidFill>
            <a:srgbClr val="007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835640" y="196596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0040" y="2286000"/>
            <a:ext cx="11548872" cy="41605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20040" y="2286000"/>
            <a:ext cx="1737360" cy="4160520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8056" y="2414016"/>
            <a:ext cx="14630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718296"/>
                </a:solidFill>
              </a:rPr>
              <a:t>MENU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0040" y="2633472"/>
            <a:ext cx="1737360" cy="420624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29768" y="2679192"/>
            <a:ext cx="1600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0B4CC"/>
                </a:solidFill>
              </a:rPr>
              <a:t>Home  대시보드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0040" y="3090672"/>
            <a:ext cx="1737360" cy="420624"/>
          </a:xfrm>
          <a:prstGeom prst="rect">
            <a:avLst/>
          </a:prstGeom>
          <a:solidFill>
            <a:srgbClr val="2D6A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9768" y="3136392"/>
            <a:ext cx="1600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</a:rPr>
              <a:t>01    핀 검증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0040" y="3547872"/>
            <a:ext cx="1737360" cy="420624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29768" y="3593592"/>
            <a:ext cx="1600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0B4CC"/>
                </a:solidFill>
              </a:rPr>
              <a:t>02    코드 생성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0040" y="4005072"/>
            <a:ext cx="1737360" cy="420624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29768" y="4050791"/>
            <a:ext cx="1600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0B4CC"/>
                </a:solidFill>
              </a:rPr>
              <a:t>03    알고리즘 통합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20040" y="4462272"/>
            <a:ext cx="1737360" cy="420624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9768" y="4507992"/>
            <a:ext cx="1600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0B4CC"/>
                </a:solidFill>
              </a:rPr>
              <a:t>Hist  작업 이력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20040" y="4919472"/>
            <a:ext cx="1737360" cy="420624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29768" y="4965192"/>
            <a:ext cx="1600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0B4CC"/>
                </a:solidFill>
              </a:rPr>
              <a:t>Cfg   설정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240279" y="23774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02C"/>
                </a:solidFill>
              </a:rPr>
              <a:t>STEP 1  |  핀 검증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194560" y="2706624"/>
            <a:ext cx="4389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B3A6B"/>
                </a:solidFill>
              </a:rPr>
              <a:t>1  핀맵 CSV 업로드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194560" y="2953512"/>
            <a:ext cx="4389120" cy="7498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194560" y="2953512"/>
            <a:ext cx="4389120" cy="749808"/>
          </a:xfrm>
          <a:prstGeom prst="rect">
            <a:avLst/>
          </a:prstGeom>
          <a:noFill/>
          <a:ln w="15240">
            <a:solidFill>
              <a:srgbClr val="90B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114800" y="3017520"/>
            <a:ext cx="548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718296"/>
                </a:solidFill>
              </a:rPr>
              <a:t>[  ]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377440" y="3264408"/>
            <a:ext cx="402335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718296"/>
                </a:solidFill>
              </a:rPr>
              <a:t>CSV 파일을 드래그하거나 클릭하여 업로드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377440" y="3447288"/>
            <a:ext cx="402335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107C10"/>
                </a:solidFill>
              </a:rPr>
              <a:t>pinmap_BLDC_v2.csv  (업로드 완료 ✓)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194560" y="2953512"/>
            <a:ext cx="4389120" cy="749808"/>
          </a:xfrm>
          <a:prstGeom prst="rect">
            <a:avLst/>
          </a:prstGeom>
          <a:noFill/>
          <a:ln w="12700">
            <a:solidFill>
              <a:srgbClr val="107C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194560" y="3785615"/>
            <a:ext cx="4389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B3A6B"/>
                </a:solidFill>
              </a:rPr>
              <a:t>2  기능 요구사항 입력 (자연어)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194560" y="4023360"/>
            <a:ext cx="4389120" cy="274320"/>
          </a:xfrm>
          <a:prstGeom prst="rect">
            <a:avLst/>
          </a:prstGeom>
          <a:solidFill>
            <a:srgbClr val="E8F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194560" y="4023360"/>
            <a:ext cx="64008" cy="274320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331720" y="4050791"/>
            <a:ext cx="4206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1A401A"/>
                </a:solidFill>
              </a:rPr>
              <a:t>예시) STM32G474RET6, BLDC FOC, 엔코더, FDCAN 1Mbps, SPI EEPROM...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194560" y="4315968"/>
            <a:ext cx="4389120" cy="1188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2194560" y="4315968"/>
            <a:ext cx="4389120" cy="1188720"/>
          </a:xfrm>
          <a:prstGeom prst="rect">
            <a:avLst/>
          </a:prstGeom>
          <a:noFill/>
          <a:ln w="19050">
            <a:solidFill>
              <a:srgbClr val="90CF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286000" y="4361688"/>
            <a:ext cx="4224528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</a:rPr>
              <a:t>STM32G474RET6 칩을 쓸 거고,
외부 크리스탈 24MHz / 시스템 170MHz야.
BLDC 모터 1개를 FOC로 제어할 건데
증분형 엔코더(A/B/Z)로 각도 읽고,
3상 6채널 PWM으로 인버터 구동해.
데드타임 500ns, 전류는 내부 OPAMP.
FDCAN 1Mbps + SPI EEPROM(CS: PA4).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194560" y="5577840"/>
            <a:ext cx="4389120" cy="384048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286000" y="5623560"/>
            <a:ext cx="4206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검증 실행  (Step 1 시작)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57999" y="2706624"/>
            <a:ext cx="487375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B3A6B"/>
                </a:solidFill>
              </a:rPr>
              <a:t>검증 결과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857999" y="2953512"/>
            <a:ext cx="4873752" cy="347472"/>
          </a:xfrm>
          <a:prstGeom prst="rect">
            <a:avLst/>
          </a:prstGeom>
          <a:solidFill>
            <a:srgbClr val="C6F6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6857999" y="2953512"/>
            <a:ext cx="64008" cy="347472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995159" y="2999232"/>
            <a:ext cx="46908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2543D"/>
                </a:solidFill>
              </a:rPr>
              <a:t>PASS — errors[ ] = 0     경고 1건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857999" y="3337560"/>
            <a:ext cx="4873752" cy="228600"/>
          </a:xfrm>
          <a:prstGeom prst="rect">
            <a:avLst/>
          </a:prstGeom>
          <a:solidFill>
            <a:srgbClr val="ED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931151" y="3355848"/>
            <a:ext cx="54864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718296"/>
                </a:solidFill>
              </a:rPr>
              <a:t>핀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525511" y="3355848"/>
            <a:ext cx="13258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718296"/>
                </a:solidFill>
              </a:rPr>
              <a:t>기능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897111" y="3355848"/>
            <a:ext cx="54864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718296"/>
                </a:solidFill>
              </a:rPr>
              <a:t>AF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491472" y="3355848"/>
            <a:ext cx="77724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718296"/>
                </a:solidFill>
              </a:rPr>
              <a:t>상태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857999" y="3566160"/>
            <a:ext cx="4873752" cy="2834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931151" y="3602736"/>
            <a:ext cx="5486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PA8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525511" y="3602736"/>
            <a:ext cx="13258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TIM1_CH1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897111" y="3602736"/>
            <a:ext cx="5486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AF6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491472" y="360273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07C10"/>
                </a:solidFill>
              </a:rPr>
              <a:t>OK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857999" y="3867911"/>
            <a:ext cx="4873752" cy="283464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931151" y="3904487"/>
            <a:ext cx="5486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PA7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525511" y="3904487"/>
            <a:ext cx="13258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TIM1_CH1N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897111" y="3904487"/>
            <a:ext cx="5486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AF6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491472" y="3904487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07C10"/>
                </a:solidFill>
              </a:rPr>
              <a:t>OK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857999" y="4169663"/>
            <a:ext cx="4873752" cy="2834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931151" y="4206240"/>
            <a:ext cx="5486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PA9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525511" y="4206240"/>
            <a:ext cx="13258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TIM1_CH2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897111" y="4206240"/>
            <a:ext cx="5486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AF6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491472" y="420624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07C10"/>
                </a:solidFill>
              </a:rPr>
              <a:t>OK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857999" y="4471416"/>
            <a:ext cx="4873752" cy="283464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931151" y="4507992"/>
            <a:ext cx="5486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PB8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525511" y="4507992"/>
            <a:ext cx="13258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FDCAN1_RX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897111" y="4507992"/>
            <a:ext cx="5486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AF9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491472" y="450799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07C10"/>
                </a:solidFill>
              </a:rPr>
              <a:t>OK</a:t>
            </a:r>
          </a:p>
        </p:txBody>
      </p:sp>
      <p:sp>
        <p:nvSpPr>
          <p:cNvPr id="81" name="Rectangle 80"/>
          <p:cNvSpPr/>
          <p:nvPr/>
        </p:nvSpPr>
        <p:spPr>
          <a:xfrm>
            <a:off x="6857999" y="4773168"/>
            <a:ext cx="4873752" cy="2834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6931151" y="4809744"/>
            <a:ext cx="5486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PB9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525511" y="4809744"/>
            <a:ext cx="13258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FDCAN1_TX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897111" y="4809744"/>
            <a:ext cx="5486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AF9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9491472" y="48097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07C10"/>
                </a:solidFill>
              </a:rPr>
              <a:t>OK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857999" y="5074920"/>
            <a:ext cx="4873752" cy="283464"/>
          </a:xfrm>
          <a:prstGeom prst="rect">
            <a:avLst/>
          </a:prstGeom>
          <a:solidFill>
            <a:srgbClr val="FFFD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6931151" y="5111496"/>
            <a:ext cx="5486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PA0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7525511" y="5111496"/>
            <a:ext cx="13258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TIM2_CH1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8897111" y="5111496"/>
            <a:ext cx="5486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AF1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9491472" y="51114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66C00"/>
                </a:solidFill>
              </a:rPr>
              <a:t>WARNING</a:t>
            </a:r>
          </a:p>
        </p:txBody>
      </p:sp>
      <p:sp>
        <p:nvSpPr>
          <p:cNvPr id="91" name="Rectangle 90"/>
          <p:cNvSpPr/>
          <p:nvPr/>
        </p:nvSpPr>
        <p:spPr>
          <a:xfrm>
            <a:off x="6857999" y="5394960"/>
            <a:ext cx="4873752" cy="475488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6857999" y="5394960"/>
            <a:ext cx="64008" cy="475488"/>
          </a:xfrm>
          <a:prstGeom prst="rect">
            <a:avLst/>
          </a:prstGeom>
          <a:solidFill>
            <a:srgbClr val="E6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6995159" y="5431536"/>
            <a:ext cx="469087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A4A00"/>
                </a:solidFill>
              </a:rPr>
              <a:t>WARNING — PA0 : 인코더 입력 풀업 저항 미설정 권장
→ 회로도 수정 권장 (진행은 허용)</a:t>
            </a:r>
          </a:p>
        </p:txBody>
      </p:sp>
      <p:sp>
        <p:nvSpPr>
          <p:cNvPr id="94" name="Rectangle 93"/>
          <p:cNvSpPr/>
          <p:nvPr/>
        </p:nvSpPr>
        <p:spPr>
          <a:xfrm>
            <a:off x="6857999" y="5961888"/>
            <a:ext cx="4873752" cy="384048"/>
          </a:xfrm>
          <a:prstGeom prst="rect">
            <a:avLst/>
          </a:prstGeom>
          <a:solidFill>
            <a:srgbClr val="007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949439" y="6007608"/>
            <a:ext cx="469087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Step 2 로 진행  (HAL 코드 생성)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UI 화면 예시 ③ — Step 2 / Step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4980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FFFFFF"/>
                </a:solidFill>
              </a:rPr>
              <a:t>HAL 코드 생성 진행 상황 → 알고리즘 통합 모듈 선택 + 코드 미리보기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105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STM32G4 회로도 검증 &amp; 펌웨어 자동 생성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5105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</a:rPr>
              <a:t>21 / 36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234440"/>
            <a:ext cx="1645920" cy="320040"/>
          </a:xfrm>
          <a:prstGeom prst="rect">
            <a:avLst/>
          </a:prstGeom>
          <a:solidFill>
            <a:srgbClr val="007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1252728"/>
            <a:ext cx="1554480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UI 예시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709928"/>
            <a:ext cx="5669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7A8A"/>
                </a:solidFill>
              </a:rPr>
              <a:t>Step 2 : HAL 코드 자동 생성 (CubeMX CLI)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011680"/>
            <a:ext cx="5394960" cy="2103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65760" y="2011680"/>
            <a:ext cx="5394960" cy="320040"/>
          </a:xfrm>
          <a:prstGeom prst="rect">
            <a:avLst/>
          </a:prstGeom>
          <a:solidFill>
            <a:srgbClr val="007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066544"/>
            <a:ext cx="5120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</a:rPr>
              <a:t>코드 생성 완료 — 파일 5개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395728"/>
            <a:ext cx="548640" cy="274320"/>
          </a:xfrm>
          <a:prstGeom prst="rect">
            <a:avLst/>
          </a:prstGeom>
          <a:solidFill>
            <a:srgbClr val="C6F6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432304"/>
            <a:ext cx="548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22543D"/>
                </a:solidFill>
              </a:rPr>
              <a:t>완료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" y="2432304"/>
            <a:ext cx="1463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B3A6B"/>
                </a:solidFill>
              </a:rPr>
              <a:t>핀 JSON 수신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06040" y="2432304"/>
            <a:ext cx="3017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Step 1 검증 완료 데이터 수신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2724912"/>
            <a:ext cx="548640" cy="274320"/>
          </a:xfrm>
          <a:prstGeom prst="rect">
            <a:avLst/>
          </a:prstGeom>
          <a:solidFill>
            <a:srgbClr val="C6F6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2761488"/>
            <a:ext cx="548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22543D"/>
                </a:solidFill>
              </a:rPr>
              <a:t>완료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8992" y="2761488"/>
            <a:ext cx="1463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B3A6B"/>
                </a:solidFill>
              </a:rPr>
              <a:t>.ioc 파일 생성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06040" y="2761488"/>
            <a:ext cx="3017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170MHz 클럭 / TIM1 SVPWM / FDCAN 설정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3054096"/>
            <a:ext cx="548640" cy="274320"/>
          </a:xfrm>
          <a:prstGeom prst="rect">
            <a:avLst/>
          </a:prstGeom>
          <a:solidFill>
            <a:srgbClr val="C6F6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3090672"/>
            <a:ext cx="548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22543D"/>
                </a:solidFill>
              </a:rPr>
              <a:t>완료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8992" y="3090672"/>
            <a:ext cx="1463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B3A6B"/>
                </a:solidFill>
              </a:rPr>
              <a:t>CubeMX CLI 실행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06040" y="3090672"/>
            <a:ext cx="3017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STM32CubeMX -q script.txt  (22초)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3383280"/>
            <a:ext cx="548640" cy="274320"/>
          </a:xfrm>
          <a:prstGeom prst="rect">
            <a:avLst/>
          </a:prstGeom>
          <a:solidFill>
            <a:srgbClr val="C6F6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3419856"/>
            <a:ext cx="548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22543D"/>
                </a:solidFill>
              </a:rPr>
              <a:t>완료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8992" y="3419856"/>
            <a:ext cx="1463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B3A6B"/>
                </a:solidFill>
              </a:rPr>
              <a:t>출력 파일 수집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606040" y="3419856"/>
            <a:ext cx="3017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main.c  tim.c  adc.c  fdcan.c  cordic.c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3712464"/>
            <a:ext cx="548640" cy="274320"/>
          </a:xfrm>
          <a:prstGeom prst="rect">
            <a:avLst/>
          </a:prstGeom>
          <a:solidFill>
            <a:srgbClr val="C6F6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7200" y="3749040"/>
            <a:ext cx="548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22543D"/>
                </a:solidFill>
              </a:rPr>
              <a:t>완료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78992" y="3749040"/>
            <a:ext cx="1463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B3A6B"/>
                </a:solidFill>
              </a:rPr>
              <a:t>USER CODE 영역 확인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606040" y="3749040"/>
            <a:ext cx="3017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Step 3 LLM 삽입 영역 5개 확인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89320" y="1709928"/>
            <a:ext cx="6126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7A8A"/>
                </a:solidFill>
              </a:rPr>
              <a:t>Step 2 생성 파일 트리 + Step 3 알고리즘 선택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989320" y="2011680"/>
            <a:ext cx="5852160" cy="210312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126480" y="2084832"/>
            <a:ext cx="557784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DD8E6"/>
                </a:solidFill>
              </a:rPr>
              <a:t>project_output/
├── Core/Src/
│   ├── main.c        ← USER CODE BEGIN 영역 5개
│   ├── tim.c         ← TIM1/2 초기화 완료
│   ├── adc.c         ← ADC1/2 완료
│   ├── fdcan.c       ← FDCAN1 완료
│   └── cordic.c      ← CORDIC 완료
├── Core/Inc/
│   └── main.h
└── Drivers/ (HAL)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20040" y="4206240"/>
            <a:ext cx="11548872" cy="36576"/>
          </a:xfrm>
          <a:prstGeom prst="rect">
            <a:avLst/>
          </a:prstGeom>
          <a:solidFill>
            <a:srgbClr val="CBD5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65760" y="427939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07C10"/>
                </a:solidFill>
              </a:rPr>
              <a:t>Step 3 : 알고리즘 통합 (Golden Module 선택 + 코드 삽입)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4572000"/>
            <a:ext cx="5029200" cy="1783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65760" y="4572000"/>
            <a:ext cx="5029200" cy="292608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02920" y="4617720"/>
            <a:ext cx="47548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Golden Module 자동 선택  (수동 편집 가능)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57200" y="4919472"/>
            <a:ext cx="201168" cy="201168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57200" y="4919472"/>
            <a:ext cx="201168" cy="201168"/>
          </a:xfrm>
          <a:prstGeom prst="rect">
            <a:avLst/>
          </a:prstGeom>
          <a:noFill/>
          <a:ln w="12700">
            <a:solidFill>
              <a:srgbClr val="107C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57200" y="4919472"/>
            <a:ext cx="20116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v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31520" y="4937759"/>
            <a:ext cx="21031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B3A6B"/>
                </a:solidFill>
              </a:rPr>
              <a:t>bldc_6step_hall.c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926080" y="4937759"/>
            <a:ext cx="2286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18296"/>
                </a:solidFill>
              </a:rPr>
              <a:t>6-step Hall + BRK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5157216"/>
            <a:ext cx="201168" cy="201168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457200" y="5157216"/>
            <a:ext cx="201168" cy="201168"/>
          </a:xfrm>
          <a:prstGeom prst="rect">
            <a:avLst/>
          </a:prstGeom>
          <a:noFill/>
          <a:ln w="12700">
            <a:solidFill>
              <a:srgbClr val="107C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57200" y="5157216"/>
            <a:ext cx="20116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v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31520" y="5175503"/>
            <a:ext cx="21031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B3A6B"/>
                </a:solidFill>
              </a:rPr>
              <a:t>fdcan_motor_cmd.c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926080" y="5175503"/>
            <a:ext cx="2286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18296"/>
                </a:solidFill>
              </a:rPr>
              <a:t>FDCAN 핸들러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57200" y="5394960"/>
            <a:ext cx="201168" cy="2011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457200" y="5394960"/>
            <a:ext cx="201168" cy="201168"/>
          </a:xfrm>
          <a:prstGeom prst="rect">
            <a:avLst/>
          </a:prstGeom>
          <a:noFill/>
          <a:ln w="12700">
            <a:solidFill>
              <a:srgbClr val="107C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57200" y="5394960"/>
            <a:ext cx="20116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 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31520" y="5413248"/>
            <a:ext cx="21031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B3A6B"/>
                </a:solidFill>
              </a:rPr>
              <a:t>foc_clarke.c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926080" y="5413248"/>
            <a:ext cx="2286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18296"/>
                </a:solidFill>
              </a:rPr>
              <a:t>Clarke (오픈소스 가공 예정)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57200" y="5632704"/>
            <a:ext cx="201168" cy="2011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457200" y="5632704"/>
            <a:ext cx="201168" cy="201168"/>
          </a:xfrm>
          <a:prstGeom prst="rect">
            <a:avLst/>
          </a:prstGeom>
          <a:noFill/>
          <a:ln w="12700">
            <a:solidFill>
              <a:srgbClr val="107C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57200" y="5632704"/>
            <a:ext cx="20116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 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31520" y="5650992"/>
            <a:ext cx="21031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B3A6B"/>
                </a:solidFill>
              </a:rPr>
              <a:t>foc_park.c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926080" y="5650992"/>
            <a:ext cx="2286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18296"/>
                </a:solidFill>
              </a:rPr>
              <a:t>Park (가공 예정)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57200" y="5870448"/>
            <a:ext cx="201168" cy="2011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457200" y="5870448"/>
            <a:ext cx="201168" cy="201168"/>
          </a:xfrm>
          <a:prstGeom prst="rect">
            <a:avLst/>
          </a:prstGeom>
          <a:noFill/>
          <a:ln w="12700">
            <a:solidFill>
              <a:srgbClr val="107C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57200" y="5870448"/>
            <a:ext cx="20116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 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31520" y="5888736"/>
            <a:ext cx="21031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B3A6B"/>
                </a:solidFill>
              </a:rPr>
              <a:t>foc_svpwm.c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926080" y="5888736"/>
            <a:ext cx="2286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18296"/>
                </a:solidFill>
              </a:rPr>
              <a:t>SVPWM (가공 예정)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57200" y="6108192"/>
            <a:ext cx="201168" cy="2011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457200" y="6108192"/>
            <a:ext cx="201168" cy="201168"/>
          </a:xfrm>
          <a:prstGeom prst="rect">
            <a:avLst/>
          </a:prstGeom>
          <a:noFill/>
          <a:ln w="12700">
            <a:solidFill>
              <a:srgbClr val="107C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457200" y="6108192"/>
            <a:ext cx="20116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 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31520" y="6126479"/>
            <a:ext cx="21031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B3A6B"/>
                </a:solidFill>
              </a:rPr>
              <a:t>foc_current_pi.c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926080" y="6126479"/>
            <a:ext cx="2286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18296"/>
                </a:solidFill>
              </a:rPr>
              <a:t>PI 제어 (가공 예정)</a:t>
            </a:r>
          </a:p>
        </p:txBody>
      </p:sp>
      <p:sp>
        <p:nvSpPr>
          <p:cNvPr id="73" name="Rectangle 72"/>
          <p:cNvSpPr/>
          <p:nvPr/>
        </p:nvSpPr>
        <p:spPr>
          <a:xfrm>
            <a:off x="365760" y="6035040"/>
            <a:ext cx="5029200" cy="292608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457200" y="6071616"/>
            <a:ext cx="48463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코드 생성 확정  (Gemma 4 26B MoE 실행)</a:t>
            </a:r>
          </a:p>
        </p:txBody>
      </p:sp>
      <p:sp>
        <p:nvSpPr>
          <p:cNvPr id="75" name="Rectangle 74"/>
          <p:cNvSpPr/>
          <p:nvPr/>
        </p:nvSpPr>
        <p:spPr>
          <a:xfrm>
            <a:off x="5577840" y="4572000"/>
            <a:ext cx="6263640" cy="178308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5577840" y="4572000"/>
            <a:ext cx="6263640" cy="27432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715000" y="4617720"/>
            <a:ext cx="3657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CCCCCC"/>
                </a:solidFill>
              </a:rPr>
              <a:t>main.c — 미리보기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669280" y="4892040"/>
            <a:ext cx="603504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EF5B0"/>
                </a:solidFill>
              </a:rPr>
              <a:t>/* USER CODE BEGIN 3 */
  /* FOC main loop - inserted by Agent */
  FOC_Clarke(&amp;i_ab, adc_ia, adc_ib);
  FOC_Park(&amp;i_dq, &amp;i_ab, theta_e);
  FOC_CurrentPI(&amp;v_dq, &amp;i_dq, &amp;ref_dq);
  FOC_InvPark(&amp;v_ab, &amp;v_dq, theta_e);
  FOC_SVPWM(&amp;tim_ccr, &amp;v_ab, vbus);
  __HAL_TIM_SET_COMPARE(&amp;htim1,
    TIM_CHANNEL_1, tim_ccr.u);
/* USER CODE END 3 */</a:t>
            </a:r>
          </a:p>
        </p:txBody>
      </p:sp>
      <p:sp>
        <p:nvSpPr>
          <p:cNvPr id="79" name="Rectangle 78"/>
          <p:cNvSpPr/>
          <p:nvPr/>
        </p:nvSpPr>
        <p:spPr>
          <a:xfrm>
            <a:off x="5577840" y="6373368"/>
            <a:ext cx="3017520" cy="292608"/>
          </a:xfrm>
          <a:prstGeom prst="rect">
            <a:avLst/>
          </a:prstGeom>
          <a:solidFill>
            <a:srgbClr val="2E6D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5669280" y="6409944"/>
            <a:ext cx="28346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프로젝트 다운로드 (.zip)</a:t>
            </a:r>
          </a:p>
        </p:txBody>
      </p:sp>
      <p:sp>
        <p:nvSpPr>
          <p:cNvPr id="81" name="Rectangle 80"/>
          <p:cNvSpPr/>
          <p:nvPr/>
        </p:nvSpPr>
        <p:spPr>
          <a:xfrm>
            <a:off x="8686800" y="6373368"/>
            <a:ext cx="3154680" cy="292608"/>
          </a:xfrm>
          <a:prstGeom prst="rect">
            <a:avLst/>
          </a:prstGeom>
          <a:solidFill>
            <a:srgbClr val="2D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8778240" y="6409944"/>
            <a:ext cx="2971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프로젝트 폴더 저장 (서버)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기대 효과 &amp; 다음 단계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5105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STM32G4 회로도 검증 &amp; 펌웨어 자동 생성 Agent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</a:rPr>
              <a:t>22 / 36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2801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B3A6B"/>
                </a:solidFill>
              </a:rPr>
              <a:t>기대 효과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691640"/>
            <a:ext cx="2651760" cy="1234440"/>
          </a:xfrm>
          <a:prstGeom prst="rect">
            <a:avLst/>
          </a:prstGeom>
          <a:solidFill>
            <a:srgbClr val="2E6D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755648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</a:rPr>
              <a:t>핀 오류 사전 차단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304288"/>
            <a:ext cx="2651760" cy="621792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2340864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1A1A1A"/>
                </a:solidFill>
              </a:rPr>
              <a:t>규칙 엔진 + LLM 이중 검증
→ 회로도 수정 공수 절감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0" y="1691640"/>
            <a:ext cx="2651760" cy="1234440"/>
          </a:xfrm>
          <a:prstGeom prst="rect">
            <a:avLst/>
          </a:prstGeom>
          <a:solidFill>
            <a:srgbClr val="007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91840" y="1755648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</a:rPr>
              <a:t>HAL 코드 생성 자동화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0" y="2304288"/>
            <a:ext cx="2651760" cy="621792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91840" y="2340864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1A1A1A"/>
                </a:solidFill>
              </a:rPr>
              <a:t>CubeMX CLI 자동화
→ 초기화 코드 작성 시간 ≈ 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35040" y="1691640"/>
            <a:ext cx="2651760" cy="1234440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26480" y="1755648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</a:rPr>
              <a:t>알고리즘 통합 자동화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35040" y="2304288"/>
            <a:ext cx="2651760" cy="621792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26480" y="2340864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1A1A1A"/>
                </a:solidFill>
              </a:rPr>
              <a:t>검증된 Golden Module 조립
→ FOC 통합 반나절 → 수분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869680" y="1691640"/>
            <a:ext cx="2651760" cy="1234440"/>
          </a:xfrm>
          <a:prstGeom prst="rect">
            <a:avLst/>
          </a:prstGeom>
          <a:solidFill>
            <a:srgbClr val="E6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961120" y="1755648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</a:rPr>
              <a:t>멀티모터 지원 (2~4개)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869680" y="2304288"/>
            <a:ext cx="2651760" cy="621792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61120" y="2340864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1A1A1A"/>
                </a:solidFill>
              </a:rPr>
              <a:t>TIM1+TIM8+TIM20+HRTIM 자동 배분
→ FOC×2 / DC×4 구성 자동 생성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31089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07C10"/>
                </a:solidFill>
              </a:rPr>
              <a:t>다음 단계 (즉시 시작 가능한 항목)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3520440"/>
            <a:ext cx="777240" cy="502920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84048" y="3557016"/>
            <a:ext cx="749808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즉시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70432" y="3520440"/>
            <a:ext cx="4846320" cy="5029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98448" y="3566160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</a:rPr>
              <a:t>ST 공식 PDF 14종 다운로드 (download_st_docs.sh 실행)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35040" y="3520440"/>
            <a:ext cx="777240" cy="502920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53328" y="3557016"/>
            <a:ext cx="749808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즉시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839712" y="3520440"/>
            <a:ext cx="4846320" cy="5029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967728" y="3566160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</a:rPr>
              <a:t>STM32G474 CubeMX XML 파싱 → pin_af_db.json 생성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65760" y="4087368"/>
            <a:ext cx="777240" cy="502920"/>
          </a:xfrm>
          <a:prstGeom prst="rect">
            <a:avLst/>
          </a:prstGeom>
          <a:solidFill>
            <a:srgbClr val="2E6D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84048" y="4123944"/>
            <a:ext cx="749808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1주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170432" y="4087368"/>
            <a:ext cx="4846320" cy="5029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98448" y="4133087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</a:rPr>
              <a:t>Qdrant + BGE-M3 RAG 파이프라인 구성 (Phase 1)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35040" y="4087368"/>
            <a:ext cx="777240" cy="502920"/>
          </a:xfrm>
          <a:prstGeom prst="rect">
            <a:avLst/>
          </a:prstGeom>
          <a:solidFill>
            <a:srgbClr val="2E6D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053328" y="4123944"/>
            <a:ext cx="749808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2~3주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839712" y="4087368"/>
            <a:ext cx="4846320" cy="5029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967728" y="4133087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</a:rPr>
              <a:t>dc_motor_pid / multi_axis_sync / bldc_6step 모듈 작성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65760" y="4654296"/>
            <a:ext cx="777240" cy="502920"/>
          </a:xfrm>
          <a:prstGeom prst="rect">
            <a:avLst/>
          </a:prstGeom>
          <a:solidFill>
            <a:srgbClr val="007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84048" y="4690872"/>
            <a:ext cx="749808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4~6주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170432" y="4654296"/>
            <a:ext cx="4846320" cy="5029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298448" y="4700016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</a:rPr>
              <a:t>FastAPI Step1 검증 에이전트 + Streamlit MVP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035040" y="4654296"/>
            <a:ext cx="777240" cy="502920"/>
          </a:xfrm>
          <a:prstGeom prst="rect">
            <a:avLst/>
          </a:prstGeom>
          <a:solidFill>
            <a:srgbClr val="E6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053328" y="4690872"/>
            <a:ext cx="749808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8주~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839712" y="4654296"/>
            <a:ext cx="4846320" cy="5029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967728" y="4700016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</a:rPr>
              <a:t>멀티모터 리뷰 로직 + Fine-tuning 데이터 수집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65760" y="5486400"/>
            <a:ext cx="11430000" cy="566928"/>
          </a:xfrm>
          <a:prstGeom prst="rect">
            <a:avLst/>
          </a:prstGeom>
          <a:solidFill>
            <a:srgbClr val="FFF0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8640" y="5532120"/>
            <a:ext cx="11064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66C00"/>
                </a:solidFill>
              </a:rPr>
              <a:t>미결 사항 :  ① 회로도 입력 포맷 (CSV + PDF 우선)   ② 멀티모터 OPAMP 부족 시 외부 OPAMP IC 지정 방식   ③ MCSDK 라이선스 확인   ④ Golden Module 담당 엔지니어 지정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286000"/>
            <a:ext cx="12188952" cy="2286000"/>
          </a:xfrm>
          <a:prstGeom prst="rect">
            <a:avLst/>
          </a:prstGeom>
          <a:solidFill>
            <a:srgbClr val="2E6D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18872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A8D0FF"/>
                </a:solidFill>
              </a:rPr>
              <a:t>Appendix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423160"/>
            <a:ext cx="100584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</a:rPr>
              <a:t>학습 데이터 수집 가이드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3832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1">
                <a:solidFill>
                  <a:srgbClr val="FFFFFF"/>
                </a:solidFill>
              </a:rPr>
              <a:t>무엇을 · 어떻게 · 얼마나 모아야 하는가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309360"/>
            <a:ext cx="12188952" cy="548640"/>
          </a:xfrm>
          <a:prstGeom prst="rect">
            <a:avLst/>
          </a:prstGeom>
          <a:solidFill>
            <a:srgbClr val="0F24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336792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99BBFF"/>
                </a:solidFill>
              </a:rPr>
              <a:t>Step 1 핀 검증 RAG / Step 1 Fine-tuning / Step 3 통합 RAG / Step 3 Fine-tuning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" y="65105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STM32G4 회로도 검증 &amp; 펌웨어 자동 생성 Agent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5105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</a:rPr>
              <a:t>23 / 36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A-1  Step 1 핀 검증 — RAG 지식베이스 수집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4980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FFFFFF"/>
                </a:solidFill>
              </a:rPr>
              <a:t>목표: ~1,550 청크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105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STM32G4 회로도 검증 &amp; 펌웨어 자동 생성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5105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</a:rPr>
              <a:t>24 / 36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298448"/>
            <a:ext cx="5577840" cy="347472"/>
          </a:xfrm>
          <a:prstGeom prst="rect">
            <a:avLst/>
          </a:prstGeom>
          <a:solidFill>
            <a:srgbClr val="2E6D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79" y="1335024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① CubeMX XML 핀 DB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1645919"/>
            <a:ext cx="5577840" cy="1938528"/>
          </a:xfrm>
          <a:prstGeom prst="rect">
            <a:avLst/>
          </a:prstGeom>
          <a:solidFill>
            <a:srgbClr val="D6E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1700784"/>
            <a:ext cx="53035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경로: STM32CubeMX\db\mcu\STM32G4*.xml
파일 수: 40~50개 (G4 전체 패키지)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542032"/>
            <a:ext cx="53035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606060"/>
                </a:solidFill>
              </a:rPr>
              <a:t>처리: RAG 불필요 — Python 파싱 → pin_af_db.json
결과: {chip:{pin:[AF목록]}} 구조화 JSON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" y="3364991"/>
            <a:ext cx="2743200" cy="292608"/>
          </a:xfrm>
          <a:prstGeom prst="rect">
            <a:avLst/>
          </a:prstGeom>
          <a:solidFill>
            <a:srgbClr val="2E6D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79" y="3392424"/>
            <a:ext cx="2606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규칙 엔진 직접 조회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154680" y="3364991"/>
            <a:ext cx="2743200" cy="292608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46120" y="3392424"/>
            <a:ext cx="2606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606060"/>
                </a:solidFill>
              </a:rPr>
              <a:t>100% 정확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63640" y="1298448"/>
            <a:ext cx="5577840" cy="347472"/>
          </a:xfrm>
          <a:prstGeom prst="rect">
            <a:avLst/>
          </a:prstGeom>
          <a:solidFill>
            <a:srgbClr val="007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5079" y="1335024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② STM32G4 Datasheet (DS12288)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63640" y="1645919"/>
            <a:ext cx="5577840" cy="1938528"/>
          </a:xfrm>
          <a:prstGeom prst="rect">
            <a:avLst/>
          </a:prstGeom>
          <a:solidFill>
            <a:srgbClr val="D0F0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0" y="1700784"/>
            <a:ext cx="53035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추출 대상: Table 11~15 (AF 맵) + Table 5~8 (핀 설명)
대상 페이지: 약 50페이지 / 전체 200p 중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2542032"/>
            <a:ext cx="53035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606060"/>
                </a:solidFill>
              </a:rPr>
              <a:t>청킹: 핀 테이블 → 행(row) 단위 청크
일반 설명 → 256토큰 / 32 overlap
툴: pdfplumber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63640" y="3364991"/>
            <a:ext cx="2743200" cy="292608"/>
          </a:xfrm>
          <a:prstGeom prst="rect">
            <a:avLst/>
          </a:prstGeom>
          <a:solidFill>
            <a:srgbClr val="007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55079" y="3392424"/>
            <a:ext cx="2606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~300 청크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098280" y="3364991"/>
            <a:ext cx="2743200" cy="292608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89720" y="3392424"/>
            <a:ext cx="2606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606060"/>
                </a:solidFill>
              </a:rPr>
              <a:t>벡터 임베딩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0040" y="3675887"/>
            <a:ext cx="5577840" cy="347472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79" y="3712463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③ Application Notes (7종) + RM0440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0040" y="4023359"/>
            <a:ext cx="5577840" cy="1938528"/>
          </a:xfrm>
          <a:prstGeom prst="rect">
            <a:avLst/>
          </a:prstGeom>
          <a:solidFill>
            <a:srgbClr val="D9F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4078224"/>
            <a:ext cx="53035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AN5306 OPAMP전류센싱 / AN5789 Bootstrap
AN4277 PWM보호/BRK / AN4539 HRTIM
AN4220 6Step / AN4835 High-side / AN5036 열관리
+ RM0440 선택 챕터 (Timer/ADC/FDCAN/CORDIC)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4919472"/>
            <a:ext cx="53035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606060"/>
                </a:solidFill>
              </a:rPr>
              <a:t>청킹: AN = 회로블록 단위
RM0440 = 레지스터/기능 설명 단위
512토큰 / 64 overlap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20040" y="5742431"/>
            <a:ext cx="2743200" cy="292608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1479" y="5769864"/>
            <a:ext cx="2606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~1,200 청크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154680" y="5742431"/>
            <a:ext cx="2743200" cy="292608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246120" y="5769864"/>
            <a:ext cx="2606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606060"/>
                </a:solidFill>
              </a:rPr>
              <a:t>벡터 임베딩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263640" y="3675887"/>
            <a:ext cx="5577840" cy="347472"/>
          </a:xfrm>
          <a:prstGeom prst="rect">
            <a:avLst/>
          </a:prstGeom>
          <a:solidFill>
            <a:srgbClr val="E6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55079" y="3712463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④ Errata Sheet + GitHub 레퍼런스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263640" y="4023359"/>
            <a:ext cx="5577840" cy="1938528"/>
          </a:xfrm>
          <a:prstGeom prst="rect">
            <a:avLst/>
          </a:prstGeom>
          <a:solidFill>
            <a:srgbClr val="FFF0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00800" y="4078224"/>
            <a:ext cx="53035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ES0430 Errata (~40p) — 알려진 핀/주변장치 버그
+ flatmcu KiCad 회로도 (STM32G473 FOC)
+ STM32CubeG4 공식 예제 (HRTIM/ADC/OPAMP/FDCAN)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00800" y="4919472"/>
            <a:ext cx="53035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606060"/>
                </a:solidFill>
              </a:rPr>
              <a:t>Errata: 이슈 단위 (1이슈=1청크)
GitHub 코드: 함수 단위 (AST 파싱)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263640" y="5742431"/>
            <a:ext cx="2743200" cy="292608"/>
          </a:xfrm>
          <a:prstGeom prst="rect">
            <a:avLst/>
          </a:prstGeom>
          <a:solidFill>
            <a:srgbClr val="E6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355079" y="5769864"/>
            <a:ext cx="2606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~50 + ~200 청크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098280" y="5742431"/>
            <a:ext cx="2743200" cy="292608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189720" y="5769864"/>
            <a:ext cx="2606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606060"/>
                </a:solidFill>
              </a:rPr>
              <a:t>벡터 임베딩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A-2  Step 1 핀 검증 — Fine-tuning 데이터 자동 생성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4980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FFFFFF"/>
                </a:solidFill>
              </a:rPr>
              <a:t>규칙 엔진으로 정답 자동 생성 가능 → 대부분 자동화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105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STM32G4 회로도 검증 &amp; 펌웨어 자동 생성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5105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</a:rPr>
              <a:t>25 / 36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298448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E6DB4"/>
                </a:solidFill>
              </a:rPr>
              <a:t>데이터 형식 (입력 → 출력 쌍)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1664208"/>
            <a:ext cx="5303520" cy="393192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709928"/>
            <a:ext cx="51206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EF5B0"/>
                </a:solidFill>
              </a:rPr>
              <a:t>// 입력 (instruction + input)
{
  "chip": "STM32G474RET6",
  "pins": [
    {"pin":"PA8", "function":"TIM1_CH1", "af":"AF6"},
    {"pin":"PA9", "function":"TIM1_CH2", "af":"AF7"} ← 오류
  ]
}
// 출력 (정답)
{
  "validation": "FAIL",
  "errors": [{
    "pin": "PA9",
    "assigned_af": "AF7",
    "correct_af": "AF6",
    "message": "TIM1_CH2는 AF6이어야 합니다"
  }],
  "warnings": [],
  "passed_pins": ["PA8"]
}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1298448"/>
            <a:ext cx="5760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E6DB4"/>
                </a:solidFill>
              </a:rPr>
              <a:t>케이스 구성 및 목표 수량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80760" y="1664208"/>
            <a:ext cx="5760720" cy="47548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080760" y="1664208"/>
            <a:ext cx="54864" cy="475488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99632" y="1700784"/>
            <a:ext cx="3200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</a:rPr>
              <a:t>① 완전 정상 (PASS)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64040" y="1700784"/>
            <a:ext cx="731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07C10"/>
                </a:solidFill>
              </a:rPr>
              <a:t>30%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41280" y="1700784"/>
            <a:ext cx="1463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1B3A6B"/>
                </a:solidFill>
              </a:rPr>
              <a:t>~600개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80760" y="2194560"/>
            <a:ext cx="576072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080760" y="2194560"/>
            <a:ext cx="54864" cy="475488"/>
          </a:xfrm>
          <a:prstGeom prst="rect">
            <a:avLst/>
          </a:prstGeom>
          <a:solidFill>
            <a:srgbClr val="E6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99632" y="2231136"/>
            <a:ext cx="3200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</a:rPr>
              <a:t>② AF 번호 오류 1개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64040" y="2231136"/>
            <a:ext cx="731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E66C00"/>
                </a:solidFill>
              </a:rPr>
              <a:t>25%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41280" y="2231136"/>
            <a:ext cx="1463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1B3A6B"/>
                </a:solidFill>
              </a:rPr>
              <a:t>~500개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080760" y="2724912"/>
            <a:ext cx="5760720" cy="47548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080760" y="2724912"/>
            <a:ext cx="54864" cy="475488"/>
          </a:xfrm>
          <a:prstGeom prst="rect">
            <a:avLst/>
          </a:prstGeom>
          <a:solidFill>
            <a:srgbClr val="E6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99632" y="2761488"/>
            <a:ext cx="3200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</a:rPr>
              <a:t>③ AF 번호 오류 2개 이상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64040" y="2761488"/>
            <a:ext cx="731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E66C00"/>
                </a:solidFill>
              </a:rPr>
              <a:t>15%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41280" y="2761488"/>
            <a:ext cx="1463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1B3A6B"/>
                </a:solidFill>
              </a:rPr>
              <a:t>~300개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080760" y="3255263"/>
            <a:ext cx="576072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080760" y="3255263"/>
            <a:ext cx="54864" cy="475488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199632" y="3291839"/>
            <a:ext cx="3200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</a:rPr>
              <a:t>④ 핀 중복 배정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64040" y="3291839"/>
            <a:ext cx="731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0392B"/>
                </a:solidFill>
              </a:rPr>
              <a:t>10%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41280" y="3291839"/>
            <a:ext cx="1463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1B3A6B"/>
                </a:solidFill>
              </a:rPr>
              <a:t>~200개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080760" y="3785615"/>
            <a:ext cx="5760720" cy="47548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080760" y="3785615"/>
            <a:ext cx="54864" cy="475488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199632" y="3822191"/>
            <a:ext cx="3200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</a:rPr>
              <a:t>⑤ 전용 핀 오용 (NRST/BOOT0)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464040" y="3822191"/>
            <a:ext cx="731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0392B"/>
                </a:solidFill>
              </a:rPr>
              <a:t>10%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241280" y="3822191"/>
            <a:ext cx="1463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1B3A6B"/>
                </a:solidFill>
              </a:rPr>
              <a:t>~200개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80760" y="4315968"/>
            <a:ext cx="576072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080760" y="4315968"/>
            <a:ext cx="54864" cy="475488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199632" y="4352544"/>
            <a:ext cx="3200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</a:rPr>
              <a:t>⑥ 전원 핀 누락 (VDD/VSS)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464040" y="4352544"/>
            <a:ext cx="731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0392B"/>
                </a:solidFill>
              </a:rPr>
              <a:t>10%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241280" y="4352544"/>
            <a:ext cx="1463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1B3A6B"/>
                </a:solidFill>
              </a:rPr>
              <a:t>~200개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080760" y="4873752"/>
            <a:ext cx="5760720" cy="38404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199632" y="4910328"/>
            <a:ext cx="55778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합계 목표 : 2,000쌍  (자동 생성 3~5일 소요)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080760" y="5303520"/>
            <a:ext cx="5760720" cy="1170432"/>
          </a:xfrm>
          <a:prstGeom prst="rect">
            <a:avLst/>
          </a:prstGeom>
          <a:solidFill>
            <a:srgbClr val="D6E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199632" y="5340096"/>
            <a:ext cx="5577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6DB4"/>
                </a:solidFill>
              </a:rPr>
              <a:t>자동화 파이프라인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199632" y="5632704"/>
            <a:ext cx="557784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pin_af_db.json  →  generate_dataset.py  →  train.jsonl
• 칩 모델 × 핀 개수 × 케이스 종류 조합 자동 생성
• 규칙 엔진으로 정답 검증 → 100% 정확한 레이블
• 생성 후 arm-none-eabi-gcc 컴파일 검증 불필요 (핀 검증은 코드 아님)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A-3  Step 3 알고리즘 통합 — RAG 지식베이스 수집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4980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FFFFFF"/>
                </a:solidFill>
              </a:rPr>
              <a:t>목표: ~2,050 청크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105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STM32G4 회로도 검증 &amp; 펌웨어 자동 생성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5105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</a:rPr>
              <a:t>26 / 36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298448"/>
            <a:ext cx="5577840" cy="347472"/>
          </a:xfrm>
          <a:prstGeom prst="rect">
            <a:avLst/>
          </a:prstGeom>
          <a:solidFill>
            <a:srgbClr val="2E6D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79" y="1335024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① Golden Module 소스 코드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1645919"/>
            <a:ext cx="5577840" cy="1984248"/>
          </a:xfrm>
          <a:prstGeom prst="rect">
            <a:avLst/>
          </a:prstGeom>
          <a:solidFill>
            <a:srgbClr val="D6E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1700784"/>
            <a:ext cx="5303520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• ✅ bldc_6step_hall / dc_motor_pid (완성)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002536"/>
            <a:ext cx="5303520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• ✅ fdcan_motor_cmd / multi_axis_sync (완성)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2304288"/>
            <a:ext cx="5303520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• ⬜ foc_clarke / foc_park / foc_svpwm (오픈소스 가공 예정)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2606039"/>
            <a:ext cx="5303520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• ⬜ foc_current_pi / foc_angle_encoder (가공 예정)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907791"/>
            <a:ext cx="5303520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• ⬜ foc_current_sense (flatmcu 참조)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209544"/>
            <a:ext cx="5303520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• 소스: Arduino-FOC, MESC, VESC, moteus, ODrive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3511296"/>
            <a:ext cx="5303520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• → 향후 사내 코드 확보 시 교체 예정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3639312"/>
            <a:ext cx="5577840" cy="246888"/>
          </a:xfrm>
          <a:prstGeom prst="rect">
            <a:avLst/>
          </a:prstGeom>
          <a:solidFill>
            <a:srgbClr val="2E6D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79" y="3666744"/>
            <a:ext cx="5394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</a:rPr>
              <a:t>함수 단위 청킹 (AST 파싱)  |  메타데이터: {module, func, g4_accel, motor_count}  |  예상: ~150 청크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3640" y="1298448"/>
            <a:ext cx="5577840" cy="347472"/>
          </a:xfrm>
          <a:prstGeom prst="rect">
            <a:avLst/>
          </a:prstGeom>
          <a:solidFill>
            <a:srgbClr val="007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55079" y="1335024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② STM32CubeG4 공식 예제 (수집 완료)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63640" y="1645919"/>
            <a:ext cx="5577840" cy="1984248"/>
          </a:xfrm>
          <a:prstGeom prst="rect">
            <a:avLst/>
          </a:prstGeom>
          <a:solidFill>
            <a:srgbClr val="D0F0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1700784"/>
            <a:ext cx="5303520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• dataset/opensource/STM32CubeG4/ — 42MB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2002536"/>
            <a:ext cx="5303520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• HRTIM: Basic_Multiple_PWM, CBC_Deadtime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2304288"/>
            <a:ext cx="5303520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• TIM: PWMOutput, BreakAndDeadtime, DMA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2606039"/>
            <a:ext cx="5303520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• ADC: GroupsRegularInjected, OffsetComp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2907791"/>
            <a:ext cx="5303520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• OPAMP: TimerControlMux, PGA, Calibration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3209544"/>
            <a:ext cx="5303520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• FDCAN: Com_IT, Classic_Frame / CORDIC: Sin_DMA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63640" y="3639312"/>
            <a:ext cx="5577840" cy="246888"/>
          </a:xfrm>
          <a:prstGeom prst="rect">
            <a:avLst/>
          </a:prstGeom>
          <a:solidFill>
            <a:srgbClr val="007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55079" y="3666744"/>
            <a:ext cx="5394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</a:rPr>
              <a:t>함수 단위 청킹 (HAL_ API만)  |  699개 .c / 462개 .h 파일  |  예상: ~200 청크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20040" y="3721608"/>
            <a:ext cx="5577840" cy="347472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1479" y="3758184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③ CubeMX 자동 생성 예제 모음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20040" y="4069080"/>
            <a:ext cx="5577840" cy="1984248"/>
          </a:xfrm>
          <a:prstGeom prst="rect">
            <a:avLst/>
          </a:prstGeom>
          <a:solidFill>
            <a:srgbClr val="D9F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7200" y="4123944"/>
            <a:ext cx="5303520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• 30가지 핀 설정 조합으로 CubeMX 실행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4425696"/>
            <a:ext cx="5303520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• TIM1단독 / TIM1+TIM8 / +TIM20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4727448"/>
            <a:ext cx="5303520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• ADC 단순 / Injected+DMA / 멀티채널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" y="5029200"/>
            <a:ext cx="5303520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• FDCAN 있음/없음, CORDIC 있음/없음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5330952"/>
            <a:ext cx="5303520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• → main.c/tim.c/adc.c/fdcan.c/cordic.c 수집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20040" y="6062472"/>
            <a:ext cx="5577840" cy="246888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11479" y="6089904"/>
            <a:ext cx="5394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</a:rPr>
              <a:t>파일 단위 + 함수 단위 혼합  |  예상: ~500 청크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263640" y="3721608"/>
            <a:ext cx="5577840" cy="347472"/>
          </a:xfrm>
          <a:prstGeom prst="rect">
            <a:avLst/>
          </a:prstGeom>
          <a:solidFill>
            <a:srgbClr val="E6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55079" y="3758184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④ Reference Manual (Step 1과 공유)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263640" y="4069080"/>
            <a:ext cx="5577840" cy="1984248"/>
          </a:xfrm>
          <a:prstGeom prst="rect">
            <a:avLst/>
          </a:prstGeom>
          <a:solidFill>
            <a:srgbClr val="FFF0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400800" y="4123944"/>
            <a:ext cx="5303520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• Step 1 RAG에서 구축한 RM0440 인덱스 재사용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00800" y="4425696"/>
            <a:ext cx="5303520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• 주변장치 챕터 ~1,200 청크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00800" y="4727448"/>
            <a:ext cx="5303520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• 별도 구축 불필요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00800" y="5029200"/>
            <a:ext cx="5303520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• Qdrant 컬렉션: stm32g4_knowledge 공유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263640" y="6062472"/>
            <a:ext cx="5577840" cy="246888"/>
          </a:xfrm>
          <a:prstGeom prst="rect">
            <a:avLst/>
          </a:prstGeom>
          <a:solidFill>
            <a:srgbClr val="E6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355079" y="6089904"/>
            <a:ext cx="5394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</a:rPr>
              <a:t>Step 1 RAG 재사용  |  추가 작업 없음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A-4  Step 3 알고리즘 통합 — Fine-tuning 데이터 구성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4980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FFFFFF"/>
                </a:solidFill>
              </a:rPr>
              <a:t>반자동화 파이프라인  |  목표: 500쌍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105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STM32G4 회로도 검증 &amp; 펌웨어 자동 생성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5105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</a:rPr>
              <a:t>27 / 36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298448"/>
            <a:ext cx="11521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E6DB4"/>
                </a:solidFill>
              </a:rPr>
              <a:t>유효 조합 매트릭스 (~50개 → 조합 자동화로 500개 확장)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1664208"/>
            <a:ext cx="11521440" cy="347472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" y="1691640"/>
            <a:ext cx="1600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</a:rPr>
              <a:t>모터 종류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1691640"/>
            <a:ext cx="1417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</a:rPr>
              <a:t>제어 방식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0440" y="1691640"/>
            <a:ext cx="685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</a:rPr>
              <a:t>축 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51960" y="1691640"/>
            <a:ext cx="1783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</a:rPr>
              <a:t>피드백 센서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80760" y="1691640"/>
            <a:ext cx="1783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</a:rPr>
              <a:t>통신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09560" y="1691640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</a:rPr>
              <a:t>기본 샘플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" y="2029968"/>
            <a:ext cx="11521440" cy="29260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2057400"/>
            <a:ext cx="16002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07C10"/>
                </a:solidFill>
              </a:rPr>
              <a:t>BLDC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57400" y="2057400"/>
            <a:ext cx="14173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FOC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20440" y="2057400"/>
            <a:ext cx="6858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51960" y="2057400"/>
            <a:ext cx="17830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엔코더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80760" y="2057400"/>
            <a:ext cx="17830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FDCAN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09560" y="2057400"/>
            <a:ext cx="13258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0040" y="2331720"/>
            <a:ext cx="1152144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11480" y="2359152"/>
            <a:ext cx="16002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07C10"/>
                </a:solidFill>
              </a:rPr>
              <a:t>BLDC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57400" y="2359152"/>
            <a:ext cx="14173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FOC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20440" y="2359152"/>
            <a:ext cx="6858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51960" y="2359152"/>
            <a:ext cx="17830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Hall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80760" y="2359152"/>
            <a:ext cx="17830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FDCAN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09560" y="2359152"/>
            <a:ext cx="13258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5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20040" y="2633472"/>
            <a:ext cx="11521440" cy="29260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11480" y="2660904"/>
            <a:ext cx="16002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07C10"/>
                </a:solidFill>
              </a:rPr>
              <a:t>BLDC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57400" y="2660904"/>
            <a:ext cx="14173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FOC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20440" y="2660904"/>
            <a:ext cx="6858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51960" y="2660904"/>
            <a:ext cx="17830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Sensorless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080760" y="2660904"/>
            <a:ext cx="17830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FDCAN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09560" y="2660904"/>
            <a:ext cx="13258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4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20040" y="2935224"/>
            <a:ext cx="1152144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11480" y="2962656"/>
            <a:ext cx="16002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07C10"/>
                </a:solidFill>
              </a:rPr>
              <a:t>BLDC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057400" y="2962656"/>
            <a:ext cx="14173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FOC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20440" y="2962656"/>
            <a:ext cx="6858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51960" y="2962656"/>
            <a:ext cx="17830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엔코더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80760" y="2962656"/>
            <a:ext cx="17830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FDCAN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909560" y="2962656"/>
            <a:ext cx="13258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5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20040" y="3236976"/>
            <a:ext cx="11521440" cy="29260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11480" y="3264408"/>
            <a:ext cx="16002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07C10"/>
                </a:solidFill>
              </a:rPr>
              <a:t>BLDC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057400" y="3264408"/>
            <a:ext cx="14173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FOC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520440" y="3264408"/>
            <a:ext cx="6858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51960" y="3264408"/>
            <a:ext cx="17830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Hall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080760" y="3264408"/>
            <a:ext cx="17830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FDCAN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909560" y="3264408"/>
            <a:ext cx="13258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4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20040" y="3538728"/>
            <a:ext cx="1152144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11480" y="3566160"/>
            <a:ext cx="16002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2E6DB4"/>
                </a:solidFill>
              </a:rPr>
              <a:t>BLDC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057400" y="3566160"/>
            <a:ext cx="14173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FOC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520440" y="3566160"/>
            <a:ext cx="6858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251960" y="3566160"/>
            <a:ext cx="17830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엔코더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080760" y="3566160"/>
            <a:ext cx="17830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FDCAN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909560" y="3566160"/>
            <a:ext cx="13258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5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20040" y="3840480"/>
            <a:ext cx="11521440" cy="29260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11480" y="3867912"/>
            <a:ext cx="16002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007A8A"/>
                </a:solidFill>
              </a:rPr>
              <a:t>BLDC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057400" y="3867912"/>
            <a:ext cx="14173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6-step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520440" y="3867912"/>
            <a:ext cx="6858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1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251960" y="3867912"/>
            <a:ext cx="17830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Hall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080760" y="3867912"/>
            <a:ext cx="17830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FDCAN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909560" y="3867912"/>
            <a:ext cx="13258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4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20040" y="4142232"/>
            <a:ext cx="1152144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11480" y="4169664"/>
            <a:ext cx="16002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007A8A"/>
                </a:solidFill>
              </a:rPr>
              <a:t>BLDC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057400" y="4169664"/>
            <a:ext cx="14173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6-step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520440" y="4169664"/>
            <a:ext cx="6858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1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251960" y="4169664"/>
            <a:ext cx="17830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Hall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080760" y="4169664"/>
            <a:ext cx="17830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UART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909560" y="4169664"/>
            <a:ext cx="13258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3</a:t>
            </a:r>
          </a:p>
        </p:txBody>
      </p:sp>
      <p:sp>
        <p:nvSpPr>
          <p:cNvPr id="73" name="Rectangle 72"/>
          <p:cNvSpPr/>
          <p:nvPr/>
        </p:nvSpPr>
        <p:spPr>
          <a:xfrm>
            <a:off x="320040" y="4443984"/>
            <a:ext cx="11521440" cy="29260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411480" y="4471416"/>
            <a:ext cx="16002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E66C00"/>
                </a:solidFill>
              </a:rPr>
              <a:t>DC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057400" y="4471416"/>
            <a:ext cx="14173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PID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520440" y="4471416"/>
            <a:ext cx="6858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1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251960" y="4471416"/>
            <a:ext cx="17830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엔코더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080760" y="4471416"/>
            <a:ext cx="17830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FDCAN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909560" y="4471416"/>
            <a:ext cx="13258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4</a:t>
            </a:r>
          </a:p>
        </p:txBody>
      </p:sp>
      <p:sp>
        <p:nvSpPr>
          <p:cNvPr id="80" name="Rectangle 79"/>
          <p:cNvSpPr/>
          <p:nvPr/>
        </p:nvSpPr>
        <p:spPr>
          <a:xfrm>
            <a:off x="320040" y="4745736"/>
            <a:ext cx="1152144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11480" y="4773168"/>
            <a:ext cx="16002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E66C00"/>
                </a:solidFill>
              </a:rPr>
              <a:t>DC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057400" y="4773168"/>
            <a:ext cx="14173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PID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520440" y="4773168"/>
            <a:ext cx="6858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2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251960" y="4773168"/>
            <a:ext cx="17830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엔코더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080760" y="4773168"/>
            <a:ext cx="17830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FDCAN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909560" y="4773168"/>
            <a:ext cx="13258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4</a:t>
            </a:r>
          </a:p>
        </p:txBody>
      </p:sp>
      <p:sp>
        <p:nvSpPr>
          <p:cNvPr id="87" name="Rectangle 86"/>
          <p:cNvSpPr/>
          <p:nvPr/>
        </p:nvSpPr>
        <p:spPr>
          <a:xfrm>
            <a:off x="320040" y="5047488"/>
            <a:ext cx="11521440" cy="29260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411480" y="5074920"/>
            <a:ext cx="16002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E66C00"/>
                </a:solidFill>
              </a:rPr>
              <a:t>DC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057400" y="5074920"/>
            <a:ext cx="14173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PID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520440" y="5074920"/>
            <a:ext cx="6858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3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251960" y="5074920"/>
            <a:ext cx="17830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엔코더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080760" y="5074920"/>
            <a:ext cx="17830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FDCAN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909560" y="5074920"/>
            <a:ext cx="13258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3</a:t>
            </a:r>
          </a:p>
        </p:txBody>
      </p:sp>
      <p:sp>
        <p:nvSpPr>
          <p:cNvPr id="94" name="Rectangle 93"/>
          <p:cNvSpPr/>
          <p:nvPr/>
        </p:nvSpPr>
        <p:spPr>
          <a:xfrm>
            <a:off x="320040" y="5349240"/>
            <a:ext cx="1152144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411480" y="5376672"/>
            <a:ext cx="16002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2E6DB4"/>
                </a:solidFill>
              </a:rPr>
              <a:t>BLDC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2057400" y="5376672"/>
            <a:ext cx="14173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FOC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520440" y="5376672"/>
            <a:ext cx="6858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1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251960" y="5376672"/>
            <a:ext cx="17830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엔코더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080760" y="5376672"/>
            <a:ext cx="17830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FDCAN+UART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909560" y="5376672"/>
            <a:ext cx="13258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4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320040" y="5650992"/>
            <a:ext cx="11521440" cy="29260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457200" y="5678424"/>
            <a:ext cx="11247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기본 50쌍  →  조합 자동화 × 10  →  500쌍 목표  |  컴파일 검증(arm-none-eabi-gcc) 100% 적용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320040" y="5980176"/>
            <a:ext cx="11521440" cy="658368"/>
          </a:xfrm>
          <a:prstGeom prst="rect">
            <a:avLst/>
          </a:prstGeom>
          <a:solidFill>
            <a:srgbClr val="D6E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457200" y="6016752"/>
            <a:ext cx="1124712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B3A6B"/>
                </a:solidFill>
              </a:rPr>
              <a:t>생성 파이프라인:  CubeMX CLI (Layer1)  +  Golden Module (Layer2)  →  엔지니어 검토  →  컴파일 검증  →  JSON 저장
소요: 기본 50쌍 확보(2~3주) → 자동 확장(스크립트 1~2일) → 최종 검토(1주)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286000"/>
            <a:ext cx="12188952" cy="2286000"/>
          </a:xfrm>
          <a:prstGeom prst="rect">
            <a:avLst/>
          </a:prstGeom>
          <a:solidFill>
            <a:srgbClr val="007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18872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A8D0FF"/>
                </a:solidFill>
              </a:rPr>
              <a:t>Appendix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423160"/>
            <a:ext cx="100584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</a:rPr>
              <a:t>모델 학습 방법 상세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3832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1">
                <a:solidFill>
                  <a:srgbClr val="FFFFFF"/>
                </a:solidFill>
              </a:rPr>
              <a:t>환경 설정 · RAG 구축 · QLoRA Fine-tuning · 배포 · 평가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309360"/>
            <a:ext cx="12188952" cy="548640"/>
          </a:xfrm>
          <a:prstGeom prst="rect">
            <a:avLst/>
          </a:prstGeom>
          <a:solidFill>
            <a:srgbClr val="0F24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336792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99BBFF"/>
                </a:solidFill>
              </a:rPr>
              <a:t>DGX Spark 128GB  |  Unsloth + QLoRA  |  Ollama 배포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" y="65105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STM32G4 회로도 검증 &amp; 펌웨어 자동 생성 Agent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5105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</a:rPr>
              <a:t>28 / 36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B-1  환경 설정 &amp; RAG 지식베이스 구축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5105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STM32G4 회로도 검증 &amp; 펌웨어 자동 생성 Agent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</a:rPr>
              <a:t>29 / 36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1298448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7A8A"/>
                </a:solidFill>
              </a:rPr>
              <a:t>필수 패키지 설치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664208"/>
            <a:ext cx="5303520" cy="356616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709928"/>
            <a:ext cx="51206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EF5B0"/>
                </a:solidFill>
              </a:rPr>
              <a:t>conda create -n stm32_train python=3.11
conda activate stm32_train
# PyTorch (GB10 Blackwell)
pip install torch --index-url   https://download.pytorch.org/whl/cu128
# 학습 라이브러리
pip install transformers==4.48.0
pip install peft==0.14.0        # QLoRA
pip install trl==0.13.0         # SFT Trainer
pip install bitsandbytes==0.45.0
pip install unsloth             # 2× 속도 가속
pip install accelerate==1.3.0
# RAG / 벡터 DB
pip install llama-index
pip install llama-index-vector-stores-qdrant
pip install llama-index-embeddings-huggingface
pip install qdrant-client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298448"/>
            <a:ext cx="5760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7A8A"/>
                </a:solidFill>
              </a:rPr>
              <a:t>Qdrant 실행 + RAG 인덱싱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80760" y="1664208"/>
            <a:ext cx="5760720" cy="356616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7920" y="1709928"/>
            <a:ext cx="55778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ADD8E6"/>
                </a:solidFill>
              </a:rPr>
              <a:t># docker-compose.yml
services:
  qdrant:
    image: qdrant/qdrant:latest
    ports: ["6333:6333"]
    volumes:
      - ./qdrant_storage:/qdrant/storage
# 실행
docker compose up -d qdrant
# RAG 인덱스 구축
python rag/build_index.py \
  --golden_modules ./golden_modules/ \
  --hal_sources ./STM32CubeG4/Drivers/ \
  --datasheet_chunks ./data/chunks/ \
  --collection stm32g4_knowledge
# 임베딩 모델: BAAI/bge-m3
# 한국어+영어 혼재 환경 최적
# 인덱싱 소요: 약 30~60분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5321808"/>
            <a:ext cx="11521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7A8A"/>
                </a:solidFill>
              </a:rPr>
              <a:t>작업 디렉토리 구조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" y="5650992"/>
            <a:ext cx="11521440" cy="658368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5687568"/>
            <a:ext cx="11247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CEF5B0"/>
                </a:solidFill>
              </a:rPr>
              <a:t>/workspace/stm32_agent/  ├─ data/step1_verification/  train.jsonl · val.jsonl · test.jsonl  │  └─ step3_integration/  train.jsonl ...  ├─ models/  base/ · finetuned/ · gguf/  ├─ golden_modules/  *.c · *.h  └─ rag/  build_index.py · query.py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B-2  Step 1 모델 — QLoRA Fine-tuning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4980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FFFFFF"/>
                </a:solidFill>
              </a:rPr>
              <a:t>베이스: Gemma 4 31B Dense  |  목적: 3계층 검증 리포트 포맷 통일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105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STM32G4 회로도 검증 &amp; 펌웨어 자동 생성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5105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</a:rPr>
              <a:t>30 / 36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298448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E6DB4"/>
                </a:solidFill>
              </a:rPr>
              <a:t>핵심 하이퍼파라미터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1664208"/>
            <a:ext cx="5303520" cy="29260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" y="1691640"/>
            <a:ext cx="1645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파라미터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48840" y="1691640"/>
            <a:ext cx="1463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03320" y="169164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설명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" y="1975104"/>
            <a:ext cx="5303520" cy="310896"/>
          </a:xfrm>
          <a:prstGeom prst="rect">
            <a:avLst/>
          </a:prstGeom>
          <a:solidFill>
            <a:srgbClr val="F0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2002536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B3A6B"/>
                </a:solidFill>
              </a:rPr>
              <a:t>LoRA rank (r)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48840" y="2002536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E6DB4"/>
                </a:solidFill>
              </a:rPr>
              <a:t>32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03320" y="2002536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606060"/>
                </a:solidFill>
              </a:rPr>
              <a:t>높을수록 품질↑ 메모리↑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2304288"/>
            <a:ext cx="5303520" cy="310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80" y="2331720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B3A6B"/>
                </a:solidFill>
              </a:rPr>
              <a:t>LoRA alpha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48840" y="2331720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E6DB4"/>
                </a:solidFill>
              </a:rPr>
              <a:t>32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03320" y="2331720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606060"/>
                </a:solidFill>
              </a:rPr>
              <a:t>보통 r과 동일하게 설정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2633472"/>
            <a:ext cx="5303520" cy="310896"/>
          </a:xfrm>
          <a:prstGeom prst="rect">
            <a:avLst/>
          </a:prstGeom>
          <a:solidFill>
            <a:srgbClr val="F0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80" y="2660904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B3A6B"/>
                </a:solidFill>
              </a:rPr>
              <a:t>LoRA dropout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48840" y="2660904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E6DB4"/>
                </a:solidFill>
              </a:rPr>
              <a:t>0.05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03320" y="2660904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606060"/>
                </a:solidFill>
              </a:rPr>
              <a:t>과적합 방지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0040" y="2962656"/>
            <a:ext cx="5303520" cy="310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1480" y="2990088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B3A6B"/>
                </a:solidFill>
              </a:rPr>
              <a:t>Target modules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48840" y="2990088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E6DB4"/>
                </a:solidFill>
              </a:rPr>
              <a:t>q/k/v/o/gate/up/down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703320" y="2990088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606060"/>
                </a:solidFill>
              </a:rPr>
              <a:t>Gemma-4 전체 레이어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20040" y="3291840"/>
            <a:ext cx="5303520" cy="310896"/>
          </a:xfrm>
          <a:prstGeom prst="rect">
            <a:avLst/>
          </a:prstGeom>
          <a:solidFill>
            <a:srgbClr val="F0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3319272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B3A6B"/>
                </a:solidFill>
              </a:rPr>
              <a:t>Learning rate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148840" y="3319272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E6DB4"/>
                </a:solidFill>
              </a:rPr>
              <a:t>2e-4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03320" y="3319272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606060"/>
                </a:solidFill>
              </a:rPr>
              <a:t>cosine 스케줄러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20040" y="3621024"/>
            <a:ext cx="5303520" cy="310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0" y="3648456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B3A6B"/>
                </a:solidFill>
              </a:rPr>
              <a:t>Warmup ratio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148840" y="3648456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E6DB4"/>
                </a:solidFill>
              </a:rPr>
              <a:t>0.05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703320" y="3648456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606060"/>
                </a:solidFill>
              </a:rPr>
              <a:t>전체 스텝의 5%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20040" y="3950208"/>
            <a:ext cx="5303520" cy="310896"/>
          </a:xfrm>
          <a:prstGeom prst="rect">
            <a:avLst/>
          </a:prstGeom>
          <a:solidFill>
            <a:srgbClr val="F0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11480" y="3977639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B3A6B"/>
                </a:solidFill>
              </a:rPr>
              <a:t>Batch size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148840" y="3977639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E6DB4"/>
                </a:solidFill>
              </a:rPr>
              <a:t>2 × GA 8 = 16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703320" y="3977639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606060"/>
                </a:solidFill>
              </a:rPr>
              <a:t>실효 배치 크기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20040" y="4279392"/>
            <a:ext cx="5303520" cy="310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11480" y="4306824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B3A6B"/>
                </a:solidFill>
              </a:rPr>
              <a:t>Epochs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148840" y="4306824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E6DB4"/>
                </a:solidFill>
              </a:rPr>
              <a:t>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703320" y="4306824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606060"/>
                </a:solidFill>
              </a:rPr>
              <a:t>검증셋 모니터링 필수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20040" y="4608576"/>
            <a:ext cx="5303520" cy="310896"/>
          </a:xfrm>
          <a:prstGeom prst="rect">
            <a:avLst/>
          </a:prstGeom>
          <a:solidFill>
            <a:srgbClr val="F0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11480" y="4636008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B3A6B"/>
                </a:solidFill>
              </a:rPr>
              <a:t>Max seq length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148840" y="4636008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E6DB4"/>
                </a:solidFill>
              </a:rPr>
              <a:t>4096 토큰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703320" y="4636008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606060"/>
                </a:solidFill>
              </a:rPr>
              <a:t>핀 JSON + 설명 충분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20040" y="4937760"/>
            <a:ext cx="5303520" cy="310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11480" y="4965192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B3A6B"/>
                </a:solidFill>
              </a:rPr>
              <a:t>Quantization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148840" y="4965192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E6DB4"/>
                </a:solidFill>
              </a:rPr>
              <a:t>4bit (NF4)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703320" y="4965192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606060"/>
                </a:solidFill>
              </a:rPr>
              <a:t>학습 중 양자화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20040" y="5266944"/>
            <a:ext cx="5303520" cy="310896"/>
          </a:xfrm>
          <a:prstGeom prst="rect">
            <a:avLst/>
          </a:prstGeom>
          <a:solidFill>
            <a:srgbClr val="F0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11480" y="5294375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B3A6B"/>
                </a:solidFill>
              </a:rPr>
              <a:t>Precision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148840" y="5294375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E6DB4"/>
                </a:solidFill>
              </a:rPr>
              <a:t>bfloat16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703320" y="5294375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606060"/>
                </a:solidFill>
              </a:rPr>
              <a:t>GB10 Blackwell 지원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20040" y="5596128"/>
            <a:ext cx="5303520" cy="310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11480" y="5623560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B3A6B"/>
                </a:solidFill>
              </a:rPr>
              <a:t>예상 학습 시간 (1,000쌍)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148840" y="5623560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E6DB4"/>
                </a:solidFill>
              </a:rPr>
              <a:t>~4시간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703320" y="5623560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606060"/>
                </a:solidFill>
              </a:rPr>
              <a:t>DGX Spark 128GB 기준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080760" y="1298448"/>
            <a:ext cx="5760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E6DB4"/>
                </a:solidFill>
              </a:rPr>
              <a:t>학습 스크립트 핵심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080760" y="1664208"/>
            <a:ext cx="5760720" cy="443484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217920" y="1709928"/>
            <a:ext cx="557784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EF5B0"/>
                </a:solidFill>
              </a:rPr>
              <a:t>from unsloth import FastLanguageModel
from trl import SFTTrainer, SFTConfig
model, tokenizer = FastLanguageModel.from_pretrained(
    model_name = "/workspace/models/base/gemma-4-31b-it",
    max_seq_length = 4096,
    load_in_4bit   = True,
)
model = FastLanguageModel.get_peft_model(
    model,
    r=32, lora_alpha=32,
    lora_dropout=0.05,
    target_modules=["q_proj","k_proj","v_proj",
                    "o_proj","gate_proj",
                    "up_proj","down_proj"],
)
trainer = SFTTrainer(
    model=model, tokenizer=tokenizer,
    train_dataset=dataset["train"],
    eval_dataset =dataset["validation"],
    args=SFTConfig(
        per_device_train_batch_size=2,
        gradient_accumulation_steps=8,
        num_train_epochs=3,
        learning_rate=2e-4,
        bf16=True,
        lr_scheduler_type="cosine",
        output_dir="/workspace/models/finetuned/step1",
    )
)
trainer.train()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20040" y="5943600"/>
            <a:ext cx="11521440" cy="384048"/>
          </a:xfrm>
          <a:prstGeom prst="rect">
            <a:avLst/>
          </a:prstGeom>
          <a:solidFill>
            <a:srgbClr val="D6E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7200" y="5980176"/>
            <a:ext cx="112471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B3A6B"/>
                </a:solidFill>
              </a:rPr>
              <a:t>TensorBoard 모니터링:  tensorboard --logdir=/workspace/models/logs  →  http://dgx-spark:6006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B-3  Step 3 모델 — QLoRA Fine-tuning &amp; Ollama 배포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4980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FFFFFF"/>
                </a:solidFill>
              </a:rPr>
              <a:t>베이스: Gemma 4 26B MoE  |  목적: USER CODE 통합 코드 생성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105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STM32G4 회로도 검증 &amp; 펌웨어 자동 생성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5105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</a:rPr>
              <a:t>31 / 36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298448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07C10"/>
                </a:solidFill>
              </a:rPr>
              <a:t>Step 1과 다른 설정값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1664208"/>
            <a:ext cx="5303520" cy="29260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" y="1691640"/>
            <a:ext cx="1737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파라미터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40280" y="169164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03320" y="169164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Step1 대비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" y="1975104"/>
            <a:ext cx="5303520" cy="365760"/>
          </a:xfrm>
          <a:prstGeom prst="rect">
            <a:avLst/>
          </a:prstGeom>
          <a:solidFill>
            <a:srgbClr val="D9F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2011680"/>
            <a:ext cx="1737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B3A6B"/>
                </a:solidFill>
              </a:rPr>
              <a:t>LoRA rank (r)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40280" y="2011680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07C10"/>
                </a:solidFill>
              </a:rPr>
              <a:t>64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03320" y="2011680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06060"/>
                </a:solidFill>
              </a:rPr>
              <a:t>코드 생성은 rank 높게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2359152"/>
            <a:ext cx="530352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80" y="2395728"/>
            <a:ext cx="1737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B3A6B"/>
                </a:solidFill>
              </a:rPr>
              <a:t>Learning rate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240280" y="2395728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07C10"/>
                </a:solidFill>
              </a:rPr>
              <a:t>1e-4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03320" y="2395728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06060"/>
                </a:solidFill>
              </a:rPr>
              <a:t>Step1(2e-4)보다 낮게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2743200"/>
            <a:ext cx="5303520" cy="365760"/>
          </a:xfrm>
          <a:prstGeom prst="rect">
            <a:avLst/>
          </a:prstGeom>
          <a:solidFill>
            <a:srgbClr val="D9F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80" y="2779776"/>
            <a:ext cx="1737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B3A6B"/>
                </a:solidFill>
              </a:rPr>
              <a:t>Max seq length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40280" y="2779776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07C10"/>
                </a:solidFill>
              </a:rPr>
              <a:t>8192 토큰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03320" y="2779776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06060"/>
                </a:solidFill>
              </a:rPr>
              <a:t>코드가 길어 컨텍스트 2배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0040" y="3127248"/>
            <a:ext cx="530352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1480" y="3163824"/>
            <a:ext cx="1737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B3A6B"/>
                </a:solidFill>
              </a:rPr>
              <a:t>Batch size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240280" y="3163824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07C10"/>
                </a:solidFill>
              </a:rPr>
              <a:t>1 × GA 16 = 16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703320" y="3163824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06060"/>
                </a:solidFill>
              </a:rPr>
              <a:t>긴 시퀀스로 배치 줄임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20040" y="3511296"/>
            <a:ext cx="5303520" cy="365760"/>
          </a:xfrm>
          <a:prstGeom prst="rect">
            <a:avLst/>
          </a:prstGeom>
          <a:solidFill>
            <a:srgbClr val="D9F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3547872"/>
            <a:ext cx="1737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B3A6B"/>
                </a:solidFill>
              </a:rPr>
              <a:t>Epochs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240280" y="3547872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07C10"/>
                </a:solidFill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03320" y="3547872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06060"/>
                </a:solidFill>
              </a:rPr>
              <a:t>코드는 더 많은 학습 필요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20040" y="3895344"/>
            <a:ext cx="530352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0" y="3931920"/>
            <a:ext cx="1737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B3A6B"/>
                </a:solidFill>
              </a:rPr>
              <a:t>예상 학습 (200쌍)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240280" y="3931920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07C10"/>
                </a:solidFill>
              </a:rPr>
              <a:t>~6시간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703320" y="3931920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06060"/>
                </a:solidFill>
              </a:rPr>
              <a:t>DGX Spark 128GB 기준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80760" y="1298448"/>
            <a:ext cx="5760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07C10"/>
                </a:solidFill>
              </a:rPr>
              <a:t>어댑터 병합 → GGUF 변환 → Ollama 등록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080760" y="1664208"/>
            <a:ext cx="5760720" cy="4645152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17920" y="1709928"/>
            <a:ext cx="5577840" cy="45537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EF5B0"/>
                </a:solidFill>
              </a:rPr>
              <a:t># 1. 어댑터 + 베이스 모델 병합 후 GGUF 변환
from unsloth import FastLanguageModel
model, tokenizer = FastLanguageModel.from_pretrained(
    "/workspace/models/base/gemma-4-26b-it",
    load_in_4bit=True
)
model.load_adapter(
    "/workspace/models/finetuned/step3/adapter"
)
model.save_pretrained_gguf(
    "/workspace/models/gguf/step3",
    tokenizer,
    quantization_method="q8_0"  # Q8 품질 유지
)
# 2. Ollama Modelfile 작성
cat &gt; Modelfile &lt;&lt; 'EOF'
FROM /workspace/models/gguf/step3/model-q8_0.gguf
PARAMETER num_ctx 8192
PARAMETER temperature 0.1
SYSTEM "STM32G4 펌웨어 전문가..."
EOF
# 3. Ollama 등록 &amp; 테스트
ollama create stm32-coder-v1 -f Modelfile
ollama run stm32-coder-v1 "BLDC FOC 통합 코드 작성"
# 4. API 서버에서 모델 지정
# POST http://dgx-spark:11434/api/chat
# {"model": "stm32-coder-v1", ...}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20040" y="4224528"/>
            <a:ext cx="5303520" cy="384048"/>
          </a:xfrm>
          <a:prstGeom prst="rect">
            <a:avLst/>
          </a:prstGeom>
          <a:solidFill>
            <a:srgbClr val="D9F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57200" y="4261104"/>
            <a:ext cx="5120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07C10"/>
                </a:solidFill>
              </a:rPr>
              <a:t>변환 소요:  32B GGUF 약 20~30분  |  등록 후 즉시 API 사용 가능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20040" y="4663440"/>
            <a:ext cx="5303520" cy="777240"/>
          </a:xfrm>
          <a:prstGeom prst="rect">
            <a:avLst/>
          </a:prstGeom>
          <a:solidFill>
            <a:srgbClr val="FFF0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7200" y="4700016"/>
            <a:ext cx="5120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66C00"/>
                </a:solidFill>
              </a:rPr>
              <a:t>버전 관리 권장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7200" y="4956048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stm32-coder-v1  (기본 RAG 버전)
stm32-coder-v2  (fine-tuned 50쌍)
stm32-coder-v3  (fine-tuned 500쌍)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B-4  모델 평가 지표 &amp; 합격 기준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5105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STM32G4 회로도 검증 &amp; 펌웨어 자동 생성 Agent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</a:rPr>
              <a:t>32 / 36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1298448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E6DB4"/>
                </a:solidFill>
              </a:rPr>
              <a:t>Step 1 — 핀 검증 평가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664208"/>
            <a:ext cx="5486400" cy="29260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1691640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지표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691640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설명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18104" y="1691640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목표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71416" y="1691640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최소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" y="1975104"/>
            <a:ext cx="5486400" cy="420624"/>
          </a:xfrm>
          <a:prstGeom prst="rect">
            <a:avLst/>
          </a:prstGeom>
          <a:solidFill>
            <a:srgbClr val="F0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2011680"/>
            <a:ext cx="129844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B3A6B"/>
                </a:solidFill>
              </a:rPr>
              <a:t>JSON 형식 유효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64792" y="2011680"/>
            <a:ext cx="129844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06060"/>
                </a:solidFill>
              </a:rPr>
              <a:t>LLM 출력이 파싱 가능한 JSON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8104" y="2011680"/>
            <a:ext cx="129844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07C10"/>
                </a:solidFill>
              </a:rPr>
              <a:t>목표 100%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71416" y="2011680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606060"/>
                </a:solidFill>
              </a:rPr>
              <a:t>&gt; 99%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2414016"/>
            <a:ext cx="5486400" cy="4206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" y="2450592"/>
            <a:ext cx="129844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B3A6B"/>
                </a:solidFill>
              </a:rPr>
              <a:t>오류 Recall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2450592"/>
            <a:ext cx="129844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06060"/>
                </a:solidFill>
              </a:rPr>
              <a:t>실제 오류 핀 중 감지 비율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18104" y="2450592"/>
            <a:ext cx="129844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07C10"/>
                </a:solidFill>
              </a:rPr>
              <a:t>목표 &gt; 95%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71416" y="2450592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606060"/>
                </a:solidFill>
              </a:rPr>
              <a:t>&gt; 90%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0040" y="2852928"/>
            <a:ext cx="5486400" cy="420624"/>
          </a:xfrm>
          <a:prstGeom prst="rect">
            <a:avLst/>
          </a:prstGeom>
          <a:solidFill>
            <a:srgbClr val="F0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11480" y="2889504"/>
            <a:ext cx="129844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B3A6B"/>
                </a:solidFill>
              </a:rPr>
              <a:t>False Positive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64792" y="2889504"/>
            <a:ext cx="129844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06060"/>
                </a:solidFill>
              </a:rPr>
              <a:t>정상 핀을 오류로 판단하는 비율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118104" y="2889504"/>
            <a:ext cx="129844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66C00"/>
                </a:solidFill>
              </a:rPr>
              <a:t>목표 &lt; 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71416" y="2889504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606060"/>
                </a:solidFill>
              </a:rPr>
              <a:t>&lt; 10%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0040" y="3291840"/>
            <a:ext cx="5486400" cy="4206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3328416"/>
            <a:ext cx="129844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B3A6B"/>
                </a:solidFill>
              </a:rPr>
              <a:t>Exact Match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3328416"/>
            <a:ext cx="129844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06060"/>
                </a:solidFill>
              </a:rPr>
              <a:t>규칙 엔진 정답과 완전 일치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118104" y="3328416"/>
            <a:ext cx="129844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07C10"/>
                </a:solidFill>
              </a:rPr>
              <a:t>목표 &gt; 90%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71416" y="3328416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606060"/>
                </a:solidFill>
              </a:rPr>
              <a:t>&gt; 85%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20040" y="3730752"/>
            <a:ext cx="5486400" cy="420624"/>
          </a:xfrm>
          <a:prstGeom prst="rect">
            <a:avLst/>
          </a:prstGeom>
          <a:solidFill>
            <a:srgbClr val="F0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0" y="3767328"/>
            <a:ext cx="129844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B3A6B"/>
                </a:solidFill>
              </a:rPr>
              <a:t>한국어 설명 품질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764792" y="3767328"/>
            <a:ext cx="129844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06060"/>
                </a:solidFill>
              </a:rPr>
              <a:t>오류 메시지 자연스러움 (수동 평가)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118104" y="3767328"/>
            <a:ext cx="129844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66C00"/>
                </a:solidFill>
              </a:rPr>
              <a:t>목표 &gt; 4/5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471416" y="3767328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606060"/>
                </a:solidFill>
              </a:rPr>
              <a:t>&gt; 3/5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80760" y="1298448"/>
            <a:ext cx="5760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07C10"/>
                </a:solidFill>
              </a:rPr>
              <a:t>Step 3 — 코드 통합 평가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080760" y="1664208"/>
            <a:ext cx="5760720" cy="29260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172200" y="1691640"/>
            <a:ext cx="135331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지표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589520" y="1691640"/>
            <a:ext cx="135331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설명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006840" y="1691640"/>
            <a:ext cx="135331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목표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424160" y="1691640"/>
            <a:ext cx="135331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최소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080760" y="1975104"/>
            <a:ext cx="5760720" cy="420624"/>
          </a:xfrm>
          <a:prstGeom prst="rect">
            <a:avLst/>
          </a:prstGeom>
          <a:solidFill>
            <a:srgbClr val="D9F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172200" y="2011680"/>
            <a:ext cx="1353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07C10"/>
                </a:solidFill>
              </a:rPr>
              <a:t>컴파일 통과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589520" y="2011680"/>
            <a:ext cx="1353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06060"/>
                </a:solidFill>
              </a:rPr>
              <a:t>arm-none-eabi-gcc 빌드 성공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006840" y="2011680"/>
            <a:ext cx="1353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07C10"/>
                </a:solidFill>
              </a:rPr>
              <a:t>목표 &gt; 95%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424160" y="2011680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606060"/>
                </a:solidFill>
              </a:rPr>
              <a:t>&gt; 90%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080760" y="2414016"/>
            <a:ext cx="5760720" cy="4206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172200" y="2450592"/>
            <a:ext cx="1353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07C10"/>
                </a:solidFill>
              </a:rPr>
              <a:t>HAL 코드 미수정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589520" y="2450592"/>
            <a:ext cx="1353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06060"/>
                </a:solidFill>
              </a:rPr>
              <a:t>MX_* 함수 원본 유지 여부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006840" y="2450592"/>
            <a:ext cx="1353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07C10"/>
                </a:solidFill>
              </a:rPr>
              <a:t>목표 100%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424160" y="2450592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606060"/>
                </a:solidFill>
              </a:rPr>
              <a:t>100%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080760" y="2852928"/>
            <a:ext cx="5760720" cy="420624"/>
          </a:xfrm>
          <a:prstGeom prst="rect">
            <a:avLst/>
          </a:prstGeom>
          <a:solidFill>
            <a:srgbClr val="D9F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172200" y="2889504"/>
            <a:ext cx="1353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07C10"/>
                </a:solidFill>
              </a:rPr>
              <a:t>USER CODE 준수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589520" y="2889504"/>
            <a:ext cx="1353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06060"/>
                </a:solidFill>
              </a:rPr>
              <a:t>지정 영역에만 코드 삽입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006840" y="2889504"/>
            <a:ext cx="1353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07C10"/>
                </a:solidFill>
              </a:rPr>
              <a:t>목표 100%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424160" y="2889504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606060"/>
                </a:solidFill>
              </a:rPr>
              <a:t>&gt; 98%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080760" y="3291840"/>
            <a:ext cx="5760720" cy="4206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172200" y="3328416"/>
            <a:ext cx="1353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07C10"/>
                </a:solidFill>
              </a:rPr>
              <a:t>모듈 include 완전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589520" y="3328416"/>
            <a:ext cx="1353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06060"/>
                </a:solidFill>
              </a:rPr>
              <a:t>필요 헤더 전부 include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006840" y="3328416"/>
            <a:ext cx="1353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07C10"/>
                </a:solidFill>
              </a:rPr>
              <a:t>목표 &gt; 98%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424160" y="3328416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606060"/>
                </a:solidFill>
              </a:rPr>
              <a:t>&gt; 95%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080760" y="3730752"/>
            <a:ext cx="5760720" cy="420624"/>
          </a:xfrm>
          <a:prstGeom prst="rect">
            <a:avLst/>
          </a:prstGeom>
          <a:solidFill>
            <a:srgbClr val="D9F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172200" y="3767328"/>
            <a:ext cx="1353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07C10"/>
                </a:solidFill>
              </a:rPr>
              <a:t>FOC 루프 연결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589520" y="3767328"/>
            <a:ext cx="1353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06060"/>
                </a:solidFill>
              </a:rPr>
              <a:t>ADC ISR → FOC → TIM 흐름 정확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006840" y="3767328"/>
            <a:ext cx="1353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66C00"/>
                </a:solidFill>
              </a:rPr>
              <a:t>목표 &gt; 90%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424160" y="3767328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606060"/>
                </a:solidFill>
              </a:rPr>
              <a:t>&gt; 85%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080760" y="4169664"/>
            <a:ext cx="5760720" cy="4206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172200" y="4206240"/>
            <a:ext cx="1353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07C10"/>
                </a:solidFill>
              </a:rPr>
              <a:t>HW 동작 검증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589520" y="4206240"/>
            <a:ext cx="1353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06060"/>
                </a:solidFill>
              </a:rPr>
              <a:t>실제 모터 회전 확인 (샘플 20%)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006840" y="4206240"/>
            <a:ext cx="1353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66C00"/>
                </a:solidFill>
              </a:rPr>
              <a:t>목표 &gt; 80%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0424160" y="4206240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606060"/>
                </a:solidFill>
              </a:rPr>
              <a:t>&gt; 70%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320040" y="4187952"/>
            <a:ext cx="11521440" cy="50292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57200" y="4242816"/>
            <a:ext cx="11247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</a:rPr>
              <a:t>자동화 평가 파이프라인:  python evaluate.py → compile_test → metrics_report.json → TensorBoard 시각화</a:t>
            </a:r>
          </a:p>
        </p:txBody>
      </p:sp>
      <p:sp>
        <p:nvSpPr>
          <p:cNvPr id="77" name="Rectangle 76"/>
          <p:cNvSpPr/>
          <p:nvPr/>
        </p:nvSpPr>
        <p:spPr>
          <a:xfrm>
            <a:off x="320040" y="4727448"/>
            <a:ext cx="11521440" cy="658368"/>
          </a:xfrm>
          <a:prstGeom prst="rect">
            <a:avLst/>
          </a:prstGeom>
          <a:solidFill>
            <a:srgbClr val="D0F0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7200" y="477316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07A8A"/>
                </a:solidFill>
              </a:rPr>
              <a:t>평가 주기 권장:  학습 중 eval_steps=100마다 자동 평가  |  버전 릴리즈 전 전체 test.jsonl 평가  |  HW 검증은 릴리즈 후 2주 이내 샘플링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286000"/>
            <a:ext cx="12188952" cy="2286000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18872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A8D0FF"/>
                </a:solidFill>
              </a:rPr>
              <a:t>Appendix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423160"/>
            <a:ext cx="100584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</a:rPr>
              <a:t>웹 애플리케이션 개발 프로세스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3832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1">
                <a:solidFill>
                  <a:srgbClr val="FFFFFF"/>
                </a:solidFill>
              </a:rPr>
              <a:t>DGX Spark 서버 기반  |  HW / FW 개발자 모두 사용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309360"/>
            <a:ext cx="12188952" cy="548640"/>
          </a:xfrm>
          <a:prstGeom prst="rect">
            <a:avLst/>
          </a:prstGeom>
          <a:solidFill>
            <a:srgbClr val="0F24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336792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99BBFF"/>
                </a:solidFill>
              </a:rPr>
              <a:t>FastAPI + React 18 + Tailwind CSS  |  Docker Compose 단일 명령 배포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" y="65105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STM32G4 회로도 검증 &amp; 펌웨어 자동 생성 Agent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5105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</a:rPr>
              <a:t>33 / 36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C-1  기술 스택 &amp; 시스템 아키텍처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5105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STM32G4 회로도 검증 &amp; 펌웨어 자동 생성 Agent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</a:rPr>
              <a:t>34 / 36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1298448"/>
            <a:ext cx="11521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07C10"/>
                </a:solidFill>
              </a:rPr>
              <a:t>단계별 기술 스택 선택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664208"/>
            <a:ext cx="11521440" cy="29260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1691640"/>
            <a:ext cx="3566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레이어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60520" y="1691640"/>
            <a:ext cx="3566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MVP (Streamlit)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09559" y="1691640"/>
            <a:ext cx="3566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프로덕션 (React)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" y="1975104"/>
            <a:ext cx="11521440" cy="329184"/>
          </a:xfrm>
          <a:prstGeom prst="rect">
            <a:avLst/>
          </a:prstGeom>
          <a:solidFill>
            <a:srgbClr val="D9F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2002536"/>
            <a:ext cx="3566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B3A6B"/>
                </a:solidFill>
              </a:rPr>
              <a:t>프론트엔드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60520" y="2002536"/>
            <a:ext cx="3566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06060"/>
                </a:solidFill>
              </a:rPr>
              <a:t>Streamlit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09560" y="2002536"/>
            <a:ext cx="3566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07C10"/>
                </a:solidFill>
              </a:rPr>
              <a:t>React 18 + TypeScript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" y="2322576"/>
            <a:ext cx="1152144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2350008"/>
            <a:ext cx="3566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B3A6B"/>
                </a:solidFill>
              </a:rPr>
              <a:t>UI 라이브러리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60520" y="2350008"/>
            <a:ext cx="3566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06060"/>
                </a:solidFill>
              </a:rPr>
              <a:t>Streamlit 기본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9560" y="2350008"/>
            <a:ext cx="3566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07C10"/>
                </a:solidFill>
              </a:rPr>
              <a:t>Tailwind CSS + shadcn/ui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2670048"/>
            <a:ext cx="11521440" cy="329184"/>
          </a:xfrm>
          <a:prstGeom prst="rect">
            <a:avLst/>
          </a:prstGeom>
          <a:solidFill>
            <a:srgbClr val="D9F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2697480"/>
            <a:ext cx="3566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B3A6B"/>
                </a:solidFill>
              </a:rPr>
              <a:t>백엔드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60520" y="2697480"/>
            <a:ext cx="3566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06060"/>
                </a:solidFill>
              </a:rPr>
              <a:t>FastAPI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09560" y="2697480"/>
            <a:ext cx="3566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07C10"/>
                </a:solidFill>
              </a:rPr>
              <a:t>FastAPI (동일)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0040" y="3017520"/>
            <a:ext cx="1152144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1480" y="3044952"/>
            <a:ext cx="3566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B3A6B"/>
                </a:solidFill>
              </a:rPr>
              <a:t>실시간 통신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60520" y="3044952"/>
            <a:ext cx="3566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06060"/>
                </a:solidFill>
              </a:rPr>
              <a:t>폴링 (3초 간격)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09560" y="3044952"/>
            <a:ext cx="3566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07C10"/>
                </a:solidFill>
              </a:rPr>
              <a:t>WebSocket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0040" y="3364992"/>
            <a:ext cx="11521440" cy="329184"/>
          </a:xfrm>
          <a:prstGeom prst="rect">
            <a:avLst/>
          </a:prstGeom>
          <a:solidFill>
            <a:srgbClr val="D9F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3392424"/>
            <a:ext cx="3566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B3A6B"/>
                </a:solidFill>
              </a:rPr>
              <a:t>파일 저장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60520" y="3392424"/>
            <a:ext cx="3566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06060"/>
                </a:solidFill>
              </a:rPr>
              <a:t>로컬 /tmp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909560" y="3392424"/>
            <a:ext cx="3566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07C10"/>
                </a:solidFill>
              </a:rPr>
              <a:t>세션 폴더 + MinIO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20040" y="3712464"/>
            <a:ext cx="1152144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3739896"/>
            <a:ext cx="3566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B3A6B"/>
                </a:solidFill>
              </a:rPr>
              <a:t>인증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60520" y="3739896"/>
            <a:ext cx="3566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06060"/>
                </a:solidFill>
              </a:rPr>
              <a:t>없음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09560" y="3739896"/>
            <a:ext cx="3566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07C10"/>
                </a:solidFill>
              </a:rPr>
              <a:t>사내 LDAP/AD 연동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20040" y="4059936"/>
            <a:ext cx="11521440" cy="329184"/>
          </a:xfrm>
          <a:prstGeom prst="rect">
            <a:avLst/>
          </a:prstGeom>
          <a:solidFill>
            <a:srgbClr val="D9F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11480" y="4087368"/>
            <a:ext cx="3566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B3A6B"/>
                </a:solidFill>
              </a:rPr>
              <a:t>개발 기간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160520" y="4087368"/>
            <a:ext cx="3566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06060"/>
                </a:solidFill>
              </a:rPr>
              <a:t>2~3주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909560" y="4087368"/>
            <a:ext cx="3566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07C10"/>
                </a:solidFill>
              </a:rPr>
              <a:t>6~8주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20040" y="4526280"/>
            <a:ext cx="11521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07C10"/>
                </a:solidFill>
              </a:rPr>
              <a:t>배포 아키텍처 (DGX Spark)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20040" y="4846320"/>
            <a:ext cx="11521440" cy="91440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489204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EF5B0"/>
                </a:solidFill>
              </a:rPr>
              <a:t>[브라우저]  →  Nginx :80/443  →  React :3000  +  FastAPI :8000
FastAPI  →  Ollama :11434 (Gemma 4 31B · Gemma 4 26B MoE)
         →  Qdrant :6333 (벡터 DB)  →  CubeMX CLI (subprocess)
모두 Docker Compose 단일 명령으로 기동:  docker compose up -d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C-2  백엔드 API 설계 (FastAPI)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4980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FFFFFF"/>
                </a:solidFill>
              </a:rPr>
              <a:t>검증 게이트 로직 포함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105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STM32G4 회로도 검증 &amp; 펌웨어 자동 생성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5105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</a:rPr>
              <a:t>35 / 36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298448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07C10"/>
                </a:solidFill>
              </a:rPr>
              <a:t>API 엔드포인트 목록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1664208"/>
            <a:ext cx="5303520" cy="29260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4048" y="1691640"/>
            <a:ext cx="1691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Method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21408" y="1691640"/>
            <a:ext cx="1691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경로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58768" y="1691640"/>
            <a:ext cx="1691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역할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" y="1975104"/>
            <a:ext cx="5303520" cy="4114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20040" y="1975104"/>
            <a:ext cx="685800" cy="411480"/>
          </a:xfrm>
          <a:prstGeom prst="rect">
            <a:avLst/>
          </a:prstGeom>
          <a:solidFill>
            <a:srgbClr val="2E6D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8328" y="2011680"/>
            <a:ext cx="658368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POST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2011680"/>
            <a:ext cx="21031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B3A6B"/>
                </a:solidFill>
              </a:rPr>
              <a:t>/api/v1/validate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0" y="2011680"/>
            <a:ext cx="228600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606060"/>
                </a:solidFill>
              </a:rPr>
              <a:t>핀 검증 (Step 1)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2404872"/>
            <a:ext cx="530352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20040" y="2404872"/>
            <a:ext cx="685800" cy="411480"/>
          </a:xfrm>
          <a:prstGeom prst="rect">
            <a:avLst/>
          </a:prstGeom>
          <a:solidFill>
            <a:srgbClr val="2E6D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38328" y="2441448"/>
            <a:ext cx="658368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POST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" y="2441448"/>
            <a:ext cx="21031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B3A6B"/>
                </a:solidFill>
              </a:rPr>
              <a:t>/api/v1/generate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00400" y="2441448"/>
            <a:ext cx="228600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606060"/>
                </a:solidFill>
              </a:rPr>
              <a:t>CubeMX 자동화 (Step 2)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0040" y="2834640"/>
            <a:ext cx="5303520" cy="4114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20040" y="2834640"/>
            <a:ext cx="685800" cy="411480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38328" y="2871216"/>
            <a:ext cx="658368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WS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1560" y="2871216"/>
            <a:ext cx="21031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B3A6B"/>
                </a:solidFill>
              </a:rPr>
              <a:t>/ws/integrate/{id}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2871216"/>
            <a:ext cx="228600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606060"/>
                </a:solidFill>
              </a:rPr>
              <a:t>알고리즘 통합 (Step 3)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0040" y="3264408"/>
            <a:ext cx="530352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20040" y="3264408"/>
            <a:ext cx="685800" cy="411480"/>
          </a:xfrm>
          <a:prstGeom prst="rect">
            <a:avLst/>
          </a:prstGeom>
          <a:solidFill>
            <a:srgbClr val="007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38328" y="3300984"/>
            <a:ext cx="658368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GET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1560" y="3300984"/>
            <a:ext cx="21031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B3A6B"/>
                </a:solidFill>
              </a:rPr>
              <a:t>/api/v1/session/{id}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200400" y="3300984"/>
            <a:ext cx="228600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606060"/>
                </a:solidFill>
              </a:rPr>
              <a:t>세션 파일 조회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20040" y="3694176"/>
            <a:ext cx="5303520" cy="4114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20040" y="3694176"/>
            <a:ext cx="685800" cy="411480"/>
          </a:xfrm>
          <a:prstGeom prst="rect">
            <a:avLst/>
          </a:prstGeom>
          <a:solidFill>
            <a:srgbClr val="007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38328" y="3730752"/>
            <a:ext cx="658368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GET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1560" y="3730752"/>
            <a:ext cx="21031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B3A6B"/>
                </a:solidFill>
              </a:rPr>
              <a:t>/api/v1/download/{id}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200400" y="3730752"/>
            <a:ext cx="228600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606060"/>
                </a:solidFill>
              </a:rPr>
              <a:t>ZIP 다운로드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20040" y="4123944"/>
            <a:ext cx="530352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20040" y="4123944"/>
            <a:ext cx="685800" cy="411480"/>
          </a:xfrm>
          <a:prstGeom prst="rect">
            <a:avLst/>
          </a:prstGeom>
          <a:solidFill>
            <a:srgbClr val="007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38328" y="4160520"/>
            <a:ext cx="658368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GET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51560" y="4160520"/>
            <a:ext cx="21031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B3A6B"/>
                </a:solidFill>
              </a:rPr>
              <a:t>/api/v1/history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200400" y="4160520"/>
            <a:ext cx="228600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606060"/>
                </a:solidFill>
              </a:rPr>
              <a:t>프로젝트 이력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080760" y="1298448"/>
            <a:ext cx="5760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07C10"/>
                </a:solidFill>
              </a:rPr>
              <a:t>검증 게이트 코드 (핵심)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080760" y="1664208"/>
            <a:ext cx="5760720" cy="507492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217920" y="1709928"/>
            <a:ext cx="557784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EF5B0"/>
                </a:solidFill>
              </a:rPr>
              <a:t># backend/api/step2.py
from fastapi import HTTPException
@app.post("/api/v1/generate")
async def generate_hal_code(
    validated_json: ValidatedPinJSON,
    session_id: str
):
    # ── 검증 게이트 ──────────────────────
    if validated_json.status != "PASS":
        raise HTTPException(
            status_code=403,
            detail={
                "error": "GATE_BLOCKED",
                "message": "핀 검증을 통과해야 합니다.",
                "errors": validated_json.errors
            }
        )
    # errors[] 비어있는지 2중 확인
    if len(validated_json.errors) &gt; 0:
        raise HTTPException(403, "검증 오류가 있습니다.")
    # ──────────────────────────────────────
    # 게이트 통과 시에만 실행
    ioc_path = generate_ioc(validated_json)
    success  = run_cubemx_cli(ioc_path)
    if not success:
        raise HTTPException(500, "CubeMX 실행 실패")
    files = collect_generated_files(session_id)
    return GenerationResult(
        session_id=session_id,
        files=files,
        status="SUCCESS"
    )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C-3  프론트엔드 화면 구성 &amp; 개발 단계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5105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STM32G4 회로도 검증 &amp; 펌웨어 자동 생성 Agent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</a:rPr>
              <a:t>36 / 36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1298448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07C10"/>
                </a:solidFill>
              </a:rPr>
              <a:t>화면 목록 &amp; 주요 기능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664208"/>
            <a:ext cx="5486400" cy="27432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048" y="1691640"/>
            <a:ext cx="1737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경로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12848" y="1691640"/>
            <a:ext cx="1737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화면명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41648" y="1691640"/>
            <a:ext cx="1737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핵심 기능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" y="1956816"/>
            <a:ext cx="5486400" cy="411480"/>
          </a:xfrm>
          <a:prstGeom prst="rect">
            <a:avLst/>
          </a:prstGeom>
          <a:solidFill>
            <a:srgbClr val="D9F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4048" y="1993392"/>
            <a:ext cx="150876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07C10"/>
                </a:solidFill>
              </a:rPr>
              <a:t>/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38528" y="1993392"/>
            <a:ext cx="128016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B3A6B"/>
                </a:solidFill>
              </a:rPr>
              <a:t>대시보드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73552" y="1993392"/>
            <a:ext cx="246888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06060"/>
                </a:solidFill>
              </a:rPr>
              <a:t>최근 프로젝트 카드, 새 프로젝트 버튼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" y="2386584"/>
            <a:ext cx="548640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84048" y="2423160"/>
            <a:ext cx="150876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07C10"/>
                </a:solidFill>
              </a:rPr>
              <a:t>/step1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38528" y="2423160"/>
            <a:ext cx="128016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B3A6B"/>
                </a:solidFill>
              </a:rPr>
              <a:t>핀 검증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73552" y="2423160"/>
            <a:ext cx="246888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06060"/>
                </a:solidFill>
              </a:rPr>
              <a:t>CSV 드래그앤드롭, 요구사항 폼, PASS/FAIL 즉시 표시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2816352"/>
            <a:ext cx="5486400" cy="411480"/>
          </a:xfrm>
          <a:prstGeom prst="rect">
            <a:avLst/>
          </a:prstGeom>
          <a:solidFill>
            <a:srgbClr val="D9F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84048" y="2852928"/>
            <a:ext cx="150876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07C10"/>
                </a:solidFill>
              </a:rPr>
              <a:t>/step2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38528" y="2852928"/>
            <a:ext cx="128016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B3A6B"/>
                </a:solidFill>
              </a:rPr>
              <a:t>코드 생성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73552" y="2852928"/>
            <a:ext cx="246888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06060"/>
                </a:solidFill>
              </a:rPr>
              <a:t>자동 진행 바, 생성 파일 트리 미리보기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0040" y="3246120"/>
            <a:ext cx="548640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84048" y="3282696"/>
            <a:ext cx="150876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07C10"/>
                </a:solidFill>
              </a:rPr>
              <a:t>/step3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938528" y="3282696"/>
            <a:ext cx="128016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B3A6B"/>
                </a:solidFill>
              </a:rPr>
              <a:t>알고리즘 통합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73552" y="3282696"/>
            <a:ext cx="246888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06060"/>
                </a:solidFill>
              </a:rPr>
              <a:t>모듈 선택 체크박스, 코드 스트리밍(Monaco Editor)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0040" y="3675887"/>
            <a:ext cx="5486400" cy="411480"/>
          </a:xfrm>
          <a:prstGeom prst="rect">
            <a:avLst/>
          </a:prstGeom>
          <a:solidFill>
            <a:srgbClr val="D9F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84048" y="3712464"/>
            <a:ext cx="150876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07C10"/>
                </a:solidFill>
              </a:rPr>
              <a:t>/result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938528" y="3712464"/>
            <a:ext cx="128016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B3A6B"/>
                </a:solidFill>
              </a:rPr>
              <a:t>결과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73552" y="3712464"/>
            <a:ext cx="246888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06060"/>
                </a:solidFill>
              </a:rPr>
              <a:t>코드 전체 뷰어, 탭 파일 전환, ZIP 다운로드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20040" y="4105656"/>
            <a:ext cx="548640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84048" y="4142231"/>
            <a:ext cx="150876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07C10"/>
                </a:solidFill>
              </a:rPr>
              <a:t>/history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38528" y="4142231"/>
            <a:ext cx="128016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B3A6B"/>
                </a:solidFill>
              </a:rPr>
              <a:t>이력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273552" y="4142231"/>
            <a:ext cx="246888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06060"/>
                </a:solidFill>
              </a:rPr>
              <a:t>이전 프로젝트 목록, 재실행 버튼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080760" y="1298448"/>
            <a:ext cx="5760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07C10"/>
                </a:solidFill>
              </a:rPr>
              <a:t>개발 단계별 일정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80760" y="1664208"/>
            <a:ext cx="960120" cy="1170432"/>
          </a:xfrm>
          <a:prstGeom prst="rect">
            <a:avLst/>
          </a:prstGeom>
          <a:solidFill>
            <a:srgbClr val="007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099048" y="1892808"/>
            <a:ext cx="932688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</a:rPr>
              <a:t>MVP
2~3주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068312" y="1664208"/>
            <a:ext cx="4773168" cy="1170432"/>
          </a:xfrm>
          <a:prstGeom prst="rect">
            <a:avLst/>
          </a:prstGeom>
          <a:solidFill>
            <a:srgbClr val="D0F0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205472" y="171907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• FastAPI 3개 엔드포인트 (검증·생성·통합)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205472" y="19933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• Streamlit Step 1~3 화면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205472" y="226771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• Docker Compose 배포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205472" y="254203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• 내부 5명 테스트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080760" y="2880360"/>
            <a:ext cx="960120" cy="1170432"/>
          </a:xfrm>
          <a:prstGeom prst="rect">
            <a:avLst/>
          </a:prstGeom>
          <a:solidFill>
            <a:srgbClr val="2E6D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099048" y="3108960"/>
            <a:ext cx="932688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</a:rPr>
              <a:t>프로덕션
Week 1~2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068312" y="2880360"/>
            <a:ext cx="4773168" cy="1170432"/>
          </a:xfrm>
          <a:prstGeom prst="rect">
            <a:avLst/>
          </a:prstGeom>
          <a:solidFill>
            <a:srgbClr val="D6E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205472" y="2935224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• Next.js 14 + TypeScript 세팅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205472" y="3209544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• Tailwind CSS + shadcn/ui 적용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205472" y="3483864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• FastAPI WebSocket 추가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205472" y="3758184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• 라우팅 및 레이아웃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080760" y="4096512"/>
            <a:ext cx="960120" cy="1170432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099048" y="4325112"/>
            <a:ext cx="932688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</a:rPr>
              <a:t>프로덕션
Week 3~6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068312" y="4096512"/>
            <a:ext cx="4773168" cy="1170432"/>
          </a:xfrm>
          <a:prstGeom prst="rect">
            <a:avLst/>
          </a:prstGeom>
          <a:solidFill>
            <a:srgbClr val="D9F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205472" y="4151376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• Step 1 드래그앤드롭 + 실시간 결과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205472" y="4425696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• Step 2 진행 바 (WebSocket)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205472" y="4700016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• Step 3 Monaco Editor 스트리밍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205472" y="4974336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• ZIP 다운로드 + 이력 저장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080760" y="5312664"/>
            <a:ext cx="960120" cy="1170432"/>
          </a:xfrm>
          <a:prstGeom prst="rect">
            <a:avLst/>
          </a:prstGeom>
          <a:solidFill>
            <a:srgbClr val="E6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099048" y="5541264"/>
            <a:ext cx="932688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</a:rPr>
              <a:t>프로덕션
Week 7~8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068312" y="5312664"/>
            <a:ext cx="4773168" cy="1170432"/>
          </a:xfrm>
          <a:prstGeom prst="rect">
            <a:avLst/>
          </a:prstGeom>
          <a:solidFill>
            <a:srgbClr val="FFF0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205472" y="5367528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• 사내 LDAP/AD 인증 연동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205472" y="5641848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• Nginx + HTTPS 설정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205472" y="5916168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• 전체 사용자 테스트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205472" y="6190488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• 운영 가이드 문서 작성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