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01168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STM32G4 회로도 검증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A8D0FF"/>
                </a:solidFill>
              </a:rPr>
              <a:t>펌웨어 자동 생성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</a:rPr>
              <a:t>개발 계획 · 모델 선택 · 사용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FF"/>
                </a:solidFill>
              </a:rPr>
              <a:t>대상 칩 : STM32G4 계열   |   서버 : NVIDIA DGX Spark 128GB   |   2026.04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BBFF"/>
                </a:solidFill>
              </a:rPr>
              <a:t>사내 전용 · 외부망 차단 환경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 / 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577840" cy="9144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E6DB4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2646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프로젝트 개요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무엇을 만드는가, 왜 만드는가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4264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E6DB4"/>
                </a:solidFill>
              </a:rPr>
              <a:t>p.3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577840" cy="914400"/>
          </a:xfrm>
          <a:prstGeom prst="rect">
            <a:avLst/>
          </a:prstGeom>
          <a:solidFill>
            <a:srgbClr val="D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447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E6DB4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2646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전체 아키텍처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3-Step 파이프라인 구성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14264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E6DB4"/>
                </a:solidFill>
              </a:rPr>
              <a:t>p.4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23160"/>
            <a:ext cx="5577840" cy="9144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963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E6DB4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47802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시스템 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880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서버, 모델, 도구 스택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4780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E6DB4"/>
                </a:solidFill>
              </a:rPr>
              <a:t>p.5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423160"/>
            <a:ext cx="5577840" cy="914400"/>
          </a:xfrm>
          <a:prstGeom prst="rect">
            <a:avLst/>
          </a:prstGeom>
          <a:solidFill>
            <a:srgbClr val="D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E6DB4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47802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개발 로드맵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880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Phase 1~5 타임라인 개요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24780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E6DB4"/>
                </a:solidFill>
              </a:rPr>
              <a:t>p.6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474720"/>
            <a:ext cx="5577840" cy="9144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5478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E6DB4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52958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Phase별 개발 상세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3931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데이터 구축 → 검증 → CubeMX → 통합 → 학습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352958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E6DB4"/>
                </a:solidFill>
              </a:rPr>
              <a:t>p.7~11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474720"/>
            <a:ext cx="5577840" cy="914400"/>
          </a:xfrm>
          <a:prstGeom prst="rect">
            <a:avLst/>
          </a:prstGeom>
          <a:solidFill>
            <a:srgbClr val="D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5478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E6DB4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52958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학습 데이터 전략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931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BLDC 알고리즘 모듈 &amp; 데이터 수집 방법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352958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E6DB4"/>
                </a:solidFill>
              </a:rPr>
              <a:t>p.12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526279"/>
            <a:ext cx="5577840" cy="9144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599431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E6DB4"/>
                </a:solidFill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581143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모델 선택 가이드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498347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Step별 LLM 선택 기준 &amp; 메모리 배치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581143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E6DB4"/>
                </a:solidFill>
              </a:rPr>
              <a:t>p.13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526279"/>
            <a:ext cx="5577840" cy="914400"/>
          </a:xfrm>
          <a:prstGeom prst="rect">
            <a:avLst/>
          </a:prstGeom>
          <a:solidFill>
            <a:srgbClr val="D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599431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E6DB4"/>
                </a:solidFill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4581143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사용 가이드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498347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회로도 입력 → 검증 → 코드생성 → 통합 → 빌드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4581143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E6DB4"/>
                </a:solidFill>
              </a:rPr>
              <a:t>p.14~18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577840"/>
            <a:ext cx="5577840" cy="9144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6509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E6DB4"/>
                </a:solidFill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5632703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기대 효과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6035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정확도, 시간 절감, 확장 계획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46320" y="5632703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E6DB4"/>
                </a:solidFill>
              </a:rPr>
              <a:t>p.19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무엇을 자동화하는가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3 / 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6DB4"/>
                </a:solidFill>
              </a:rPr>
              <a:t>문제 정의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5394960" cy="438912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0992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▶  HW 엔지니어가 회로도 설계 후 FW 개발자에게 핀맵 전달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394960" cy="438912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1284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▶  FW 개발자가 STM32G4 AF 스펙 수동 확인 → 오류 발생 빈번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97480"/>
            <a:ext cx="5394960" cy="438912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1576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▶  HAL 초기화 코드 수작업 작성 → 반복 공수 낭비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5394960" cy="438912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186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▶  모터 제어 알고리즘(FOC/전류제어) 통합 코드 매번 재작성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7C10"/>
                </a:solidFill>
              </a:rPr>
              <a:t>해결 방안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691640"/>
            <a:ext cx="5577840" cy="59436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691640"/>
            <a:ext cx="1005840" cy="5943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178308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72821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HW 설계 검증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99339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3계층 검증 (인프라/모터논리/페리페럴) → 리포트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377440"/>
            <a:ext cx="5577840" cy="59436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377440"/>
            <a:ext cx="1005840" cy="5943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246888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41401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CubeMX 자동화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67919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.ioc 수정 → CubeMX CLI → 스니펫 주입 → ZIP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063240"/>
            <a:ext cx="5577840" cy="59436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063240"/>
            <a:ext cx="1005840" cy="5943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8" y="315468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09981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알고리즘 통합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36499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오픈소스 FOC 코드를 USER CODE 영역에 자동 삽입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794760"/>
            <a:ext cx="11430000" cy="640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85876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💡  핵심 원칙 : LLM은 HAL API를 직접 생성하지 않는다.  CubeMX가 보장하는 정확한 코드 위에 알고리즘 레이어만 조립.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5720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6DB4"/>
                </a:solidFill>
              </a:rPr>
              <a:t>기대 효과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956048"/>
            <a:ext cx="2148840" cy="5943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4974336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6DB4"/>
                </a:solidFill>
              </a:rPr>
              <a:t>핀 오류 사전 차단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4956048"/>
            <a:ext cx="2148840" cy="5943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24912" y="4974336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6DB4"/>
                </a:solidFill>
              </a:rPr>
              <a:t>HAL 코드 생성
90% 단축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4956048"/>
            <a:ext cx="2148840" cy="5943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10912" y="4974336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6DB4"/>
                </a:solidFill>
              </a:rPr>
              <a:t>알고리즘 통합
자동화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4956048"/>
            <a:ext cx="2148840" cy="5943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96912" y="4974336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6DB4"/>
                </a:solidFill>
              </a:rPr>
              <a:t>멀티모터
2~4개 지원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09760" y="4956048"/>
            <a:ext cx="2148840" cy="5943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82912" y="4974336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6DB4"/>
                </a:solidFill>
              </a:rPr>
              <a:t>사내 스타일
일관성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전체 아키텍처 — 3-Step 파이프라인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4 / 36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3566160" cy="438912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252728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28016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HW 설계 검증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91640"/>
            <a:ext cx="3566160" cy="25146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373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6DB4"/>
                </a:solidFill>
              </a:rPr>
              <a:t>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01168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회로도 이미지
(Vision 자동 분석)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42316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CubeMX XML 핀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8346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3계층 규칙 엔진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2461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STM32G4 RAG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233672"/>
            <a:ext cx="3566160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4261104"/>
            <a:ext cx="34290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모델 : Gemma 4 31B Dense
(~20GB, Vision 겸용)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773168"/>
            <a:ext cx="3566160" cy="5669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4828032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출력 : 검증 완료
핀 JSON + Vision 분석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33672" y="1234440"/>
            <a:ext cx="3566160" cy="43891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06824" y="1252728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128016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CubeMX 자동화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33672" y="1691640"/>
            <a:ext cx="3566160" cy="2514600"/>
          </a:xfrm>
          <a:prstGeom prst="rect">
            <a:avLst/>
          </a:prstGeom>
          <a:solidFill>
            <a:srgbClr val="D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5112" y="17373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A8A"/>
                </a:solidFill>
              </a:rPr>
              <a:t>입력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8264" y="201168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.ioc 파일 자동 생성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8264" y="242316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CubeMX CLI 실행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8264" y="28346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HAL 코드 출력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33672" y="4233672"/>
            <a:ext cx="3566160" cy="5029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06824" y="4261104"/>
            <a:ext cx="34290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모델 : LLM 불필요
(결정론적 처리)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33672" y="4773168"/>
            <a:ext cx="3566160" cy="5669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06824" y="4828032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출력 : HAL 초기화 코드
(main.c, tim.c ...)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93024" y="1234440"/>
            <a:ext cx="3566160" cy="43891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6176" y="1252728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3144" y="128016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알고리즘 통합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93024" y="1691640"/>
            <a:ext cx="3566160" cy="251460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84464" y="17373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7C10"/>
                </a:solidFill>
              </a:rPr>
              <a:t>입력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7616" y="201168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Golden Module RAG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6" y="242316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USER CODE 삽입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7616" y="28346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모듈 간 연결 코드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93024" y="4233672"/>
            <a:ext cx="3566160" cy="50292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66176" y="4261104"/>
            <a:ext cx="34290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모델 : Gemma 4 26B MoE
(~22GB)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93024" y="4773168"/>
            <a:ext cx="3566160" cy="5669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66176" y="4828032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출력 : 완성 펌웨어
(motor_foc.c ...)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74519" y="53400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6B"/>
                </a:solidFill>
              </a:rPr>
              <a:t>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5687568"/>
            <a:ext cx="2377440" cy="475488"/>
          </a:xfrm>
          <a:prstGeom prst="rect">
            <a:avLst/>
          </a:prstGeom>
          <a:solidFill>
            <a:srgbClr val="FFF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5687568"/>
            <a:ext cx="2377440" cy="475488"/>
          </a:xfrm>
          <a:prstGeom prst="rect">
            <a:avLst/>
          </a:prstGeom>
          <a:noFill/>
          <a:ln w="25400">
            <a:solidFill>
              <a:srgbClr val="E6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7552" y="5724144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6C00"/>
                </a:solidFill>
              </a:rPr>
              <a:t>🔒 검증 게이트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" y="5916168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1A"/>
                </a:solidFill>
              </a:rPr>
              <a:t>errors[ ] == 0 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10128" y="58064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7C10"/>
                </a:solidFill>
              </a:rPr>
              <a:t>PASS 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" y="617220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</a:rPr>
              <a:t>FAIL 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6446520"/>
            <a:ext cx="2743200" cy="320040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6446520"/>
            <a:ext cx="2743200" cy="320040"/>
          </a:xfrm>
          <a:prstGeom prst="rect">
            <a:avLst/>
          </a:pr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6464808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</a:rPr>
              <a:t>❌ 진행 차단 — 오류 리포트 반환 → 회로도 수정 후 재실행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67912" y="29260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</a:rPr>
              <a:t>▶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91840" y="5687568"/>
            <a:ext cx="8595360" cy="804672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29000" y="571500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66C00"/>
                </a:solidFill>
              </a:rPr>
              <a:t>※  Step 2 · Step 3는 Step 1 검증 PASS 시에만 실행됩니다.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29000" y="6007608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Step 2는 LLM 없이 동작.  Step 1 · 3 모델 합산 ~42GB → DGX Spark 128GB 내 동시 상주 가능 (큰 여유)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시스템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서버 · 모델 · 도구 스택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5 / 36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5303520" cy="237744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5303520" cy="38404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167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AI 서버 — NVIDIA DGX Spark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373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• 칩셋 : GB10 Grace Blackwell Superchip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• 메모리 : 128GB LPDDR5X (CPU+GPU Unified)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• AI 성능 : ~1 PFLOPS (FP4)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346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• OS : Ubuntu (로컬, 외부망 차단)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• 확장 : 2대 NVLink → 256GB (405B 모델 가능)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280160"/>
            <a:ext cx="5852160" cy="237744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1280160"/>
            <a:ext cx="5852160" cy="38404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31673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LLM 모델 (Ollama 로컬 실행)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7556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7C10"/>
                </a:solidFill>
              </a:rPr>
              <a:t>Step 1 —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175564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Gemma 4 31B Dense (Q4_K_M, ~20GB)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13969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7C10"/>
                </a:solidFill>
              </a:rPr>
              <a:t>Step 3 — 통합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13969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Gemma 4 26B MoE (Q8, ~22GB, Active ~4B)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52374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7C10"/>
                </a:solidFill>
              </a:rPr>
              <a:t>임베딩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52374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BAAI/bge-m3 (한국어+영어 지원)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907791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7C10"/>
                </a:solidFill>
              </a:rPr>
              <a:t>동시 로드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907791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~42GB 합산 → 128GB 내 큰 여유 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749039"/>
            <a:ext cx="1152144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785615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도구 스택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160520"/>
            <a:ext cx="115214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18795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RAG 프레임워크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41879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6DB4"/>
                </a:solidFill>
              </a:rPr>
              <a:t>LlamaIndex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187952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문서 파이프라인, RAG 파이프라인 구성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498848"/>
            <a:ext cx="11521440" cy="3383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5262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벡터 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45262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6DB4"/>
                </a:solidFill>
              </a:rPr>
              <a:t>Qdrant (Docker)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4526280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메타데이터 필터링 — 칩/모듈 종류별 필터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837176"/>
            <a:ext cx="115214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86460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HAL 코드 생성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48646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6DB4"/>
                </a:solidFill>
              </a:rPr>
              <a:t>STM32CubeMX CLI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2040" y="4864608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핀 JSON → .ioc → HAL 코드 결정론적 생성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175504"/>
            <a:ext cx="11521440" cy="3383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20293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API 서버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520293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6DB4"/>
                </a:solidFill>
              </a:rPr>
              <a:t>FastAPI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5202936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사내 서비스 연동 엔드포인트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513831"/>
            <a:ext cx="115214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54126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UI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80" y="554126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6DB4"/>
                </a:solidFill>
              </a:rPr>
              <a:t>Streamlit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2040" y="5541264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3-Step 진행 화면, 검증 리포트 표시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5852160"/>
            <a:ext cx="11521440" cy="3383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87959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컴파일 검증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58795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6DB4"/>
                </a:solidFill>
              </a:rPr>
              <a:t>arm-none-eabi-gcc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92040" y="5879592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생성 코드 자동 빌드 테스트 CI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개발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Phase 1~5 타임라인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6 / 36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80160"/>
            <a:ext cx="2221992" cy="38404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98448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73352"/>
            <a:ext cx="2221992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2130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2E6DB4"/>
                </a:solidFill>
              </a:rPr>
              <a:t>데이터 기반 구축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50008"/>
            <a:ext cx="2221992" cy="29260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68296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4~6주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70048"/>
            <a:ext cx="2221992" cy="1499616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724912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CubeMX DB 파싱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63824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Golden Module 등록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02736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오픈소스 FOC 코드 가공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24912" y="1280160"/>
            <a:ext cx="2221992" cy="38404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70632" y="1298448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24912" y="1673352"/>
            <a:ext cx="2221992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70632" y="1691640"/>
            <a:ext cx="2130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07A8A"/>
                </a:solidFill>
              </a:rPr>
              <a:t>Step 1
HW 검증 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24912" y="2350008"/>
            <a:ext cx="2221992" cy="2926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70632" y="2368296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3~4주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24912" y="2670048"/>
            <a:ext cx="2221992" cy="1499616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16352" y="2724912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3계층 규칙 엔진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16352" y="3163824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RAG 구성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6352" y="3602736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Gemma 4 31B 연결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38344" y="1280160"/>
            <a:ext cx="2221992" cy="38404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84064" y="1298448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38344" y="1673352"/>
            <a:ext cx="2221992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84064" y="1691640"/>
            <a:ext cx="2130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07C10"/>
                </a:solidFill>
              </a:rPr>
              <a:t>Step 2
CubeMX 자동화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38344" y="2350008"/>
            <a:ext cx="2221992" cy="29260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84064" y="2368296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2~3주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38344" y="2670048"/>
            <a:ext cx="2221992" cy="1499616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9783" y="2724912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.ioc 템플릿 수정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9783" y="3163824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CubeMX CLI 연동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9783" y="3602736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스니펫 주입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51775" y="1280160"/>
            <a:ext cx="2221992" cy="384048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97496" y="1298448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51775" y="1673352"/>
            <a:ext cx="2221992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97496" y="1691640"/>
            <a:ext cx="2130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E66C00"/>
                </a:solidFill>
              </a:rPr>
              <a:t>Step 3
통합 Agent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51775" y="2350008"/>
            <a:ext cx="2221992" cy="292608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97496" y="2368296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4~6주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51775" y="2670048"/>
            <a:ext cx="2221992" cy="1499616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43215" y="2724912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Golden Module RAG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43215" y="3163824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Gemma 4 26B MoE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43215" y="3602736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USER CODE 삽입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65207" y="1280160"/>
            <a:ext cx="2221992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10928" y="1298448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65207" y="1673352"/>
            <a:ext cx="2221992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10928" y="1691640"/>
            <a:ext cx="2130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C0392B"/>
                </a:solidFill>
              </a:rPr>
              <a:t>Fine-tuning
(선택)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65207" y="2350008"/>
            <a:ext cx="2221992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10928" y="2368296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8~12주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65207" y="2670048"/>
            <a:ext cx="2221992" cy="1499616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56647" y="2724912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학습 데이터 300개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56647" y="3163824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QLoRA 파인튜닝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56647" y="3602736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성능 평가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15184" y="17190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28616" y="17190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42047" y="17190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55480" y="17190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▶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5212080"/>
            <a:ext cx="11338560" cy="50292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52578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3A6B"/>
                </a:solidFill>
              </a:rPr>
              <a:t>MVP 목표 : Phase 1~3 완료 시 기본 동작 가능 (핀 검증 + CubeMX 코드 생성)  |  Phase 4 완료 시 알고리즘 통합까지 풀 파이프라인  |  Phase 5는 데이터 축적 후 진행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1 — 데이터 기반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기간: 4~6주  |  LLM 없이 진행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7 / 36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1645920" cy="32004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52728"/>
            <a:ext cx="1554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</a:rPr>
              <a:t>① ST 공식 문서 수집 (✅ 14건 완료)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84831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 📌 rm0440 레퍼런스 매뉴얼 (39MB)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32303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 ▸ stm32g474re 데이터시트 + AN5306 OPAMP + AN5346 ADC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797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 ▸ AN5348 FDCAN + AN3070 RS-485 + AN5031 HW가이드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12724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 ▸ EVSPIN32G4-DUAL 회로도/매뉴얼/BOM/제조데이터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47472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 ▸ um3027/um3016 MCSDK Workbench/Profiler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8862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</a:rPr>
              <a:t>② 오픈소스 프로젝트 (8개 등록)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7939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7C10"/>
                </a:solidFill>
              </a:rPr>
              <a:t>    ✅ flatmcu (73파일) — KiCad 회로도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62686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7C10"/>
                </a:solidFill>
              </a:rPr>
              <a:t>    ✅ STM32CubeG4 (3,063파일) — HAL 예제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97433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6C00"/>
                </a:solidFill>
              </a:rPr>
              <a:t>    ⬜ Arduino-FOC / stm32-esc / moteus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218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6C00"/>
                </a:solidFill>
              </a:rPr>
              <a:t>    ⬜ MESC / VESC / ODrive (submodule 미초기화)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691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6C00"/>
                </a:solidFill>
              </a:rPr>
              <a:t>③ Golden Module (작성 현황)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084831"/>
            <a:ext cx="5486400" cy="475488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1031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✅ bldc_6step_hall.c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1031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6-step Hall + BRK 보호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615184"/>
            <a:ext cx="5486400" cy="475488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6334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✅ dc_motor_pid.c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6334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H-bridge PWM + PID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145535"/>
            <a:ext cx="5486400" cy="475488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1638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✅ fdcan_motor_cmd.c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1638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FDCAN 커맨드 파싱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675887"/>
            <a:ext cx="5486400" cy="475488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694175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✅ multi_axis_sync.c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3694175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TIM1/TIM8/TIM20 동기화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206240"/>
            <a:ext cx="5486400" cy="475488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224527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6C00"/>
                </a:solidFill>
              </a:rPr>
              <a:t>⬜ foc_clarke/park/...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4224527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오픈소스에서 가공 예정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2519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</a:rPr>
              <a:t>④ 학습 데이터 목표 수량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645152"/>
            <a:ext cx="2606040" cy="64008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469087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2E6DB4"/>
                </a:solidFill>
              </a:rPr>
              <a:t>RAG 지식베이스
~2,600 청크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98280" y="4645152"/>
            <a:ext cx="2606040" cy="64008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20" y="469087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07C10"/>
                </a:solidFill>
              </a:rPr>
              <a:t>Fine-tuning 데이터셋
500~1,000쌍 (자동생성)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2 — Step 1 HW 설계 검증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기간: 3~4주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8 / 36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1645920" cy="32004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52728"/>
            <a:ext cx="1554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A8A"/>
                </a:solidFill>
              </a:rPr>
              <a:t>구현 항목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03120"/>
            <a:ext cx="5303520" cy="475488"/>
          </a:xfrm>
          <a:prstGeom prst="rect">
            <a:avLst/>
          </a:prstGeom>
          <a:solidFill>
            <a:srgbClr val="D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396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A"/>
                </a:solidFill>
              </a:rPr>
              <a:t>Vision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13969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Gemma 4 31B Multimodal: 회로도 이미지 → 핀맵 자동 추출 + 초기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33472"/>
            <a:ext cx="5303520" cy="475488"/>
          </a:xfrm>
          <a:prstGeom prst="rect">
            <a:avLst/>
          </a:prstGeom>
          <a:solidFill>
            <a:srgbClr val="D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70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A"/>
                </a:solidFill>
              </a:rPr>
              <a:t>3계층 규칙엔진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670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① 인프라 ② 모터논리(상보PWM) ③ 페리페럴(ADC/OPAMP)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63824"/>
            <a:ext cx="5303520" cy="475488"/>
          </a:xfrm>
          <a:prstGeom prst="rect">
            <a:avLst/>
          </a:prstGeom>
          <a:solidFill>
            <a:srgbClr val="D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00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A"/>
                </a:solidFill>
              </a:rPr>
              <a:t>RAG 구성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200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PDF + 오픈소스 회로도 → 청킹 → BGE-M3 → Qdrant (Vision 분석으로 쿼리 보강)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94175"/>
            <a:ext cx="5303520" cy="475488"/>
          </a:xfrm>
          <a:prstGeom prst="rect">
            <a:avLst/>
          </a:prstGeom>
          <a:solidFill>
            <a:srgbClr val="D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7307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A"/>
                </a:solidFill>
              </a:rPr>
              <a:t>LLM 연결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7307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Gemma 4 31B Dense: 자연어 설명 + JSON 구조화 출력 (Vision 분석 컨텍스트 포함)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224527"/>
            <a:ext cx="5303520" cy="475488"/>
          </a:xfrm>
          <a:prstGeom prst="rect">
            <a:avLst/>
          </a:prstGeom>
          <a:solidFill>
            <a:srgbClr val="D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611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A"/>
                </a:solidFill>
              </a:rPr>
              <a:t>UI 구성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26110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Streamlit: 이미지 업로드 → Vision 분석 → 검증 리포트 + vision_analysis 표시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6916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A8A"/>
                </a:solidFill>
              </a:rPr>
              <a:t>3계층 검증 항목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103120"/>
            <a:ext cx="5577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13969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1396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7A8A"/>
                </a:solidFill>
              </a:rPr>
              <a:t>VDD/VCAP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13969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전원 핀 누락 확인 (ERROR)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578608"/>
            <a:ext cx="557784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61518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61518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7A8A"/>
                </a:solidFill>
              </a:rPr>
              <a:t>BOOT0/NRST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61518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플로팅 방지, 리셋 회로 (ERROR)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054096"/>
            <a:ext cx="5577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30906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3090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7A8A"/>
                </a:solidFill>
              </a:rPr>
              <a:t>SWD 디버그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0906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SWDIO/SWCLK 연결 확인 (WARN)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529584"/>
            <a:ext cx="557784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566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7A8A"/>
                </a:solidFill>
              </a:rPr>
              <a:t>상보 PWM 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3566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TIM1_CH1 + CH1N 동일 타이머 (ERROR)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4005072"/>
            <a:ext cx="5577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404164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041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7A8A"/>
                </a:solidFill>
              </a:rPr>
              <a:t>엔코더 타이머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0416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Encoder Mode 전용 TIM 확인 (ERROR)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4480560"/>
            <a:ext cx="557784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451713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45171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7A8A"/>
                </a:solidFill>
              </a:rPr>
              <a:t>OPAMP/ADC 충돌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51713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내부 연결 충돌 감지 (ERROR)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047488"/>
            <a:ext cx="11430000" cy="53035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09320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3A6B"/>
                </a:solidFill>
              </a:rPr>
              <a:t>출력 : 검증 완료 핀 JSON (chip, validation, pins[], peripherals[], errors[], warnings[]) → Step 2 입력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3 — Step 2  CubeMX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기간: 2~3주  |  LLM 불필요 — 완전 결정론적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9 / 36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1645920" cy="32004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52728"/>
            <a:ext cx="1554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280160"/>
            <a:ext cx="2651760" cy="41148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075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핀 JSON 수신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09928"/>
            <a:ext cx="2651760" cy="5486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373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Step 1
출력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1709928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280160"/>
            <a:ext cx="2651760" cy="4114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3075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.ioc 생성기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709928"/>
            <a:ext cx="2651760" cy="5486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17373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Python 스크립트
자동 변환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709928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280160"/>
            <a:ext cx="2651760" cy="4114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3075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CubeMX CLI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709928"/>
            <a:ext cx="2651760" cy="5486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7373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STM32CubeMX -q
script.txt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1709928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6840" y="1280160"/>
            <a:ext cx="2651760" cy="411480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13075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HAL 코드 출력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1709928"/>
            <a:ext cx="2651760" cy="5486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17373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main.c / tim.c
adc.c / fdcan.c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242316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.ioc 파일 구조 (텍스트 포맷, 자동 생성)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816352"/>
            <a:ext cx="5486400" cy="2926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862072"/>
            <a:ext cx="5303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EF5B0"/>
                </a:solidFill>
              </a:rPr>
              <a:t>Mcu.UserName=STM32G474RET6
RCC.HSEFreq_Value=24000000
RCC.SYSCLKFreq_VALUE=170000000
PA8.Signal=TIM1_CH1
PA8.GPIO_Label=PWM_UH
PA7.Signal=TIM1_CH1N
PA7.GPIO_Label=PWM_UL
PB9.Signal=FDCAN1_TX
IP.TIM1=enabled
IP.ADC1=enabled
IP.FDCAN1=enabled
IP.CORDIC=enabled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4231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CubeMX 출력 구조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816352"/>
            <a:ext cx="5486400" cy="2377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2862072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D8E6"/>
                </a:solidFill>
              </a:rPr>
              <a:t>project/
├── Core/Src/
│   ├── main.c         ← USER CODE BEGIN/END 포함
│   ├── tim.c          ← MX_TIM1_Init (PWM + 데드타임)
│   ├── adc.c          ← MX_ADC1_Init (Injected + TIM 트리거)
│   ├── fdcan.c        ← MX_FDCAN1_Init
│   └── cordic.c       ← MX_CORDIC_Init
├── Core/Inc/
│   └── main.h
└── Makefile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239512"/>
            <a:ext cx="5486400" cy="475488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52852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07C10"/>
                </a:solidFill>
              </a:rPr>
              <a:t>💡  USER CODE BEGIN/END 영역이 Step 3에서 LLM이 채울 공간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4 — Step 3  알고리즘 통합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기간: 4~6주  |  Gemma 4 26B MoE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10 / 36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1645920" cy="320040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52728"/>
            <a:ext cx="1554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6C00"/>
                </a:solidFill>
              </a:rPr>
              <a:t>LLM이 하는 일 (범위 명확히 제한)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84831"/>
            <a:ext cx="5486400" cy="41148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214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✅  USER CODE 영역 내 함수 호출 및 변수 선언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42032"/>
            <a:ext cx="5486400" cy="41148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5786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✅  ADC 완료 인터럽트 → FOC 루틴 연결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99232"/>
            <a:ext cx="5486400" cy="41148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358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✅  FDCAN 수신 콜백 → 커맨드 파싱 호출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56432"/>
            <a:ext cx="5486400" cy="41148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930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✅  메인 루프 → 속도/위치 제어 루프 호출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13631"/>
            <a:ext cx="5486400" cy="41148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502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✅  Golden Module include + 파라미터 설정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348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LLM이 하지 않는 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00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❌  HAL_TIM_PWM_Init 등 HAL 초기화 함수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1480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❌  Clarke/Park/SVPWM 알고리즘 내부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4955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❌  CORDIC/FMAC 레지스터 직접 접근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6916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6C00"/>
                </a:solidFill>
              </a:rPr>
              <a:t>Golden Module RAG 구성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084831"/>
            <a:ext cx="5577840" cy="594360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12140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66C00"/>
                </a:solidFill>
              </a:rPr>
              <a:t>검색 대상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212140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오픈소스 FOC 코드 + golden_modules/
(8개 오픈소스 프로젝트 기반)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743200"/>
            <a:ext cx="5577840" cy="594360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277977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66C00"/>
                </a:solidFill>
              </a:rPr>
              <a:t>임베딩 모델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2779776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BAAI/bge-m3 (코드+주석 혼재)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401568"/>
            <a:ext cx="5577840" cy="594360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43814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66C00"/>
                </a:solidFill>
              </a:rPr>
              <a:t>벡터 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3438144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Qdrant + 메타데이터 필터
(motor_type, control_method 필터)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059935"/>
            <a:ext cx="5577840" cy="594360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09651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66C00"/>
                </a:solidFill>
              </a:rPr>
              <a:t>검색 방식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409651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Hybrid: Dense + BM25 키워드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782312"/>
            <a:ext cx="5577840" cy="93268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782312"/>
            <a:ext cx="5577840" cy="32004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48097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통합 후 데이터 흐름 (FOC 루프)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13892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3A6B"/>
                </a:solidFill>
              </a:rPr>
              <a:t>ADC ISR → foc_clarke() → foc_park() → foc_current_pi()
→ foc_inv_park() → foc_svpwm() → TIM1 CCR 갱신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5 — Fine-tuning (선택)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기간: 8~12주  |  DGX Spark 단독 실행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11 / 36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16459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52728"/>
            <a:ext cx="1554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목적 &amp; 조건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84831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• Phase 1~4 완료 후 RAG 품질이 부족하다고 판단될 때 진행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963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• 학습 데이터 300개 이상 확보된 시점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07791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• 사내 코딩 스타일 / 네이밍 규칙을 LLM에 체화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3101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모델별 Fine-tuning 계획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03320"/>
            <a:ext cx="5303520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30752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모델 역할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730752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베이스 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730752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방법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730752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메모리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730752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목적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41648"/>
            <a:ext cx="5303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7822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검증 모델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07822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Gemma 4 31B Dense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07822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QLoRA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07822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~60~70GB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07822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3계층 리포트 포맷 통일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453128"/>
            <a:ext cx="53035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48970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통합 모델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48970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Gemma 4 26B MoE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48970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QLoRA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48970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~40~50GB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48970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USER CODE 삽입 정확도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6916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학습 데이터 수집 전략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084831"/>
            <a:ext cx="5577840" cy="512064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212140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1순위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212140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</a:rPr>
              <a:t>오픈소스 FOC 코드 + CubeMX 생성 코드 조합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2359152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즉시 시작 가능, ~20~30개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2651760"/>
            <a:ext cx="5577840" cy="512064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7648" y="268833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2순위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268833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</a:rPr>
              <a:t>오픈소스 회로도 기반 검증 에러 자동 생성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2926080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~30~50개 추가 확보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218687"/>
            <a:ext cx="5577840" cy="512064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27648" y="3255263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3순위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3255263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</a:rPr>
              <a:t>Golden Module 조합 자동 생성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3493008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컴파일 검증 후 확장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3785615"/>
            <a:ext cx="5577840" cy="5120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3822191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6060"/>
                </a:solidFill>
              </a:rPr>
              <a:t>품질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8040" y="3822191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</a:rPr>
              <a:t>arm-none-eabi-gcc 빌드 통과 필수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4059935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전체 샘플 100% 적용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4352544"/>
            <a:ext cx="5577840" cy="5120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7648" y="438912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6060"/>
                </a:solidFill>
              </a:rPr>
              <a:t>검증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8040" y="438912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</a:rPr>
              <a:t>실제 하드웨어 동작 확인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040" y="4626864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전체의 20~30% 샘플링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166360"/>
            <a:ext cx="11430000" cy="47548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521208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💡  DGX Spark 128GB → 31B Dense / 26B MoE QLoRA 파인튜닝 모두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학습 데이터 전략 — BLDC 제어 알고리즘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오픈소스 FOC 코드 기반 → Golden Module 가공·등록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12 / 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9844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</a:rPr>
              <a:t>FOC 제어 루프 캐스케이드 (STM32G4 가속기 포함)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13716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7830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6060"/>
                </a:solidFill>
              </a:rPr>
              <a:t>위치 PI
(외부 루프, ~1kHz)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3936" y="21031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1719072"/>
            <a:ext cx="1371600" cy="10515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39" y="17830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6DB4"/>
                </a:solidFill>
              </a:rPr>
              <a:t>속도 PI
(중간 루프, ~1kHz)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2696" y="21031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79" y="1719072"/>
            <a:ext cx="1371600" cy="105156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8999" y="17830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7C10"/>
                </a:solidFill>
              </a:rPr>
              <a:t>Id/Iq PI
전류 제어
(20kHz)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21031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1719072"/>
            <a:ext cx="1371600" cy="1051560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7830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6C00"/>
                </a:solidFill>
              </a:rPr>
              <a:t>SVPWM
→ TIM1 PWM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52928"/>
            <a:ext cx="59436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각도 소스 (θ)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218688"/>
            <a:ext cx="1920240" cy="38404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2461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증분 엔코더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50008" y="3218688"/>
            <a:ext cx="1920240" cy="38404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95728" y="32461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Hall 센서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34256" y="3218688"/>
            <a:ext cx="1920240" cy="38404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79976" y="32461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Sensorless SMO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703320"/>
            <a:ext cx="5943600" cy="320040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7307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STM32G4 가속기 활용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050791"/>
            <a:ext cx="1920240" cy="566928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0782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6C00"/>
                </a:solidFill>
              </a:rPr>
              <a:t>CORDIC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3159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Park/역Park sin/cos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50008" y="4050791"/>
            <a:ext cx="1920240" cy="566928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41448" y="40782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6C00"/>
                </a:solidFill>
              </a:rPr>
              <a:t>FMAC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41448" y="43159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Id/Iq PI 필터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34256" y="4050791"/>
            <a:ext cx="1920240" cy="566928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25696" y="40782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6C00"/>
                </a:solidFill>
              </a:rPr>
              <a:t>Internal OPAMP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25696" y="43159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전류 감지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1298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</a:rPr>
              <a:t>Golden Module 목록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1691640"/>
            <a:ext cx="5303520" cy="27432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1709928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170992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7C10"/>
                </a:solidFill>
              </a:rPr>
              <a:t>bldc_6step_hall.c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170992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</a:rPr>
              <a:t>6-step Hall + BRK 보호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1993392"/>
            <a:ext cx="5303520" cy="27432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2011680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201168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7C10"/>
                </a:solidFill>
              </a:rPr>
              <a:t>dc_motor_pid.c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2011680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</a:rPr>
              <a:t>DC H-bridge PID (완성)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2295144"/>
            <a:ext cx="5303520" cy="27432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231343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5160" y="231343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7C10"/>
                </a:solidFill>
              </a:rPr>
              <a:t>fdcan_motor_cmd.c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2313432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</a:rPr>
              <a:t>FDCAN 커맨드 파싱 (완성)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2596896"/>
            <a:ext cx="5303520" cy="27432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0" y="2615184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95160" y="261518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7C10"/>
                </a:solidFill>
              </a:rPr>
              <a:t>multi_axis_sync.c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81160" y="2615184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</a:rPr>
              <a:t>TIM 동기화 (완성)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0" y="2898648"/>
            <a:ext cx="5303520" cy="274320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2916936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95160" y="291693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6C00"/>
                </a:solidFill>
              </a:rPr>
              <a:t>foc_clarke.c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81160" y="2916936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</a:rPr>
              <a:t>Clarke (오픈소스 가공 예정)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0" y="3200400"/>
            <a:ext cx="5303520" cy="274320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3218688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95160" y="321868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6C00"/>
                </a:solidFill>
              </a:rPr>
              <a:t>foc_park.c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81160" y="321868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</a:rPr>
              <a:t>Park + CORDIC (가공 예정)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3680" y="3502152"/>
            <a:ext cx="5303520" cy="274320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3520440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95160" y="352044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6C00"/>
                </a:solidFill>
              </a:rPr>
              <a:t>foc_inv_park.c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81160" y="3520440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</a:rPr>
              <a:t>역 Park (가공 예정)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0" y="3803904"/>
            <a:ext cx="5303520" cy="274320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822191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⬜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95160" y="3822191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6C00"/>
                </a:solidFill>
              </a:rPr>
              <a:t>foc_svpwm.c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81160" y="3822191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</a:rPr>
              <a:t>SVPWM (가공 예정)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3680" y="4105656"/>
            <a:ext cx="5303520" cy="274320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4123944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95160" y="412394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6C00"/>
                </a:solidFill>
              </a:rPr>
              <a:t>foc_current_pi.c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81160" y="4123944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</a:rPr>
              <a:t>PI 제어기 (가공 예정)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83680" y="4407408"/>
            <a:ext cx="5303520" cy="274320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4425696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95160" y="442569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6C00"/>
                </a:solidFill>
              </a:rPr>
              <a:t>foc_speed_pi.c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81160" y="4425696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</a:rPr>
              <a:t>속도 PI (가공 예정)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83680" y="4709160"/>
            <a:ext cx="5303520" cy="274320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675120" y="4727448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⬜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95160" y="472744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6C00"/>
                </a:solidFill>
              </a:rPr>
              <a:t>foc_angle_encoder.c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81160" y="472744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</a:rPr>
              <a:t>엔코더 (가공 예정)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583680" y="5010912"/>
            <a:ext cx="5303520" cy="274320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675120" y="5029200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⬜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95160" y="502920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6C00"/>
                </a:solidFill>
              </a:rPr>
              <a:t>foc_angle_hall.c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81160" y="5029200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</a:rPr>
              <a:t>Hall 각도 (가공 예정)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583680" y="5312664"/>
            <a:ext cx="5303520" cy="274320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675120" y="533095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⬜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995160" y="533095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6C00"/>
                </a:solidFill>
              </a:rPr>
              <a:t>foc_angle_smo.c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81160" y="5330952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</a:rPr>
              <a:t>SMO 옵저버 (가공 예정)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583680" y="5614416"/>
            <a:ext cx="5303520" cy="274320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675120" y="5632704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⬜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995160" y="563270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6C00"/>
                </a:solidFill>
              </a:rPr>
              <a:t>foc_current_sense.c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281160" y="5632704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</a:rPr>
              <a:t>전류감지 (가공 예정)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583680" y="5916168"/>
            <a:ext cx="5303520" cy="274320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675120" y="5934456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⬜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95160" y="593445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6C00"/>
                </a:solidFill>
              </a:rPr>
              <a:t>foc_position_pi.c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281160" y="5934456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</a:rPr>
              <a:t>위치 PI (가공 예정)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모델 선택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DGX Spark 128GB 기준 최적 배치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13 / 36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1143000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07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3432" y="1307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역할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5384" y="1307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선택 모델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7336" y="1307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양자화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1307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메모리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1307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선택 이유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691640"/>
            <a:ext cx="11430000" cy="5943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73736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3A6B"/>
                </a:solidFill>
              </a:rPr>
              <a:t>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7373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회로도 이미지
→ 핀맵 추출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1737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6DB4"/>
                </a:solidFill>
              </a:rPr>
              <a:t>Gemma 4 31B Dense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173736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1A"/>
                </a:solidFill>
              </a:rPr>
              <a:t>Q4_K_M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73736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7C10"/>
                </a:solidFill>
              </a:rPr>
              <a:t>공유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173736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Step 1과 동일 인스턴스 재사용 — 이미지 → pinmap CSV + 초기 분석 생성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313432"/>
            <a:ext cx="11430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3591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3A6B"/>
                </a:solidFill>
              </a:rPr>
              <a:t>Step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235915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HW 검증
(추론)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23591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6DB4"/>
                </a:solidFill>
              </a:rPr>
              <a:t>Gemma 4 31B Dense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23591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1A"/>
                </a:solidFill>
              </a:rPr>
              <a:t>Q4_K_M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3591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06060"/>
                </a:solidFill>
              </a:rPr>
              <a:t>~20GB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35915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논리 추론 정확도 최상급, JSON 구조화 출력 우수 / Vision 분석 컨텍스트 포함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935224"/>
            <a:ext cx="11430000" cy="5943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980944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3A6B"/>
                </a:solidFill>
              </a:rPr>
              <a:t>Step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2980944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CubeMX
자동화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298094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6DB4"/>
                </a:solidFill>
              </a:rPr>
              <a:t>LLM 불필요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2980944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2980944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7C10"/>
                </a:solidFill>
              </a:rPr>
              <a:t>0GB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2980944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결정론적 코드 생성 — CubeMX CLI 직접 사용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557016"/>
            <a:ext cx="11430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602736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3A6B"/>
                </a:solidFill>
              </a:rPr>
              <a:t>Step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3602736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알고리즘
통합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97480" y="360273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6DB4"/>
                </a:solidFill>
              </a:rPr>
              <a:t>Gemma 4 26B MoE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3602736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1A"/>
                </a:solidFill>
              </a:rPr>
              <a:t>Q8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3602736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7C10"/>
                </a:solidFill>
              </a:rPr>
              <a:t>~22GB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3602736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Active ~4B → 빠른 추론, USER CODE 삽입 최적화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178808"/>
            <a:ext cx="11430000" cy="5943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22452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3A6B"/>
                </a:solidFill>
              </a:rPr>
              <a:t>임베딩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422452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RAG 검색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97480" y="422452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6DB4"/>
                </a:solidFill>
              </a:rPr>
              <a:t>BAAI/bge-m3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422452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1A"/>
                </a:solidFill>
              </a:rPr>
              <a:t>FP32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422452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7C10"/>
                </a:solidFill>
              </a:rPr>
              <a:t>~2GB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6600" y="422452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한국어+영어 혼재 문서 최적, 로컬 실행 가능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427939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</a:rPr>
              <a:t>동시 메모리 로드 시나리오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469087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시나리오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03120" y="469087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1 모델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469087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3 모델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94960" y="469087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합산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80" y="469087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판정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010912"/>
            <a:ext cx="8229600" cy="3657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50474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권장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03120" y="50474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Gemma 4 31B Q4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49039" y="50474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Gemma 4 26B MoE Q8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94960" y="50474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~42GB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40880" y="50474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7C10"/>
                </a:solidFill>
              </a:rPr>
              <a:t>✓ 큰 여유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5394960"/>
            <a:ext cx="8229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43153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최고 품질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03120" y="543153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Gemma 4 31B Q8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49039" y="543153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Gemma 4 26B MoE Q8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94960" y="543153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~58GB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40880" y="543153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7C10"/>
                </a:solidFill>
              </a:rPr>
              <a:t>✓ 여유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5779008"/>
            <a:ext cx="82296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5815583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경량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03120" y="5815583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Gemma 4 26B MoE Q4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49039" y="5815583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Gemma 4 26B MoE Q4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94960" y="5815583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~36GB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0" y="5815583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7C10"/>
                </a:solidFill>
              </a:rPr>
              <a:t>✓ 큰 여유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61120" y="42793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Fine-tuning 메모리 요구량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61120" y="4663440"/>
            <a:ext cx="3200400" cy="475488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098280" y="469087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6C00"/>
                </a:solidFill>
              </a:rPr>
              <a:t>Gemma 4 31B Dense QLoRA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84280" y="4690872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C0392B"/>
                </a:solidFill>
              </a:rPr>
              <a:t>~60~70GB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61120" y="5193792"/>
            <a:ext cx="3200400" cy="475488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098280" y="522122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6C00"/>
                </a:solidFill>
              </a:rPr>
              <a:t>Gemma 4 26B MoE QLoRA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384280" y="5221224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C0392B"/>
                </a:solidFill>
              </a:rPr>
              <a:t>~40~50GB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61120" y="5742432"/>
            <a:ext cx="3200400" cy="384048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098280" y="577900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✅ DGX Spark 단독 가능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사용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회로도 입력부터 완성 펌웨어까지 — Step별 사용법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14 / 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7C10"/>
                </a:solidFill>
              </a:rPr>
              <a:t>전체 사용 흐름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55648"/>
            <a:ext cx="1737360" cy="47548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7830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① 준비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49424"/>
            <a:ext cx="1737360" cy="59436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286000"/>
            <a:ext cx="16002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1A"/>
                </a:solidFill>
              </a:rPr>
              <a:t>회로도 이미지
또는 CSV 준비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23317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1755648"/>
            <a:ext cx="1737360" cy="47548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59152" y="17830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② 핀 검증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2249424"/>
            <a:ext cx="1737360" cy="59436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59152" y="2286000"/>
            <a:ext cx="16002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1A"/>
                </a:solidFill>
              </a:rPr>
              <a:t>Step 1 Agent
(Vision + 검증)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9935" y="23317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1755648"/>
            <a:ext cx="1737360" cy="475488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79392" y="17830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③ 검증 게이트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249424"/>
            <a:ext cx="1737360" cy="594360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9392" y="2286000"/>
            <a:ext cx="16002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1A"/>
                </a:solidFill>
              </a:rPr>
              <a:t>PASS만
Step 2 진행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0176" y="23317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755648"/>
            <a:ext cx="1737360" cy="47548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2" y="17830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④ HAL 코드 생성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249424"/>
            <a:ext cx="1737360" cy="59436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2286000"/>
            <a:ext cx="16002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1A"/>
                </a:solidFill>
              </a:rPr>
              <a:t>Step 2
CubeMX 자동화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0416" y="23317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755648"/>
            <a:ext cx="1737360" cy="47548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9872" y="17830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⑤ 알고리즘 통합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2249424"/>
            <a:ext cx="1737360" cy="59436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9872" y="2286000"/>
            <a:ext cx="16002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1A"/>
                </a:solidFill>
              </a:rPr>
              <a:t>Step 3 Agent
실행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0656" y="23317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66960" y="1755648"/>
            <a:ext cx="1737360" cy="47548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40112" y="17830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⑥ 빌드 확인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66960" y="2249424"/>
            <a:ext cx="1737360" cy="59436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40112" y="2286000"/>
            <a:ext cx="16002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1A"/>
                </a:solidFill>
              </a:rPr>
              <a:t>컴파일 &amp;
검증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2926080"/>
            <a:ext cx="1737360" cy="384048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86000" y="2926080"/>
            <a:ext cx="1737360" cy="384048"/>
          </a:xfrm>
          <a:prstGeom prst="rect">
            <a:avLst/>
          </a:pr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31720" y="29535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C0392B"/>
                </a:solidFill>
              </a:rPr>
              <a:t>FAIL ↓  오류 리포트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3337560"/>
            <a:ext cx="1737360" cy="53035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31720" y="3364992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</a:rPr>
              <a:t>회로도 수정
후 ① 재실행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63240" y="28346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</a:rPr>
              <a:t>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3017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입력 방식 (권장: 회로도 이미지)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401568"/>
            <a:ext cx="5303520" cy="10058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3401568"/>
            <a:ext cx="5303520" cy="1005840"/>
          </a:xfrm>
          <a:prstGeom prst="rect">
            <a:avLst/>
          </a:prstGeom>
          <a:noFill/>
          <a:ln w="1905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43814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A8A"/>
                </a:solidFill>
              </a:rPr>
              <a:t>방법 1 — 회로도 이미지 업로드 (JPEG/PNG)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37033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F5B0"/>
                </a:solidFill>
              </a:rPr>
              <a:t>Gemma 4 31B Vision이 핀맵을 자동 추출 → 사용자 CSV 작성 불필요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395935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0D090"/>
                </a:solidFill>
              </a:rPr>
              <a:t>schematic_v3.png  (드래그 or 클릭 업로드)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480560"/>
            <a:ext cx="5303520" cy="19842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45079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AAAAA"/>
                </a:solidFill>
              </a:rPr>
              <a:t>방법 2 — CSV 직접 입력 (이미지 없을 때)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4773168"/>
            <a:ext cx="512064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EF5B0"/>
                </a:solidFill>
              </a:rPr>
              <a:t>chip,pin,function,label
STM32G474RET6,PA8,TIM1_CH1,PWM_UH
STM32G474RET6,PA7,TIM1_CH1N,PWM_UL
STM32G474RET6,PB8,FDCAN1_RX,CAN_RX
STM32G474RET6,PB9,FDCAN1_TX,CAN_TX
...  (전체 핀 목록)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30175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기능 요구사항 — 자연어 프롬프트 입력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3346704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</a:rPr>
              <a:t>HW 개발자가 자유롭게 작성 → LLM이 파싱하여 핀 검증 수행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3593592"/>
            <a:ext cx="5577840" cy="246888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17920" y="3593592"/>
            <a:ext cx="64008" cy="24688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73368" y="3639312"/>
            <a:ext cx="5349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EF5B0"/>
                </a:solidFill>
              </a:rPr>
              <a:t>STM32G474RET6 칩을 쓸 거고,
외부 크리스탈 24MHz / 시스템 170MHz야.
BLDC 모터 1개를 FOC로 제어할 건데
증분형 엔코더(A/B/Z)로 각도 읽고,
3상 6채널 PWM으로 인버터 구동해.
데드타임은 500ns, 전류는 내부 OPAMP.
통신은 FDCAN 1Mbps 쓰고,
파라미터 저장용으로 SPI EEPROM도
연결할 거야. (CS: PA4)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6099048"/>
            <a:ext cx="5577840" cy="36576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63640" y="61264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401A"/>
                </a:solidFill>
              </a:rPr>
              <a:t>포함 권장: 칩명 · 클럭 · 모터종류/제어방식 · 피드백센서 · PWM채널수 · 통신프로토콜 · 외부장치(EEPROM 등)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사용 가이드 ① — Step 1 : 핀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회로도 이미지 + 자연어 프롬프트 → Vision 분석 → Rule Engine + RAG + LLM → 검증 리포트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15 / 36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2011680" cy="32004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52728"/>
            <a:ext cx="19202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사용 가이드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실행 순서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84831"/>
            <a:ext cx="5303520" cy="420624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214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1.  웹 UI 접속  (http://dgx-spark:3000)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42032"/>
            <a:ext cx="53035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5786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2.  회로도 이미지 업로드 (JPEG/PNG — Vision이 핀맵 자동 추출)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99232"/>
            <a:ext cx="5303520" cy="420624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358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3.  기능 요구사항을 자연어로 입력 (프롬프트 가이드 참고)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56432"/>
            <a:ext cx="53035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930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4.  [검증 실행] 버튼 클릭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13631"/>
            <a:ext cx="5303520" cy="420624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502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5.  Vision 분석 결과 확인 → 검증 리포트 확인 (PASS / FAIL)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165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프롬프트 작성 가이드 (이런 내용을 포함하세요)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718304"/>
            <a:ext cx="1188720" cy="24688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4736592"/>
            <a:ext cx="115214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칩 정보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72768" y="4718304"/>
            <a:ext cx="4096512" cy="246888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64208" y="4745736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어떤 STM32G4 칩인지, 외부 크리스탈, 동작 클럭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001768"/>
            <a:ext cx="1188720" cy="24688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5020055"/>
            <a:ext cx="115214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모터/제어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72768" y="5001768"/>
            <a:ext cx="409651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64208" y="502920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모터 종류(BLDC/DC), 제어 방식(FOC/6-step/듀티), 축 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285232"/>
            <a:ext cx="1188720" cy="24688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5303520"/>
            <a:ext cx="115214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피드백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72768" y="5285232"/>
            <a:ext cx="4096512" cy="246888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64208" y="531266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엔코더(증분/절대), Hall 센서, 리졸버 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568696"/>
            <a:ext cx="1188720" cy="24688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5586983"/>
            <a:ext cx="115214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PWM/인버터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72768" y="5568696"/>
            <a:ext cx="409651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64208" y="559612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채널 수, 데드타임, 전류 감지 방법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852160"/>
            <a:ext cx="1188720" cy="24688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5870448"/>
            <a:ext cx="115214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통신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72768" y="5852160"/>
            <a:ext cx="4096512" cy="246888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64208" y="587959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FDCAN, UART, SPI, I2C 및 속도/주소 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6135624"/>
            <a:ext cx="1188720" cy="24688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6153912"/>
            <a:ext cx="115214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외부 장치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72768" y="6135624"/>
            <a:ext cx="409651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64208" y="6163056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EEPROM, 센서, 디스플레이 등 연결 장치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16916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검증 리포트 출력 예시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2084831"/>
            <a:ext cx="5303520" cy="2606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2130552"/>
            <a:ext cx="51206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EF5B0"/>
                </a:solidFill>
              </a:rPr>
              <a:t>✅ 검증 통과 (PASS)
────────────────────────────
PIN    FUNCTION     AF    STATUS
PA8    TIM1_CH1     AF6   OK
PA7    TIM1_CH1N    AF6   OK
PA9    TIM1_CH2     AF6   OK
PB8    FDCAN1_RX    AF9   OK
PB9    FDCAN1_TX    AF9   OK
⚠ 경고 (Warnings)
• PA0 : 풀업 저항 미설정 권장
• TIM1 데드타임 500ns 설정 필요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4754880"/>
            <a:ext cx="5303520" cy="1664208"/>
          </a:xfrm>
          <a:prstGeom prst="rect">
            <a:avLst/>
          </a:prstGeom>
          <a:solidFill>
            <a:srgbClr val="2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800600"/>
            <a:ext cx="51206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A9A"/>
                </a:solidFill>
              </a:rPr>
              <a:t>❌ 검증 실패 (FAIL)
────────────────────────────
ERROR: PA9 — TIM1_CH2 ≠ AF6
  └ PA9의 TIM1_CH2는 AF6이지만
    회로도에 AF7로 설정됨
ERROR: PB10 — I2C2_SCL 핀 중복
  └ PB10이 FDCAN1_TX와 충돌
→ 회로도 수정 후 재검증 필요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212080"/>
            <a:ext cx="5303520" cy="566928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65760" y="5212080"/>
            <a:ext cx="64008" cy="56692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52395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07C10"/>
                </a:solidFill>
              </a:rPr>
              <a:t>✅  PASS :  errors[ ] == 0 → Step 2 자동 진행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54864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경고(warnings)는 리포트에 표시하되 진행은 허용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5212080"/>
            <a:ext cx="5577840" cy="566928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17920" y="5212080"/>
            <a:ext cx="64008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5080" y="5239512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</a:rPr>
              <a:t>❌  FAIL :  errors[ ] &gt; 0 → Step 2·3 완전 차단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80" y="548640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오류 핀 목록 + 원인 리포트 → 회로도 수정 후 Step 1 재실행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사용 가이드 ② — Step 2 : CubeMX 코드 자동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Step 1 PASS 확인 후 자동 진행 — 사용자 조작 불필요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16 / 36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2011680" cy="32004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52728"/>
            <a:ext cx="19202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사용 가이드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11430000" cy="47548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🔒 검증 게이트 통과 후에만 실행됩니다.  errors[ ] &gt; 0 이면 이 화면에 진입 불가.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286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8A"/>
                </a:solidFill>
              </a:rPr>
              <a:t>내부 처리 과정 (투명하게 표시)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97480"/>
            <a:ext cx="475488" cy="47548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71576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2697480"/>
            <a:ext cx="10972800" cy="475488"/>
          </a:xfrm>
          <a:prstGeom prst="rect">
            <a:avLst/>
          </a:prstGeom>
          <a:solidFill>
            <a:srgbClr val="D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73405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8A"/>
                </a:solidFill>
              </a:rPr>
              <a:t>핀 JSON 수신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734056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Step 1의 검증 완료 JSON (chip, pins[], peripherals[])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91840"/>
            <a:ext cx="475488" cy="47548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31012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291840"/>
            <a:ext cx="10972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32841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8A"/>
                </a:solidFill>
              </a:rPr>
              <a:t>.ioc 파일 생성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328416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Python 스크립트 → 핀 설정, 클럭, 주변장치 자동 작성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886200"/>
            <a:ext cx="475488" cy="47548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90448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3886200"/>
            <a:ext cx="10972800" cy="475488"/>
          </a:xfrm>
          <a:prstGeom prst="rect">
            <a:avLst/>
          </a:prstGeom>
          <a:solidFill>
            <a:srgbClr val="D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92277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8A"/>
                </a:solidFill>
              </a:rPr>
              <a:t>CubeMX CLI 실행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922776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STM32CubeMX -q script.txt (백그라운드 실행, ~10~30초)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480560"/>
            <a:ext cx="475488" cy="47548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49884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4480560"/>
            <a:ext cx="10972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51713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8A"/>
                </a:solidFill>
              </a:rPr>
              <a:t>출력 파일 수집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4517136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main.c / tim.c / adc.c / fdcan.c / cordic.c 수집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074920"/>
            <a:ext cx="475488" cy="47548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09320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5074920"/>
            <a:ext cx="10972800" cy="475488"/>
          </a:xfrm>
          <a:prstGeom prst="rect">
            <a:avLst/>
          </a:prstGeom>
          <a:solidFill>
            <a:srgbClr val="D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11149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8A"/>
                </a:solidFill>
              </a:rPr>
              <a:t>USER CODE 영역 확인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5111496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Step 3 LLM이 채울 영역 존재 여부 검증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733288"/>
            <a:ext cx="11430000" cy="64008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5733288"/>
            <a:ext cx="73152" cy="6400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77900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07C10"/>
                </a:solidFill>
              </a:rPr>
              <a:t>출력 확인 :  Streamlit 화면에서 생성된 파일 트리 확인 가능
main.c의 USER CODE BEGIN 영역을 미리보기로 표시 → Step 3 진행 확인 후 클릭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사용 가이드 ③ — Step 3 : 알고리즘 통합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CubeMX 생성 코드 + Golden Module → 완성 펌웨어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17 / 36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2011680" cy="32004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52728"/>
            <a:ext cx="19202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사용 가이드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사용 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84831"/>
            <a:ext cx="5303520" cy="420624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214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1.  Step 2 완료 확인 후 [알고리즘 통합 실행] 버튼 클릭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42032"/>
            <a:ext cx="53035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5786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2.  LLM이 요구사항 JSON을 분석하여 필요한 Golden Module 자동 선택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99232"/>
            <a:ext cx="5303520" cy="420624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358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3.  선택된 모듈 목록 확인 (수동 추가/제거 가능)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56432"/>
            <a:ext cx="53035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930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4.  [코드 생성 확정] 클릭 → Gemma 4 26B MoE 실행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13631"/>
            <a:ext cx="5303520" cy="420624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502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5.  생성 완료 후 코드 미리보기 확인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70831"/>
            <a:ext cx="53035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4074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6.  [다운로드] 또는 프로젝트 폴더로 저장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6916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7C10"/>
                </a:solidFill>
              </a:rPr>
              <a:t>자동 선택된 Golden Module 예시 (BLDC FOC + FDCAN)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084831"/>
            <a:ext cx="5577840" cy="402336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121408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121408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7C10"/>
                </a:solidFill>
              </a:rPr>
              <a:t>bldc_6step_hall.c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121408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6-step Hall + BRK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514600"/>
            <a:ext cx="55778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551176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551176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7C10"/>
                </a:solidFill>
              </a:rPr>
              <a:t>fdcan_motor_cmd.c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2551176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FDCAN 핸들러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944368"/>
            <a:ext cx="5577840" cy="402336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2980944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980944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7C10"/>
                </a:solidFill>
              </a:rPr>
              <a:t>foc_clarke.c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2980944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Clarke 변환 (가공 예정)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374135"/>
            <a:ext cx="55778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3410711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410711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7C10"/>
                </a:solidFill>
              </a:rPr>
              <a:t>foc_park.c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3410711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Park 변환 (가공 예정)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803904"/>
            <a:ext cx="5577840" cy="402336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840479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3840479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7C10"/>
                </a:solidFill>
              </a:rPr>
              <a:t>foc_inv_park.c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3840479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역 Park (가공 예정)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233671"/>
            <a:ext cx="55778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4270248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270248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7C10"/>
                </a:solidFill>
              </a:rPr>
              <a:t>foc_svpwm.c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6840" y="4270248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SVPWM (가공 예정)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663440"/>
            <a:ext cx="5577840" cy="402336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4700016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4700016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7C10"/>
                </a:solidFill>
              </a:rPr>
              <a:t>foc_current_pi.c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4700016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PI 제어기 (가공 예정)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5093208"/>
            <a:ext cx="55778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5129783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29400" y="5129783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7C10"/>
                </a:solidFill>
              </a:rPr>
              <a:t>foc_angle_encoder.c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5129783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엔코더 (가공 예정)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5522975"/>
            <a:ext cx="5577840" cy="402336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60" y="5559552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29400" y="5559552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7C10"/>
                </a:solidFill>
              </a:rPr>
              <a:t>foc_current_sense.c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06840" y="5559552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전류 감지 (가공 예정)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937760"/>
            <a:ext cx="11430000" cy="5943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49834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B3A6B"/>
                </a:solidFill>
              </a:rPr>
              <a:t>💡  LLM이 삽입하는 코드 :  ADC ISR에 FOC 루틴 호출, FDCAN 콜백에 커맨드 파싱 연결, 메인 루프에 속도 제어 루프 추가 — HAL API는 건드리지 않음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사용 가이드 ④ — 결과 확인 &amp; 빌드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출력 파일 구조 · 빌드 방법 · 주의사항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18 / 36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2011680" cy="32004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52728"/>
            <a:ext cx="19202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사용 가이드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최종 출력 파일 구조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84831"/>
            <a:ext cx="5303520" cy="3154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30552"/>
            <a:ext cx="5120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D8E6"/>
                </a:solidFill>
              </a:rPr>
              <a:t>project_output/
├── Core/Src/
│   ├── main.c           ← USER CODE 채워진 통합본
│   ├── tim.c / adc.c / fdcan.c / cordic.c
│   ├── motor_foc.c      ← FOC 알고리즘 통합
│   ├── motor_foc.h
│   └── fdcan_handler.c  ← FDCAN 핸들러
├── Core/Inc/
│   ├── main.h
│   └── motor_params.h   ← 모터 파라미터 설정
├── Drivers/             ← CubeMX HAL 라이브러리
└── Makefile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빌드 &amp; 검증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084831"/>
            <a:ext cx="1371600" cy="47548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12140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컴파일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7808" y="2084831"/>
            <a:ext cx="4187952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121408"/>
            <a:ext cx="4059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F5B0"/>
                </a:solidFill>
              </a:rPr>
              <a:t>make all  (arm-none-eabi-gcc)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615184"/>
            <a:ext cx="1371600" cy="47548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651760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자동 검증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7808" y="2615184"/>
            <a:ext cx="4187952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8" y="2651760"/>
            <a:ext cx="4059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F5B0"/>
                </a:solidFill>
              </a:rPr>
              <a:t>CI 파이프라인 → 빌드 결과 Streamlit 표시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145535"/>
            <a:ext cx="1371600" cy="47548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182111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플래싱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7808" y="3145535"/>
            <a:ext cx="4187952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99248" y="3182111"/>
            <a:ext cx="4059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F5B0"/>
                </a:solidFill>
              </a:rPr>
              <a:t>make flash  (OpenOCD / ST-Link)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675887"/>
            <a:ext cx="1371600" cy="47548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712463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디버그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07808" y="3675887"/>
            <a:ext cx="4187952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99248" y="3712463"/>
            <a:ext cx="4059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F5B0"/>
                </a:solidFill>
              </a:rPr>
              <a:t>make debug  (GDB + OpenOCD)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2519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6C00"/>
                </a:solidFill>
              </a:rPr>
              <a:t>주의사항 &amp; 권장 작업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645152"/>
            <a:ext cx="5577840" cy="393192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68172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⚠  모터 파라미터 (Rs, Ld, Lq, Flux) 실측 후 motor_params.h 수정 필수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074920"/>
            <a:ext cx="5577840" cy="393192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11149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⚠  FDCAN ID 및 메시지 포맷은 프로젝트 CAN 스펙에 맞게 확인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504688"/>
            <a:ext cx="5577840" cy="393192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554126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⚠  데드타임 설정값은 사용 드라이버 IC 스펙 확인 후 수정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5934456"/>
            <a:ext cx="5577840" cy="393192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597103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⚠  처음 실행 시 무부하 + 저속으로 FOC 루프 튜닝 권장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UI 화면 예시 ① — 메인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브라우저 접속 초기 화면 — 프로젝트 현황 및 Step 진입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19 / 36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1645920" cy="32004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52728"/>
            <a:ext cx="1554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UI 예시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11548872" cy="246888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719072"/>
            <a:ext cx="54864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AAAAA"/>
                </a:solidFill>
              </a:rPr>
              <a:t>* * *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1728216"/>
            <a:ext cx="6949440" cy="164592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1728216"/>
            <a:ext cx="6858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DDDDD"/>
                </a:solidFill>
              </a:rPr>
              <a:t>http://dgx-spark:3000  —  STM32G4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938528"/>
            <a:ext cx="11548872" cy="347472"/>
          </a:xfrm>
          <a:prstGeom prst="rect">
            <a:avLst/>
          </a:prstGeom>
          <a:solidFill>
            <a:srgbClr val="0F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984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STM32G4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79" y="2002536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B4CC"/>
                </a:solidFill>
              </a:rPr>
              <a:t>대시보드     작업이력     설정     도움말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35640" y="1965960"/>
            <a:ext cx="274320" cy="274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5640" y="1965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286000"/>
            <a:ext cx="11548872" cy="4160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286000"/>
            <a:ext cx="1737360" cy="41605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241401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18296"/>
                </a:solidFill>
              </a:rPr>
              <a:t>MENU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633472"/>
            <a:ext cx="1737360" cy="420624"/>
          </a:xfrm>
          <a:prstGeom prst="rect">
            <a:avLst/>
          </a:prstGeom>
          <a:solidFill>
            <a:srgbClr val="2D6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267919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Home  대시보드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090672"/>
            <a:ext cx="1737360" cy="42062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313639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4CC"/>
                </a:solidFill>
              </a:rPr>
              <a:t>01    핀 검증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547872"/>
            <a:ext cx="1737360" cy="42062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359359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4CC"/>
                </a:solidFill>
              </a:rPr>
              <a:t>02    코드 생성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05072"/>
            <a:ext cx="1737360" cy="42062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4050791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4CC"/>
                </a:solidFill>
              </a:rPr>
              <a:t>03    알고리즘 통합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462272"/>
            <a:ext cx="1737360" cy="42062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" y="450799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4CC"/>
                </a:solidFill>
              </a:rPr>
              <a:t>Hist  작업 이력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919472"/>
            <a:ext cx="1737360" cy="42062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" y="496519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4CC"/>
                </a:solidFill>
              </a:rPr>
              <a:t>Cfg   설정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79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</a:rPr>
              <a:t>대시보드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79" y="267004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296"/>
                </a:solidFill>
              </a:rPr>
              <a:t>현재 프로젝트: BLDC_Motor_v2  |  STM32G474RET6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79" y="2907792"/>
            <a:ext cx="28346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40279" y="2907792"/>
            <a:ext cx="64008" cy="9144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04872" y="29535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18296"/>
                </a:solidFill>
              </a:rPr>
              <a:t>STEP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04872" y="31455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핀 검증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04872" y="3447288"/>
            <a:ext cx="960120" cy="201168"/>
          </a:xfrm>
          <a:prstGeom prst="rect">
            <a:avLst/>
          </a:prstGeom>
          <a:solidFill>
            <a:srgbClr val="C6F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04872" y="3456432"/>
            <a:ext cx="9601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2543D"/>
                </a:solidFill>
              </a:rP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04872" y="368503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296"/>
                </a:solidFill>
              </a:rPr>
              <a:t>오류 0건  경고 1건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57800" y="2907792"/>
            <a:ext cx="28346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257800" y="2907792"/>
            <a:ext cx="64008" cy="91440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22392" y="29535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18296"/>
                </a:solidFill>
              </a:rPr>
              <a:t>STEP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22392" y="31455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HAL 코드 생성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22392" y="3447288"/>
            <a:ext cx="960120" cy="201168"/>
          </a:xfrm>
          <a:prstGeom prst="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22392" y="3456432"/>
            <a:ext cx="9601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65D"/>
                </a:solidFill>
              </a:rPr>
              <a:t>완료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22392" y="368503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296"/>
                </a:solidFill>
              </a:rPr>
              <a:t>파일 5개 생성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75319" y="2907792"/>
            <a:ext cx="28346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75319" y="2907792"/>
            <a:ext cx="64008" cy="914400"/>
          </a:xfrm>
          <a:prstGeom prst="rect">
            <a:avLst/>
          </a:prstGeom>
          <a:solidFill>
            <a:srgbClr val="71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39911" y="29535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18296"/>
                </a:solidFill>
              </a:rPr>
              <a:t>STEP 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39911" y="31455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알고리즘 통합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39911" y="3447288"/>
            <a:ext cx="960120" cy="20116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39911" y="3456432"/>
            <a:ext cx="9601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777777"/>
                </a:solidFill>
              </a:rPr>
              <a:t>대기중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9911" y="368503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296"/>
                </a:solidFill>
              </a:rPr>
              <a:t>Step 2 완료 후 진행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40279" y="395020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최근 작업 이력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40279" y="4224528"/>
            <a:ext cx="9537192" cy="228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31720" y="4242816"/>
            <a:ext cx="25146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18296"/>
                </a:solidFill>
              </a:rPr>
              <a:t>프로젝트명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92040" y="4242816"/>
            <a:ext cx="1783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18296"/>
                </a:solidFill>
              </a:rPr>
              <a:t>칩 모델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0840" y="4242816"/>
            <a:ext cx="146303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18296"/>
                </a:solidFill>
              </a:rPr>
              <a:t>상태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4242816"/>
            <a:ext cx="150876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18296"/>
                </a:solidFill>
              </a:rPr>
              <a:t>날짜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84080" y="4242816"/>
            <a:ext cx="123443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18296"/>
                </a:solidFill>
              </a:rPr>
              <a:t>담당자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40279" y="4453128"/>
            <a:ext cx="9537192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31720" y="4489704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BLDC_Motor_v2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92040" y="4489704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STM32G474RET6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20840" y="4489704"/>
            <a:ext cx="1463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7C10"/>
                </a:solidFill>
              </a:rPr>
              <a:t>PASS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0" y="4489704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2026-04-10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4489704"/>
            <a:ext cx="1234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김철수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40279" y="4754880"/>
            <a:ext cx="9537192" cy="283464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331720" y="4791456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DC_Conv_3kW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92040" y="4791456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STM32G431KBT6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20840" y="4791456"/>
            <a:ext cx="1463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6C00"/>
                </a:solidFill>
              </a:rPr>
              <a:t>경고 1건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0" y="479145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2026-04-09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84080" y="4791456"/>
            <a:ext cx="1234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이영희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40279" y="5056632"/>
            <a:ext cx="9537192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31720" y="5093208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EPS_Controller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92040" y="5093208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STM32G474VET6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20840" y="5093208"/>
            <a:ext cx="1463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오류 2건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0" y="509320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2026-04-08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84080" y="5093208"/>
            <a:ext cx="1234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박민준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240279" y="5541264"/>
            <a:ext cx="2377440" cy="347472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286000" y="55869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+  새 프로젝트 시작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UI 화면 예시 ② — Step 1 핀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회로도 이미지 업로드 + 자연어 프롬프트 → Vision 분석 → 검증 결과 실시간 표시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20 / 36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1645920" cy="32004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52728"/>
            <a:ext cx="1554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UI 예시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11548872" cy="246888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719072"/>
            <a:ext cx="54864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AAAAA"/>
                </a:solidFill>
              </a:rPr>
              <a:t>* * *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1728216"/>
            <a:ext cx="6949440" cy="164592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1728216"/>
            <a:ext cx="6858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DDDDD"/>
                </a:solidFill>
              </a:rPr>
              <a:t>http://dgx-spark:3000/step1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938528"/>
            <a:ext cx="11548872" cy="347472"/>
          </a:xfrm>
          <a:prstGeom prst="rect">
            <a:avLst/>
          </a:prstGeom>
          <a:solidFill>
            <a:srgbClr val="0F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984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STM32G4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00253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B4CC"/>
                </a:solidFill>
              </a:rPr>
              <a:t>대시보드     작업이력     설정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35640" y="1965960"/>
            <a:ext cx="274320" cy="274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5640" y="1965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286000"/>
            <a:ext cx="11548872" cy="4160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286000"/>
            <a:ext cx="1737360" cy="41605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241401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18296"/>
                </a:solidFill>
              </a:rPr>
              <a:t>MENU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633472"/>
            <a:ext cx="1737360" cy="42062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267919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4CC"/>
                </a:solidFill>
              </a:rPr>
              <a:t>Home  대시보드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090672"/>
            <a:ext cx="1737360" cy="420624"/>
          </a:xfrm>
          <a:prstGeom prst="rect">
            <a:avLst/>
          </a:prstGeom>
          <a:solidFill>
            <a:srgbClr val="2D6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313639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01    핀 검증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547872"/>
            <a:ext cx="1737360" cy="42062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359359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4CC"/>
                </a:solidFill>
              </a:rPr>
              <a:t>02    코드 생성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05072"/>
            <a:ext cx="1737360" cy="42062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4050791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4CC"/>
                </a:solidFill>
              </a:rPr>
              <a:t>03    알고리즘 통합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462272"/>
            <a:ext cx="1737360" cy="42062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" y="450799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4CC"/>
                </a:solidFill>
              </a:rPr>
              <a:t>Hist  작업 이력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919472"/>
            <a:ext cx="1737360" cy="42062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" y="496519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4CC"/>
                </a:solidFill>
              </a:rPr>
              <a:t>Cfg   설정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79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</a:rPr>
              <a:t>STEP 1  |  핀 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270662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</a:rPr>
              <a:t>1  회로도 이미지 업로드 (Vision 자동 분석)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2953512"/>
            <a:ext cx="43891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194560" y="2953512"/>
            <a:ext cx="4389120" cy="749808"/>
          </a:xfrm>
          <a:prstGeom prst="rect">
            <a:avLst/>
          </a:prstGeom>
          <a:noFill/>
          <a:ln w="1524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69079" y="301752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A8A"/>
                </a:solidFill>
              </a:rPr>
              <a:t>[IMG]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04288" y="3264408"/>
            <a:ext cx="4160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18296"/>
                </a:solidFill>
              </a:rPr>
              <a:t>회로도 이미지를 드래그하거나 클릭하여 업로드 (JPEG/PNG)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04288" y="3447288"/>
            <a:ext cx="4160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7A8A"/>
                </a:solidFill>
              </a:rPr>
              <a:t>schematic_bldc_v3.png  (업로드 완료 ✓  →  Vision 분석 예정)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4560" y="2953512"/>
            <a:ext cx="4389120" cy="749808"/>
          </a:xfrm>
          <a:prstGeom prst="rect">
            <a:avLst/>
          </a:prstGeom>
          <a:noFill/>
          <a:ln w="1270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94560" y="3785615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</a:rPr>
              <a:t>2  기능 요구사항 입력 (자연어)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94560" y="4023360"/>
            <a:ext cx="4389120" cy="27432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194560" y="4023360"/>
            <a:ext cx="64008" cy="27432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31720" y="4050791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401A"/>
                </a:solidFill>
              </a:rPr>
              <a:t>예시) STM32G474RET6, BLDC FOC, 엔코더, FDCAN 1Mbps, SPI EEPROM...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94560" y="4315968"/>
            <a:ext cx="43891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194560" y="4315968"/>
            <a:ext cx="4389120" cy="1188720"/>
          </a:xfrm>
          <a:prstGeom prst="rect">
            <a:avLst/>
          </a:prstGeom>
          <a:noFill/>
          <a:ln w="19050">
            <a:solidFill>
              <a:srgbClr val="90CF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86000" y="4361688"/>
            <a:ext cx="422452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STM32G474RET6 칩을 쓸 거고,
외부 크리스탈 24MHz / 시스템 170MHz야.
BLDC 모터 1개를 FOC로 제어할 건데
증분형 엔코더(A/B/Z)로 각도 읽고,
3상 6채널 PWM으로 인버터 구동해.
데드타임 500ns, 전류는 내부 OPAMP.
FDCAN 1Mbps + SPI EEPROM(CS: PA4).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94560" y="5577840"/>
            <a:ext cx="4389120" cy="38404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86000" y="562356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검증 실행  (Step 1 시작)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7999" y="2706624"/>
            <a:ext cx="487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</a:rPr>
              <a:t>검증 결과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7999" y="2953512"/>
            <a:ext cx="4873752" cy="347472"/>
          </a:xfrm>
          <a:prstGeom prst="rect">
            <a:avLst/>
          </a:prstGeom>
          <a:solidFill>
            <a:srgbClr val="C6F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57999" y="2953512"/>
            <a:ext cx="64008" cy="34747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95159" y="2999232"/>
            <a:ext cx="4690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543D"/>
                </a:solidFill>
              </a:rPr>
              <a:t>PASS — errors[ ] = 0     경고 1건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7999" y="3337560"/>
            <a:ext cx="4873752" cy="228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31151" y="3355848"/>
            <a:ext cx="54864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18296"/>
                </a:solidFill>
              </a:rPr>
              <a:t>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25511" y="3355848"/>
            <a:ext cx="13258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18296"/>
                </a:solidFill>
              </a:rPr>
              <a:t>기능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97111" y="3355848"/>
            <a:ext cx="54864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18296"/>
                </a:solidFill>
              </a:rPr>
              <a:t>AF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3355848"/>
            <a:ext cx="77724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18296"/>
                </a:solidFill>
              </a:rPr>
              <a:t>상태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7999" y="3566160"/>
            <a:ext cx="4873752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31151" y="360273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PA8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25511" y="360273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TIM1_CH1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97111" y="360273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AF6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91472" y="360273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7C10"/>
                </a:solidFill>
              </a:rPr>
              <a:t>OK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57999" y="3867911"/>
            <a:ext cx="4873752" cy="283464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31151" y="3904487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PA7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25511" y="3904487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TIM1_CH1N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97111" y="3904487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AF6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91472" y="3904487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7C10"/>
                </a:solidFill>
              </a:rPr>
              <a:t>OK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57999" y="4169663"/>
            <a:ext cx="4873752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31151" y="4206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PA9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25511" y="420624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TIM1_CH2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97111" y="4206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AF6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91472" y="420624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7C10"/>
                </a:solidFill>
              </a:rPr>
              <a:t>OK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57999" y="4471416"/>
            <a:ext cx="4873752" cy="283464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31151" y="4507992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PB8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25511" y="4507992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FDCAN1_RX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97111" y="4507992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AF9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491472" y="450799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7C10"/>
                </a:solidFill>
              </a:rPr>
              <a:t>OK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857999" y="4773168"/>
            <a:ext cx="4873752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931151" y="480974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PB9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25511" y="4809744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FDCAN1_TX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897111" y="480974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AF9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491472" y="48097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7C10"/>
                </a:solidFill>
              </a:rPr>
              <a:t>OK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857999" y="5074920"/>
            <a:ext cx="4873752" cy="283464"/>
          </a:xfrm>
          <a:prstGeom prst="rect">
            <a:avLst/>
          </a:prstGeom>
          <a:solidFill>
            <a:srgbClr val="FF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931151" y="511149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PA0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25511" y="511149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TIM2_CH1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897111" y="511149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AF1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91472" y="51114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6C00"/>
                </a:solidFill>
              </a:rPr>
              <a:t>WARNING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857999" y="5394960"/>
            <a:ext cx="4873752" cy="47548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857999" y="5394960"/>
            <a:ext cx="64008" cy="475488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995159" y="5431536"/>
            <a:ext cx="4690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4A00"/>
                </a:solidFill>
              </a:rPr>
              <a:t>WARNING — PA0 : 인코더 입력 풀업 저항 미설정 권장
→ 회로도 수정 권장 (진행은 허용)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857999" y="5961888"/>
            <a:ext cx="4873752" cy="38404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949439" y="6007608"/>
            <a:ext cx="4690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2 로 진행  (HAL 코드 생성)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UI 화면 예시 ③ — Step 2 / 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HAL 코드 생성 진행 상황 → 알고리즘 통합 모듈 선택 + 코드 미리보기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21 / 36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1645920" cy="32004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52728"/>
            <a:ext cx="1554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UI 예시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0992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A"/>
                </a:solidFill>
              </a:rPr>
              <a:t>Step 2 : HAL 코드 자동 생성 (CubeMX CLI)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11680"/>
            <a:ext cx="53949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5394960" cy="32004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6654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코드 생성 완료 — 파일 5개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95728"/>
            <a:ext cx="548640" cy="274320"/>
          </a:xfrm>
          <a:prstGeom prst="rect">
            <a:avLst/>
          </a:prstGeom>
          <a:solidFill>
            <a:srgbClr val="C6F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43230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2543D"/>
                </a:solidFill>
              </a:rPr>
              <a:t>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43230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3A6B"/>
                </a:solidFill>
              </a:rPr>
              <a:t>핀 JSON 수신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43230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Step 1 검증 완료 데이터 수신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24912"/>
            <a:ext cx="548640" cy="274320"/>
          </a:xfrm>
          <a:prstGeom prst="rect">
            <a:avLst/>
          </a:prstGeom>
          <a:solidFill>
            <a:srgbClr val="C6F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6148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2543D"/>
                </a:solidFill>
              </a:rPr>
              <a:t>완료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276148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3A6B"/>
                </a:solidFill>
              </a:rPr>
              <a:t>.ioc 파일 생성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276148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170MHz 클럭 / TIM1 SVPWM / FDCAN 설정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54096"/>
            <a:ext cx="548640" cy="274320"/>
          </a:xfrm>
          <a:prstGeom prst="rect">
            <a:avLst/>
          </a:prstGeom>
          <a:solidFill>
            <a:srgbClr val="C6F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9067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2543D"/>
                </a:solidFill>
              </a:rPr>
              <a:t>완료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309067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3A6B"/>
                </a:solidFill>
              </a:rPr>
              <a:t>CubeMX CLI 실행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309067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STM32CubeMX -q script.txt  (22초)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83280"/>
            <a:ext cx="548640" cy="274320"/>
          </a:xfrm>
          <a:prstGeom prst="rect">
            <a:avLst/>
          </a:prstGeom>
          <a:solidFill>
            <a:srgbClr val="C6F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41985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2543D"/>
                </a:solidFill>
              </a:rPr>
              <a:t>완료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341985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3A6B"/>
                </a:solidFill>
              </a:rPr>
              <a:t>출력 파일 수집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341985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main.c  tim.c  adc.c  fdcan.c  cordic.c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12464"/>
            <a:ext cx="548640" cy="274320"/>
          </a:xfrm>
          <a:prstGeom prst="rect">
            <a:avLst/>
          </a:prstGeom>
          <a:solidFill>
            <a:srgbClr val="C6F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7490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2543D"/>
                </a:solidFill>
              </a:rPr>
              <a:t>완료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74904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3A6B"/>
                </a:solidFill>
              </a:rPr>
              <a:t>USER CODE 영역 확인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374904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Step 3 LLM 삽입 영역 5개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170992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A"/>
                </a:solidFill>
              </a:rPr>
              <a:t>Step 2 생성 파일 트리 + Step 3 알고리즘 선택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2011680"/>
            <a:ext cx="5852160" cy="2103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2084832"/>
            <a:ext cx="5577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DD8E6"/>
                </a:solidFill>
              </a:rPr>
              <a:t>project_output/
├── Core/Src/
│   ├── main.c        ← USER CODE BEGIN 영역 5개
│   ├── tim.c         ← TIM1/2 초기화 완료
│   ├── adc.c         ← ADC1/2 완료
│   ├── fdcan.c       ← FDCAN1 완료
│   └── cordic.c      ← CORDIC 완료
├── Core/Inc/
│   └── main.h
└── Drivers/ (HAL)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206240"/>
            <a:ext cx="11548872" cy="3657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279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7C10"/>
                </a:solidFill>
              </a:rPr>
              <a:t>Step 3 : 알고리즘 통합 (Golden Module 선택 + 코드 삽입)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572000"/>
            <a:ext cx="502920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4572000"/>
            <a:ext cx="5029200" cy="29260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617720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Golden Module 자동 선택  (수동 편집 가능)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919472"/>
            <a:ext cx="201168" cy="20116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4919472"/>
            <a:ext cx="201168" cy="201168"/>
          </a:xfrm>
          <a:prstGeom prst="rect">
            <a:avLst/>
          </a:prstGeom>
          <a:noFill/>
          <a:ln w="127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91947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937759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3A6B"/>
                </a:solidFill>
              </a:rPr>
              <a:t>bldc_6step_hall.c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0" y="4937759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296"/>
                </a:solidFill>
              </a:rPr>
              <a:t>6-step Hall + BRK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157216"/>
            <a:ext cx="201168" cy="20116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5157216"/>
            <a:ext cx="201168" cy="201168"/>
          </a:xfrm>
          <a:prstGeom prst="rect">
            <a:avLst/>
          </a:prstGeom>
          <a:noFill/>
          <a:ln w="127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15721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175503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3A6B"/>
                </a:solidFill>
              </a:rPr>
              <a:t>fdcan_motor_cmd.c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0" y="5175503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296"/>
                </a:solidFill>
              </a:rPr>
              <a:t>FDCAN 핸들러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39496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5394960"/>
            <a:ext cx="201168" cy="201168"/>
          </a:xfrm>
          <a:prstGeom prst="rect">
            <a:avLst/>
          </a:prstGeom>
          <a:noFill/>
          <a:ln w="127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394960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541324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3A6B"/>
                </a:solidFill>
              </a:rPr>
              <a:t>foc_clarke.c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26080" y="541324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296"/>
                </a:solidFill>
              </a:rPr>
              <a:t>Clarke (오픈소스 가공 예정)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632704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" y="5632704"/>
            <a:ext cx="201168" cy="201168"/>
          </a:xfrm>
          <a:prstGeom prst="rect">
            <a:avLst/>
          </a:prstGeom>
          <a:noFill/>
          <a:ln w="127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5632704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565099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3A6B"/>
                </a:solidFill>
              </a:rPr>
              <a:t>foc_park.c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26080" y="565099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296"/>
                </a:solidFill>
              </a:rPr>
              <a:t>Park (가공 예정)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870448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7200" y="5870448"/>
            <a:ext cx="201168" cy="201168"/>
          </a:xfrm>
          <a:prstGeom prst="rect">
            <a:avLst/>
          </a:prstGeom>
          <a:noFill/>
          <a:ln w="127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87044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588873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3A6B"/>
                </a:solidFill>
              </a:rPr>
              <a:t>foc_svpwm.c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26080" y="5888736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296"/>
                </a:solidFill>
              </a:rPr>
              <a:t>SVPWM (가공 예정)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6108192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57200" y="6108192"/>
            <a:ext cx="201168" cy="201168"/>
          </a:xfrm>
          <a:prstGeom prst="rect">
            <a:avLst/>
          </a:prstGeom>
          <a:noFill/>
          <a:ln w="127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610819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" y="6126479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3A6B"/>
                </a:solidFill>
              </a:rPr>
              <a:t>foc_current_pi.c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26080" y="6126479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296"/>
                </a:solidFill>
              </a:rPr>
              <a:t>PI 제어 (가공 예정)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6035040"/>
            <a:ext cx="5029200" cy="29260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071616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코드 생성 확정  (Gemma 4 26B MoE 실행)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77840" y="4572000"/>
            <a:ext cx="6263640" cy="1783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577840" y="4572000"/>
            <a:ext cx="626364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715000" y="46177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CCCCC"/>
                </a:solidFill>
              </a:rPr>
              <a:t>main.c — 미리보기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0" y="4892040"/>
            <a:ext cx="6035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EF5B0"/>
                </a:solidFill>
              </a:rPr>
              <a:t>/* USER CODE BEGIN 3 */
  /* FOC main loop - inserted by Agent */
  FOC_Clarke(&amp;i_ab, adc_ia, adc_ib);
  FOC_Park(&amp;i_dq, &amp;i_ab, theta_e);
  FOC_CurrentPI(&amp;v_dq, &amp;i_dq, &amp;ref_dq);
  FOC_InvPark(&amp;v_ab, &amp;v_dq, theta_e);
  FOC_SVPWM(&amp;tim_ccr, &amp;v_ab, vbus);
  __HAL_TIM_SET_COMPARE(&amp;htim1,
    TIM_CHANNEL_1, tim_ccr.u);
/* USER CODE END 3 */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77840" y="6373368"/>
            <a:ext cx="3017520" cy="29260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69280" y="6409944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프로젝트 다운로드 (.zip)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686800" y="6373368"/>
            <a:ext cx="3154680" cy="29260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778240" y="6409944"/>
            <a:ext cx="2971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프로젝트 폴더 저장 (서버)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기대 효과 &amp; 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22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기대 효과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2651760" cy="123444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556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핀 오류 사전 차단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04288"/>
            <a:ext cx="2651760" cy="62179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40864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1A"/>
                </a:solidFill>
              </a:rPr>
              <a:t>규칙 엔진 + LLM 이중 검증
→ 회로도 수정 공수 절감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691640"/>
            <a:ext cx="2651760" cy="123444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7556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HAL 코드 생성 자동화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304288"/>
            <a:ext cx="2651760" cy="62179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2340864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1A"/>
                </a:solidFill>
              </a:rPr>
              <a:t>CubeMX CLI 자동화
→ 초기화 코드 작성 시간 ≈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2651760" cy="123444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7556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알고리즘 통합 자동화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304288"/>
            <a:ext cx="2651760" cy="62179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40864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1A"/>
                </a:solidFill>
              </a:rPr>
              <a:t>검증된 Golden Module 조립
→ FOC 통합 반나절 → 수분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1691640"/>
            <a:ext cx="2651760" cy="1234440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17556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멀티모터 지원 (2~4개)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2304288"/>
            <a:ext cx="2651760" cy="62179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2340864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1A"/>
                </a:solidFill>
              </a:rPr>
              <a:t>TIM1+TIM8+TIM20+HRTIM 자동 배분
→ FOC×2 / DC×4 구성 자동 생성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108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7C10"/>
                </a:solidFill>
              </a:rPr>
              <a:t>다음 단계 (즉시 시작 가능한 항목)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20440"/>
            <a:ext cx="777240" cy="50292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557016"/>
            <a:ext cx="7498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즉시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70432" y="3520440"/>
            <a:ext cx="48463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98448" y="35661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ST 공식 PDF 14종 다운로드 (download_st_docs.sh 실행)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3520440"/>
            <a:ext cx="777240" cy="50292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53328" y="3557016"/>
            <a:ext cx="7498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즉시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39712" y="3520440"/>
            <a:ext cx="48463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35661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STM32G474 CubeMX XML 파싱 → pin_af_db.json 생성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087368"/>
            <a:ext cx="777240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4123944"/>
            <a:ext cx="7498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70432" y="4087368"/>
            <a:ext cx="48463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98448" y="4133087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Qdrant + BGE-M3 RAG 파이프라인 구성 (Phase 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4087368"/>
            <a:ext cx="777240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53328" y="4123944"/>
            <a:ext cx="7498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2~3주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39712" y="4087368"/>
            <a:ext cx="48463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67728" y="4133087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dc_motor_pid / multi_axis_sync / bldc_6step 모듈 작성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654296"/>
            <a:ext cx="777240" cy="5029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690872"/>
            <a:ext cx="7498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4~6주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70432" y="4654296"/>
            <a:ext cx="48463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98448" y="470001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FastAPI Step1 검증 에이전트 + Streamlit MVP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4654296"/>
            <a:ext cx="777240" cy="502920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53328" y="4690872"/>
            <a:ext cx="7498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8주~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39712" y="4654296"/>
            <a:ext cx="48463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67728" y="470001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멀티모터 리뷰 로직 + Fine-tuning 데이터 수집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486400"/>
            <a:ext cx="11430000" cy="566928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532120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6C00"/>
                </a:solidFill>
              </a:rPr>
              <a:t>미결 사항 :  ① 회로도 입력 포맷 (CSV + PDF 우선)   ② 멀티모터 OPAMP 부족 시 외부 OPAMP IC 지정 방식   ③ MCSDK 라이선스 확인   ④ Golden Module 담당 엔지니어 지정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8D0FF"/>
                </a:solidFill>
              </a:rPr>
              <a:t>Appendix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학습 데이터 수집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</a:rPr>
              <a:t>무엇을 · 어떻게 · 얼마나 모아야 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36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9BBFF"/>
                </a:solidFill>
              </a:rPr>
              <a:t>Step 1 핀 검증 RAG / Step 1 Fine-tuning / Step 3 통합 RAG / Step 3 Fine-tuning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23 / 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A-1  Step 1 핀 검증 — RAG 지식베이스 수집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목표: ~1,550 청크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24 / 36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5577840" cy="347472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3350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① CubeMX XML 핀 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45919"/>
            <a:ext cx="5577840" cy="19385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00784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경로: STM32CubeMX\db\mcu\STM32G4*.xml
파일 수: 40~50개 (G4 전체 패키지)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42032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처리: RAG 불필요 — Python 파싱 → pin_af_db.json
결과: {chip:{pin:[AF목록]}} 구조화 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64991"/>
            <a:ext cx="2743200" cy="29260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392424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규칙 엔진 직접 조회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3364991"/>
            <a:ext cx="2743200" cy="29260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392424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606060"/>
                </a:solidFill>
              </a:rPr>
              <a:t>100% 정확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298448"/>
            <a:ext cx="5577840" cy="34747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13350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② STM32G4 Datasheet (DS12288)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645919"/>
            <a:ext cx="5577840" cy="1938528"/>
          </a:xfrm>
          <a:prstGeom prst="rect">
            <a:avLst/>
          </a:prstGeom>
          <a:solidFill>
            <a:srgbClr val="D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700784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추출 대상: Table 11~15 (AF 맵) + Table 5~8 (핀 설명)
대상 페이지: 약 50페이지 / 전체 200p 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542032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청킹: 핀 테이블 → 행(row) 단위 청크
일반 설명 → 256토큰 / 32 overlap
툴: pdfplumber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364991"/>
            <a:ext cx="2743200" cy="2926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392424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~300 청크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3364991"/>
            <a:ext cx="2743200" cy="29260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3392424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606060"/>
                </a:solidFill>
              </a:rPr>
              <a:t>벡터 임베딩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675887"/>
            <a:ext cx="5577840" cy="34747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3712463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③ Application Notes (7종) + RM0440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23359"/>
            <a:ext cx="5577840" cy="1938528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078224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AN5306 OPAMP전류센싱 / AN5789 Bootstrap
AN4277 PWM보호/BRK / AN4539 HRTIM
AN4220 6Step / AN4835 High-side / AN5036 열관리
+ RM0440 선택 챕터 (Timer/ADC/FDCAN/CORDIC)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919472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청킹: AN = 회로블록 단위
RM0440 = 레지스터/기능 설명 단위
512토큰 / 64 overlap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742431"/>
            <a:ext cx="2743200" cy="29260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5769864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~1,200 청크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4680" y="5742431"/>
            <a:ext cx="2743200" cy="29260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46120" y="5769864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606060"/>
                </a:solidFill>
              </a:rPr>
              <a:t>벡터 임베딩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675887"/>
            <a:ext cx="5577840" cy="347472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79" y="3712463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④ Errata Sheet + GitHub 레퍼런스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4023359"/>
            <a:ext cx="5577840" cy="1938528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078224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ES0430 Errata (~40p) — 알려진 핀/주변장치 버그
+ flatmcu KiCad 회로도 (STM32G473 FOC)
+ STM32CubeG4 공식 예제 (HRTIM/ADC/OPAMP/FDCAN)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919472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Errata: 이슈 단위 (1이슈=1청크)
GitHub 코드: 함수 단위 (AST 파싱)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5742431"/>
            <a:ext cx="2743200" cy="292608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79" y="5769864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~50 + ~200 청크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8280" y="5742431"/>
            <a:ext cx="2743200" cy="29260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769864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606060"/>
                </a:solidFill>
              </a:rPr>
              <a:t>벡터 임베딩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A-2  Step 1 핀 검증 — Fine-tuning 데이터 자동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규칙 엔진으로 정답 자동 생성 가능 → 대부분 자동화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25 / 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2984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</a:rPr>
              <a:t>데이터 형식 (입력 → 출력 쌍)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64208"/>
            <a:ext cx="5303520" cy="3931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09928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F5B0"/>
                </a:solidFill>
              </a:rPr>
              <a:t>// 입력 (instruction + input)
{
  "chip": "STM32G474RET6",
  "pins": [
    {"pin":"PA8", "function":"TIM1_CH1", "af":"AF6"},
    {"pin":"PA9", "function":"TIM1_CH2", "af":"AF7"} ← 오류
  ]
}
// 출력 (정답)
{
  "validation": "FAIL",
  "errors": [{
    "pin": "PA9",
    "assigned_af": "AF7",
    "correct_af": "AF6",
    "message": "TIM1_CH2는 AF6이어야 합니다"
  }],
  "warnings": [],
  "passed_pins": ["PA8"]
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29844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</a:rPr>
              <a:t>케이스 구성 및 목표 수량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664208"/>
            <a:ext cx="576072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664208"/>
            <a:ext cx="54864" cy="47548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70078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① 완전 정상 (PASS)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170078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7C10"/>
                </a:solidFill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170078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3A6B"/>
                </a:solidFill>
              </a:rPr>
              <a:t>~600개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194560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2194560"/>
            <a:ext cx="54864" cy="475488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23113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② AF 번호 오류 1개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23113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66C00"/>
                </a:solidFill>
              </a:rPr>
              <a:t>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23113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3A6B"/>
                </a:solidFill>
              </a:rPr>
              <a:t>~500개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2724912"/>
            <a:ext cx="576072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2724912"/>
            <a:ext cx="54864" cy="475488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2" y="27614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③ AF 번호 오류 2개 이상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276148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66C00"/>
                </a:solidFill>
              </a:rPr>
              <a:t>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276148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3A6B"/>
                </a:solidFill>
              </a:rPr>
              <a:t>~300개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3255263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0760" y="3255263"/>
            <a:ext cx="54864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2" y="329183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④ 핀 중복 배정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3291839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</a:rPr>
              <a:t>10%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3291839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3A6B"/>
                </a:solidFill>
              </a:rPr>
              <a:t>~200개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3785615"/>
            <a:ext cx="576072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80760" y="3785615"/>
            <a:ext cx="54864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2" y="382219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⑤ 전용 핀 오용 (NRST/BOOT0)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3822191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</a:rPr>
              <a:t>10%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3822191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3A6B"/>
                </a:solidFill>
              </a:rPr>
              <a:t>~200개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4315968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80760" y="4315968"/>
            <a:ext cx="54864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9632" y="435254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⑥ 전원 핀 누락 (VDD/VSS)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40" y="435254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</a:rPr>
              <a:t>10%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435254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3A6B"/>
                </a:solidFill>
              </a:rPr>
              <a:t>~200개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4873752"/>
            <a:ext cx="576072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491032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합계 목표 : 2,000쌍  (자동 생성 3~5일 소요)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5303520"/>
            <a:ext cx="5760720" cy="117043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2" y="534009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DB4"/>
                </a:solidFill>
              </a:rPr>
              <a:t>자동화 파이프라인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9632" y="5632704"/>
            <a:ext cx="5577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pin_af_db.json  →  generate_dataset.py  →  train.jsonl
• 칩 모델 × 핀 개수 × 케이스 종류 조합 자동 생성
• 규칙 엔진으로 정답 검증 → 100% 정확한 레이블
• 생성 후 arm-none-eabi-gcc 컴파일 검증 불필요 (핀 검증은 코드 아님)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A-3  Step 3 알고리즘 통합 — RAG 지식베이스 수집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목표: ~2,050 청크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26 / 36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5577840" cy="347472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3350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① Golden Module 소스 코드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45919"/>
            <a:ext cx="5577840" cy="19842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00784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✅ bldc_6step_hall / dc_motor_pid (완성)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02536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✅ fdcan_motor_cmd / multi_axis_sync (완성)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04288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⬜ foc_clarke / foc_park / foc_svpwm (오픈소스 가공 예정)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06039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⬜ foc_current_pi / foc_angle_encoder (가공 예정)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07791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⬜ foc_current_sense (flatmcu 참조)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09544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소스: Arduino-FOC, MESC, VESC, moteus, ODrive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11296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→ 향후 사내 코드 확보 시 교체 예정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39312"/>
            <a:ext cx="5577840" cy="24688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66674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함수 단위 청킹 (AST 파싱)  |  메타데이터: {module, func, g4_accel, motor_count}  |  예상: ~150 청크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298448"/>
            <a:ext cx="5577840" cy="34747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79" y="13350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② STM32CubeG4 공식 예제 (수집 완료)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645919"/>
            <a:ext cx="5577840" cy="1984248"/>
          </a:xfrm>
          <a:prstGeom prst="rect">
            <a:avLst/>
          </a:prstGeom>
          <a:solidFill>
            <a:srgbClr val="D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700784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dataset/opensource/STM32CubeG4/ — 42MB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002536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HRTIM: Basic_Multiple_PWM, CBC_Deadtime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304288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TIM: PWMOutput, BreakAndDeadtime, DMA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06039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ADC: GroupsRegularInjected, OffsetComp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907791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OPAMP: TimerControlMux, PGA, Calibration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09544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FDCAN: Com_IT, Classic_Frame / CORDIC: Sin_DMA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639312"/>
            <a:ext cx="5577840" cy="24688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366674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함수 단위 청킹 (HAL_ API만)  |  699개 .c / 462개 .h 파일  |  예상: ~200 청크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721608"/>
            <a:ext cx="5577840" cy="34747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37581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③ CubeMX 자동 생성 예제 모음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069080"/>
            <a:ext cx="5577840" cy="1984248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123944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30가지 핀 설정 조합으로 CubeMX 실행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425696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TIM1단독 / TIM1+TIM8 / +TIM20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727448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ADC 단순 / Injected+DMA / 멀티채널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029200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FDCAN 있음/없음, CORDIC 있음/없음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330952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→ main.c/tim.c/adc.c/fdcan.c/cordic.c 수집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6062472"/>
            <a:ext cx="5577840" cy="24688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608990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파일 단위 + 함수 단위 혼합  |  예상: ~500 청크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721608"/>
            <a:ext cx="5577840" cy="347472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79" y="37581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④ Reference Manual (Step 1과 공유)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4069080"/>
            <a:ext cx="5577840" cy="1984248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123944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Step 1 RAG에서 구축한 RM0440 인덱스 재사용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425696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주변장치 챕터 ~1,200 청크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727448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별도 구축 불필요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029200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Qdrant 컬렉션: stm32g4_knowledge 공유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6062472"/>
            <a:ext cx="5577840" cy="246888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79" y="608990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Step 1 RAG 재사용  |  추가 작업 없음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A-4  Step 3 알고리즘 통합 — Fine-tuning 데이터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반자동화 파이프라인  |  목표: 500쌍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27 / 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29844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</a:rPr>
              <a:t>유효 조합 매트릭스 (~50개 → 조합 자동화로 500개 확장)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64208"/>
            <a:ext cx="1152144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9164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모터 종류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6916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제어 방식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69164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축 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6916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피드백 센서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통신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16916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기본 샘플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029968"/>
            <a:ext cx="1152144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057400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7C10"/>
                </a:solidFill>
              </a:rPr>
              <a:t>BLDC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2057400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FOC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057400"/>
            <a:ext cx="685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2057400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엔코더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057400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FDCAN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2057400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331720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359152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7C10"/>
                </a:solidFill>
              </a:rPr>
              <a:t>BLDC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2359152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FOC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2359152"/>
            <a:ext cx="685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2359152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Hall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2359152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FDCAN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2359152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633472"/>
            <a:ext cx="1152144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2660904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7C10"/>
                </a:solidFill>
              </a:rPr>
              <a:t>BLDC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2660904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FOC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2660904"/>
            <a:ext cx="685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660904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Sensorless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2660904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FDCAN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2660904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935224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2962656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7C10"/>
                </a:solidFill>
              </a:rPr>
              <a:t>BLDC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2962656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FOC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2962656"/>
            <a:ext cx="685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60" y="2962656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엔코더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2962656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FDCAN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09560" y="2962656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236976"/>
            <a:ext cx="1152144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3264408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7C10"/>
                </a:solidFill>
              </a:rPr>
              <a:t>BLDC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264408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FOC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0440" y="3264408"/>
            <a:ext cx="685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51960" y="3264408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Hall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3264408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FDCAN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9560" y="3264408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3538728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3566160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6DB4"/>
                </a:solidFill>
              </a:rPr>
              <a:t>BLDC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566160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FOC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20440" y="3566160"/>
            <a:ext cx="685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51960" y="3566160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엔코더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3566160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FDCAN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09560" y="3566160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3840480"/>
            <a:ext cx="1152144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3867912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7A8A"/>
                </a:solidFill>
              </a:rPr>
              <a:t>BLDC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867912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6-step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20440" y="3867912"/>
            <a:ext cx="685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51960" y="3867912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Hall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80760" y="3867912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FDCAN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09560" y="3867912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142232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4169664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7A8A"/>
                </a:solidFill>
              </a:rPr>
              <a:t>BLDC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4169664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6-step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20440" y="4169664"/>
            <a:ext cx="685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51960" y="4169664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Hall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169664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UART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09560" y="4169664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" y="4443984"/>
            <a:ext cx="1152144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80" y="4471416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66C00"/>
                </a:solidFill>
              </a:rPr>
              <a:t>DC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4471416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PID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20440" y="4471416"/>
            <a:ext cx="685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51960" y="4471416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엔코더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80760" y="4471416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FDCAN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09560" y="4471416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4745736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80" y="4773168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66C00"/>
                </a:solidFill>
              </a:rPr>
              <a:t>DC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4773168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PID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20440" y="4773168"/>
            <a:ext cx="685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51960" y="4773168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엔코더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80760" y="4773168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FDCAN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09560" y="4773168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0040" y="5047488"/>
            <a:ext cx="1152144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5074920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66C00"/>
                </a:solidFill>
              </a:rPr>
              <a:t>DC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5074920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PID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20440" y="5074920"/>
            <a:ext cx="685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51960" y="5074920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엔코더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80760" y="5074920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FDCAN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09560" y="5074920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0040" y="5349240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11480" y="5376672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6DB4"/>
                </a:solidFill>
              </a:rPr>
              <a:t>BLDC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57400" y="5376672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FOC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520440" y="5376672"/>
            <a:ext cx="685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51960" y="5376672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엔코더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080760" y="5376672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FDCAN+UART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909560" y="5376672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5650992"/>
            <a:ext cx="11521440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57200" y="567842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기본 50쌍  →  조합 자동화 × 10  →  500쌍 목표  |  컴파일 검증(arm-none-eabi-gcc) 100% 적용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20040" y="5980176"/>
            <a:ext cx="1152144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7200" y="6016752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3A6B"/>
                </a:solidFill>
              </a:rPr>
              <a:t>생성 파이프라인:  CubeMX CLI (Layer1)  +  Golden Module (Layer2)  →  엔지니어 검토  →  컴파일 검증  →  JSON 저장
소요: 기본 50쌍 확보(2~3주) → 자동 확장(스크립트 1~2일) → 최종 검토(1주)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8D0FF"/>
                </a:solidFill>
              </a:rPr>
              <a:t>Appendix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모델 학습 방법 상세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</a:rPr>
              <a:t>환경 설정 · RAG 구축 · QLoRA Fine-tuning · 배포 · 평가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36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9BBFF"/>
                </a:solidFill>
              </a:rPr>
              <a:t>DGX Spark 128GB  |  Unsloth + QLoRA  |  Ollama 배포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28 / 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B-1  환경 설정 &amp; RAG 지식베이스 구축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29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984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8A"/>
                </a:solidFill>
              </a:rPr>
              <a:t>필수 패키지 설치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64208"/>
            <a:ext cx="5303520" cy="3566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9928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F5B0"/>
                </a:solidFill>
              </a:rPr>
              <a:t>conda create -n stm32_train python=3.11
conda activate stm32_train
# PyTorch (GB10 Blackwell)
pip install torch --index-url   https://download.pytorch.org/whl/cu128
# 학습 라이브러리
pip install transformers==4.48.0
pip install peft==0.14.0        # QLoRA
pip install trl==0.13.0         # SFT Trainer
pip install bitsandbytes==0.45.0
pip install unsloth             # 2× 속도 가속
pip install accelerate==1.3.0
# RAG / 벡터 DB
pip install llama-index
pip install llama-index-vector-stores-qdrant
pip install llama-index-embeddings-huggingface
pip install qdrant-client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29844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8A"/>
                </a:solidFill>
              </a:rPr>
              <a:t>Qdrant 실행 + RAG 인덱싱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664208"/>
            <a:ext cx="5760720" cy="3566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709928"/>
            <a:ext cx="5577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DD8E6"/>
                </a:solidFill>
              </a:rPr>
              <a:t># docker-compose.yml
services:
  qdrant:
    image: qdrant/qdrant:latest
    ports: ["6333:6333"]
    volumes:
      - ./qdrant_storage:/qdrant/storage
# 실행
docker compose up -d qdrant
# RAG 인덱스 구축
python rag/build_index.py \
  --golden_modules ./golden_modules/ \
  --hal_sources ./STM32CubeG4/Drivers/ \
  --datasheet_chunks ./data/chunks/ \
  --collection stm32g4_knowledge
# 임베딩 모델: BAAI/bge-m3
# 한국어+영어 혼재 환경 최적
# 인덱싱 소요: 약 30~60분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32180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8A"/>
                </a:solidFill>
              </a:rPr>
              <a:t>작업 디렉토리 구조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650992"/>
            <a:ext cx="11521440" cy="65836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6875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EF5B0"/>
                </a:solidFill>
              </a:rPr>
              <a:t>/workspace/stm32_agent/  ├─ data/step1_verification/  train.jsonl · val.jsonl · test.jsonl  │  └─ step3_integration/  train.jsonl ...  ├─ models/  base/ · finetuned/ · gguf/  ├─ golden_modules/  *.c · *.h  └─ rag/  build_index.py · query.py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B-2  Step 1 모델 — QLoRA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베이스: Gemma 4 31B Dense  |  목적: 3계층 검증 리포트 포맷 통일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30 / 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2984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</a:rPr>
              <a:t>핵심 하이퍼파라미터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64208"/>
            <a:ext cx="5303520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91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파라미터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6916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691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75104"/>
            <a:ext cx="5303520" cy="310896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0025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</a:rPr>
              <a:t>LoRA rank (r)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00253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002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높을수록 품질↑ 메모리↑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304288"/>
            <a:ext cx="53035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3317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</a:rPr>
              <a:t>LoRA alpha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23317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23317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보통 r과 동일하게 설정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633472"/>
            <a:ext cx="5303520" cy="310896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6609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</a:rPr>
              <a:t>LoRA dropout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266090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0.05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26609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과적합 방지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962656"/>
            <a:ext cx="53035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9900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</a:rPr>
              <a:t>Target modules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299008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q/k/v/o/gate/up/down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29900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Gemma-4 전체 레이어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291840"/>
            <a:ext cx="5303520" cy="310896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3192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</a:rPr>
              <a:t>Learning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331927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2e-4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319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cosine 스케줄러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621024"/>
            <a:ext cx="53035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64845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</a:rPr>
              <a:t>Warmup ratio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364845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0.05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36484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전체 스텝의 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950208"/>
            <a:ext cx="5303520" cy="310896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9776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</a:rPr>
              <a:t>Batch size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48840" y="397763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2 × GA 8 = 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3320" y="397763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실효 배치 크기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279392"/>
            <a:ext cx="53035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3068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</a:rPr>
              <a:t>Epochs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48840" y="4306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03320" y="43068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검증셋 모니터링 필수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608576"/>
            <a:ext cx="5303520" cy="310896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46360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</a:rPr>
              <a:t>Max seq length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48840" y="463600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4096 토큰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03320" y="46360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핀 JSON + 설명 충분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937760"/>
            <a:ext cx="53035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49651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</a:rPr>
              <a:t>Quantization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48840" y="49651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4bit (NF4)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03320" y="49651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학습 중 양자화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5266944"/>
            <a:ext cx="5303520" cy="310896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5294375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</a:rPr>
              <a:t>Precision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48840" y="5294375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bfloat16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03320" y="529437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GB10 Blackwell 지원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5596128"/>
            <a:ext cx="53035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56235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6B"/>
                </a:solidFill>
              </a:rPr>
              <a:t>예상 학습 시간 (1,000쌍)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48840" y="56235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~4시간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03320" y="56235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DGX Spark 128GB 기준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80760" y="129844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</a:rPr>
              <a:t>학습 스크립트 핵심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80760" y="1664208"/>
            <a:ext cx="5760720" cy="44348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17920" y="1709928"/>
            <a:ext cx="55778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F5B0"/>
                </a:solidFill>
              </a:rPr>
              <a:t>from unsloth import FastLanguageModel
from trl import SFTTrainer, SFTConfig
model, tokenizer = FastLanguageModel.from_pretrained(
    model_name = "/workspace/models/base/gemma-4-31b-it",
    max_seq_length = 4096,
    load_in_4bit   = True,
)
model = FastLanguageModel.get_peft_model(
    model,
    r=32, lora_alpha=32,
    lora_dropout=0.05,
    target_modules=["q_proj","k_proj","v_proj",
                    "o_proj","gate_proj",
                    "up_proj","down_proj"],
)
trainer = SFTTrainer(
    model=model, tokenizer=tokenizer,
    train_dataset=dataset["train"],
    eval_dataset =dataset["validation"],
    args=SFTConfig(
        per_device_train_batch_size=2,
        gradient_accumulation_steps=8,
        num_train_epochs=3,
        learning_rate=2e-4,
        bf16=True,
        lr_scheduler_type="cosine",
        output_dir="/workspace/models/finetuned/step1",
    )
)
trainer.train()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5943600"/>
            <a:ext cx="1152144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5980176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TensorBoard 모니터링:  tensorboard --logdir=/workspace/models/logs  →  http://dgx-spark:6006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B-3  Step 3 모델 — QLoRA Fine-tuning &amp; Ollama 배포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베이스: Gemma 4 26B MoE  |  목적: USER CODE 통합 코드 생성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31 / 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2984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Step 1과 다른 설정값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64208"/>
            <a:ext cx="5303520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916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파라미터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691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691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Step1 대비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75104"/>
            <a:ext cx="5303520" cy="36576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01168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3A6B"/>
                </a:solidFill>
              </a:rPr>
              <a:t>LoRA rank (r)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01168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0116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코드 생성은 rank 높게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359152"/>
            <a:ext cx="5303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39572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3A6B"/>
                </a:solidFill>
              </a:rPr>
              <a:t>Learning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23957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1e-4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239572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Step1(2e-4)보다 낮게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743200"/>
            <a:ext cx="5303520" cy="36576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77977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3A6B"/>
                </a:solidFill>
              </a:rPr>
              <a:t>Max seq length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277977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8192 토큰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277977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코드가 길어 컨텍스트 2배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127248"/>
            <a:ext cx="5303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16382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3A6B"/>
                </a:solidFill>
              </a:rPr>
              <a:t>Batch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316382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1 × GA 16 = 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316382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긴 시퀀스로 배치 줄임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511296"/>
            <a:ext cx="5303520" cy="36576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54787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3A6B"/>
                </a:solidFill>
              </a:rPr>
              <a:t>Epochs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35478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5478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코드는 더 많은 학습 필요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895344"/>
            <a:ext cx="5303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9319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3A6B"/>
                </a:solidFill>
              </a:rPr>
              <a:t>예상 학습 (200쌍)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39319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~6시간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39319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DGX Spark 128GB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129844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7C10"/>
                </a:solidFill>
              </a:rPr>
              <a:t>어댑터 병합 → GGUF 변환 → Ollama 등록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1664208"/>
            <a:ext cx="5760720" cy="464515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1709928"/>
            <a:ext cx="5577840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F5B0"/>
                </a:solidFill>
              </a:rPr>
              <a:t># 1. 어댑터 + 베이스 모델 병합 후 GGUF 변환
from unsloth import FastLanguageModel
model, tokenizer = FastLanguageModel.from_pretrained(
    "/workspace/models/base/gemma-4-26b-it",
    load_in_4bit=True
)
model.load_adapter(
    "/workspace/models/finetuned/step3/adapter"
)
model.save_pretrained_gguf(
    "/workspace/models/gguf/step3",
    tokenizer,
    quantization_method="q8_0"  # Q8 품질 유지
)
# 2. Ollama Modelfile 작성
cat &gt; Modelfile &lt;&lt; 'EOF'
FROM /workspace/models/gguf/step3/model-q8_0.gguf
PARAMETER num_ctx 8192
PARAMETER temperature 0.1
SYSTEM "STM32G4 펌웨어 전문가..."
EOF
# 3. Ollama 등록 &amp; 테스트
ollama create stm32-coder-v1 -f Modelfile
ollama run stm32-coder-v1 "BLDC FOC 통합 코드 작성"
# 4. API 서버에서 모델 지정
# POST http://dgx-spark:11434/api/chat
# {"model": "stm32-coder-v1", ...}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224528"/>
            <a:ext cx="5303520" cy="384048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261104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변환 소요:  32B GGUF 약 20~30분  |  등록 후 즉시 API 사용 가능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663440"/>
            <a:ext cx="5303520" cy="777240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70001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6C00"/>
                </a:solidFill>
              </a:rPr>
              <a:t>버전 관리 권장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9560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stm32-coder-v1  (기본 RAG 버전)
stm32-coder-v2  (fine-tuned 50쌍)
stm32-coder-v3  (fine-tuned 500쌍)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B-4  모델 평가 지표 &amp; 합격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32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98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</a:rPr>
              <a:t>Step 1 — 핀 검증 평가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64208"/>
            <a:ext cx="5486400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916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6916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8104" y="16916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16916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최소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75104"/>
            <a:ext cx="5486400" cy="420624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011680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JSON 형식 유효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011680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LLM 출력이 파싱 가능한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8104" y="2011680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목표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20116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&gt; 99%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5486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450592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오류 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2450592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실제 오류 핀 중 감지 비율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18104" y="2450592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목표 &gt; 95%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24505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&gt; 90%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852928"/>
            <a:ext cx="5486400" cy="420624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889504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False Positive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2889504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정상 핀을 오류로 판단하는 비율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18104" y="2889504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6C00"/>
                </a:solidFill>
              </a:rPr>
              <a:t>목표 &lt; 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288950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&lt; 10%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291840"/>
            <a:ext cx="5486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328416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Exact Match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3328416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규칙 엔진 정답과 완전 일치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18104" y="3328416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목표 &gt; 90%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1416" y="332841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&gt; 85%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730752"/>
            <a:ext cx="5486400" cy="420624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767328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한국어 설명 품질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64792" y="3767328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오류 메시지 자연스러움 (수동 평가)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8104" y="3767328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6C00"/>
                </a:solidFill>
              </a:rPr>
              <a:t>목표 &gt; 4/5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71416" y="376732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&gt; 3/5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129844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Step 3 — 코드 통합 평가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1664208"/>
            <a:ext cx="5760720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1691640"/>
            <a:ext cx="1353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지표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1691640"/>
            <a:ext cx="1353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설명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1691640"/>
            <a:ext cx="1353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1691640"/>
            <a:ext cx="1353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최소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1975104"/>
            <a:ext cx="5760720" cy="420624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201168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7C10"/>
                </a:solidFill>
              </a:rPr>
              <a:t>컴파일 통과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201168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arm-none-eabi-gcc 빌드 성공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6840" y="201168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목표 &gt; 95%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20116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&gt; 90%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80760" y="2414016"/>
            <a:ext cx="57607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2450592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7C10"/>
                </a:solidFill>
              </a:rPr>
              <a:t>HAL 코드 미수정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2450592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MX_* 함수 원본 유지 여부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2450592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목표 100%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0" y="245059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100%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80760" y="2852928"/>
            <a:ext cx="5760720" cy="420624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2889504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7C10"/>
                </a:solidFill>
              </a:rPr>
              <a:t>USER CODE 준수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0" y="2889504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지정 영역에만 코드 삽입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6840" y="2889504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목표 100%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24160" y="288950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&gt; 98%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80760" y="3291840"/>
            <a:ext cx="57607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72200" y="3328416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7C10"/>
                </a:solidFill>
              </a:rPr>
              <a:t>모듈 include 완전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20" y="3328416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필요 헤더 전부 include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06840" y="3328416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목표 &gt; 98%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24160" y="332841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&gt; 95%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80760" y="3730752"/>
            <a:ext cx="5760720" cy="420624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72200" y="3767328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7C10"/>
                </a:solidFill>
              </a:rPr>
              <a:t>FOC 루프 연결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89520" y="3767328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ADC ISR → FOC → TIM 흐름 정확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06840" y="3767328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6C00"/>
                </a:solidFill>
              </a:rPr>
              <a:t>목표 &gt; 90%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24160" y="376732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&gt; 85%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0760" y="4169664"/>
            <a:ext cx="57607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72200" y="420624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7C10"/>
                </a:solidFill>
              </a:rPr>
              <a:t>HW 동작 검증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89520" y="420624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실제 모터 회전 확인 (샘플 20%)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06840" y="420624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6C00"/>
                </a:solidFill>
              </a:rPr>
              <a:t>목표 &gt; 80%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424160" y="42062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&gt; 70%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040" y="4187952"/>
            <a:ext cx="11521440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424281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자동화 평가 파이프라인:  python evaluate.py → compile_test → metrics_report.json → TensorBoard 시각화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727448"/>
            <a:ext cx="11521440" cy="658368"/>
          </a:xfrm>
          <a:prstGeom prst="rect">
            <a:avLst/>
          </a:prstGeom>
          <a:solidFill>
            <a:srgbClr val="D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47731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A8A"/>
                </a:solidFill>
              </a:rPr>
              <a:t>평가 주기 권장:  학습 중 eval_steps=100마다 자동 평가  |  버전 릴리즈 전 전체 test.jsonl 평가  |  HW 검증은 릴리즈 후 2주 이내 샘플링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8D0FF"/>
                </a:solidFill>
              </a:rPr>
              <a:t>Appendix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웹 애플리케이션 개발 프로세스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</a:rPr>
              <a:t>DGX Spark 서버 기반  |  HW / FW 개발자 모두 사용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36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9BBFF"/>
                </a:solidFill>
              </a:rPr>
              <a:t>FastAPI + React 18 + Tailwind CSS  |  Docker Compose 단일 명령 배포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33 / 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C-1  기술 스택 &amp; 시스템 아키텍처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34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9844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단계별 기술 스택 선택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64208"/>
            <a:ext cx="11521440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916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레이어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6916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MVP (Streamlit)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59" y="16916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프로덕션 (React)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975104"/>
            <a:ext cx="11521440" cy="329184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00253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프론트엔드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00253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Streamlit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00253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React 18 + TypeScript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22576"/>
            <a:ext cx="11521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3500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UI 라이브러리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3500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Streamlit 기본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3500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Tailwind CSS + shadcn/ui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670048"/>
            <a:ext cx="11521440" cy="329184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6974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백엔드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6974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FastAPI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6974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FastAPI (동일)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017520"/>
            <a:ext cx="11521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0449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실시간 통신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30449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폴링 (3초 간격)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0449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WebSocket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364992"/>
            <a:ext cx="11521440" cy="329184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3924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파일 저장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3924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로컬 /tmp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33924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세션 폴더 + MinIO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712464"/>
            <a:ext cx="11521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7398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인증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37398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없음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37398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사내 LDAP/AD 연동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059936"/>
            <a:ext cx="11521440" cy="329184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0873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개발 기간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0520" y="40873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2~3주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40873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6~8주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452628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7C10"/>
                </a:solidFill>
              </a:rPr>
              <a:t>배포 아키텍처 (DGX Spark)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846320"/>
            <a:ext cx="1152144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892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F5B0"/>
                </a:solidFill>
              </a:rPr>
              <a:t>[브라우저]  →  Nginx :80/443  →  React :3000  +  FastAPI :8000
FastAPI  →  Ollama :11434 (Gemma 4 31B · Gemma 4 26B MoE)
         →  Qdrant :6333 (벡터 DB)  →  CubeMX CLI (subprocess)
모두 Docker Compose 단일 명령으로 기동:  docker compose up -d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C-2  백엔드 API 설계 (FastAPI)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검증 게이트 로직 포함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35 / 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2984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API 엔드포인트 목록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64208"/>
            <a:ext cx="5303520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69164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169164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경로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169164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역할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75104"/>
            <a:ext cx="530352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1975104"/>
            <a:ext cx="685800" cy="41148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2011680"/>
            <a:ext cx="6583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011680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6B"/>
                </a:solidFill>
              </a:rPr>
              <a:t>/api/v1/validate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011680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핀 검증 (Step 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04872"/>
            <a:ext cx="5303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404872"/>
            <a:ext cx="685800" cy="41148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2441448"/>
            <a:ext cx="6583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441448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6B"/>
                </a:solidFill>
              </a:rPr>
              <a:t>/api/v1/generate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441448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CubeMX 자동화 (Step 2)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834640"/>
            <a:ext cx="530352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834640"/>
            <a:ext cx="685800" cy="4114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2871216"/>
            <a:ext cx="6583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2871216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6B"/>
                </a:solidFill>
              </a:rPr>
              <a:t>/ws/integrate/{id}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2871216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알고리즘 통합 (Step 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264408"/>
            <a:ext cx="5303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264408"/>
            <a:ext cx="685800" cy="4114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" y="3300984"/>
            <a:ext cx="6583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300984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6B"/>
                </a:solidFill>
              </a:rPr>
              <a:t>/api/v1/session/{id}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3300984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세션 파일 조회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694176"/>
            <a:ext cx="530352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3694176"/>
            <a:ext cx="685800" cy="4114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" y="3730752"/>
            <a:ext cx="6583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3730752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6B"/>
                </a:solidFill>
              </a:rPr>
              <a:t>/api/v1/download/{id}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3730752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ZIP 다운로드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123944"/>
            <a:ext cx="5303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" y="4123944"/>
            <a:ext cx="685800" cy="4114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" y="4160520"/>
            <a:ext cx="6583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4160520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6B"/>
                </a:solidFill>
              </a:rPr>
              <a:t>/api/v1/history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4160520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프로젝트 이력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129844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검증 게이트 코드 (핵심)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1664208"/>
            <a:ext cx="5760720" cy="5074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1709928"/>
            <a:ext cx="55778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F5B0"/>
                </a:solidFill>
              </a:rPr>
              <a:t># backend/api/step2.py
from fastapi import HTTPException
@app.post("/api/v1/generate")
async def generate_hal_code(
    validated_json: ValidatedPinJSON,
    session_id: str
):
    # ── 검증 게이트 ──────────────────────
    if validated_json.status != "PASS":
        raise HTTPException(
            status_code=403,
            detail={
                "error": "GATE_BLOCKED",
                "message": "핀 검증을 통과해야 합니다.",
                "errors": validated_json.errors
            }
        )
    # errors[] 비어있는지 2중 확인
    if len(validated_json.errors) &gt; 0:
        raise HTTPException(403, "검증 오류가 있습니다.")
    # ──────────────────────────────────────
    # 게이트 통과 시에만 실행
    ioc_path = generate_ioc(validated_json)
    success  = run_cubemx_cli(ioc_path)
    if not success:
        raise HTTPException(500, "CubeMX 실행 실패")
    files = collect_generated_files(session_id)
    return GenerationResult(
        session_id=session_id,
        files=files,
        status="SUCCESS"
    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C-3  프론트엔드 화면 구성 &amp; 개발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STM32G4 회로도 검증 &amp; 펌웨어 자동 생성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36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98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화면 목록 &amp; 주요 기능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64208"/>
            <a:ext cx="548640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691640"/>
            <a:ext cx="1737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경로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1691640"/>
            <a:ext cx="1737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화면명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1691640"/>
            <a:ext cx="1737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핵심 기능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956816"/>
            <a:ext cx="5486400" cy="41148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993392"/>
            <a:ext cx="1508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7C10"/>
                </a:solidFill>
              </a:rPr>
              <a:t>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8528" y="1993392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1993392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최근 프로젝트 카드, 새 프로젝트 버튼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86584"/>
            <a:ext cx="5486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423160"/>
            <a:ext cx="1508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7C10"/>
                </a:solidFill>
              </a:rPr>
              <a:t>/step1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" y="2423160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핀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3552" y="2423160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CSV 드래그앤드롭, 요구사항 폼, PASS/FAIL 즉시 표시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816352"/>
            <a:ext cx="5486400" cy="41148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852928"/>
            <a:ext cx="1508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7C10"/>
                </a:solidFill>
              </a:rPr>
              <a:t>/step2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8528" y="2852928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코드 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3552" y="2852928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자동 진행 바, 생성 파일 트리 미리보기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46120"/>
            <a:ext cx="5486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3282696"/>
            <a:ext cx="1508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7C10"/>
                </a:solidFill>
              </a:rPr>
              <a:t>/step3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38528" y="3282696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알고리즘 통합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3552" y="3282696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모듈 선택 체크박스, 코드 스트리밍(Monaco Editor)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75887"/>
            <a:ext cx="5486400" cy="411480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3712464"/>
            <a:ext cx="1508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7C10"/>
                </a:solidFill>
              </a:rPr>
              <a:t>/result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38528" y="3712464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결과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73552" y="3712464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코드 전체 뷰어, 탭 파일 전환, ZIP 다운로드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105656"/>
            <a:ext cx="5486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4142231"/>
            <a:ext cx="1508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7C10"/>
                </a:solidFill>
              </a:rPr>
              <a:t>/history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38528" y="4142231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</a:rPr>
              <a:t>이력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73552" y="4142231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이전 프로젝트 목록, 재실행 버튼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129844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개발 단계별 일정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1664208"/>
            <a:ext cx="960120" cy="1170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8" y="1892808"/>
            <a:ext cx="9326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MVP
2~3주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68312" y="1664208"/>
            <a:ext cx="4773168" cy="1170432"/>
          </a:xfrm>
          <a:prstGeom prst="rect">
            <a:avLst/>
          </a:prstGeom>
          <a:solidFill>
            <a:srgbClr val="D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05472" y="17190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FastAPI 3개 엔드포인트 (검증·생성·통합)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05472" y="1993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Streamlit Step 1~3 화면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5472" y="22677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Docker Compose 배포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5472" y="25420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내부 5명 테스트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2880360"/>
            <a:ext cx="960120" cy="1170432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99048" y="3108960"/>
            <a:ext cx="9326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프로덕션
Week 1~2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68312" y="2880360"/>
            <a:ext cx="4773168" cy="117043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05472" y="29352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Next.js 14 + TypeScript 세팅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05472" y="3209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Tailwind CSS + shadcn/ui 적용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05472" y="348386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FastAPI WebSocket 추가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05472" y="37581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라우팅 및 레이아웃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80760" y="4096512"/>
            <a:ext cx="960120" cy="117043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99048" y="4325112"/>
            <a:ext cx="9326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프로덕션
Week 3~6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68312" y="4096512"/>
            <a:ext cx="4773168" cy="1170432"/>
          </a:xfrm>
          <a:prstGeom prst="rect">
            <a:avLst/>
          </a:prstGeom>
          <a:solidFill>
            <a:srgbClr val="D9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05472" y="415137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Step 1 드래그앤드롭 + 실시간 결과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05472" y="442569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Step 2 진행 바 (WebSocket)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05472" y="4700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Step 3 Monaco Editor 스트리밍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05472" y="497433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ZIP 다운로드 + 이력 저장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5312664"/>
            <a:ext cx="960120" cy="1170432"/>
          </a:xfrm>
          <a:prstGeom prst="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99048" y="5541264"/>
            <a:ext cx="9326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프로덕션
Week 7~8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68312" y="5312664"/>
            <a:ext cx="4773168" cy="1170432"/>
          </a:xfrm>
          <a:prstGeom prst="rect">
            <a:avLst/>
          </a:prstGeom>
          <a:solidFill>
            <a:srgbClr val="FFF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05472" y="53675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사내 LDAP/AD 인증 연동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05472" y="56418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Nginx + HTTPS 설정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05472" y="59161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전체 사용자 테스트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05472" y="61904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• 운영 가이드 문서 작성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